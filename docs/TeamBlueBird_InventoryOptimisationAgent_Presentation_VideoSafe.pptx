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77" r:id="rId5"/>
    <p:sldId id="268" r:id="rId6"/>
    <p:sldId id="276" r:id="rId7"/>
    <p:sldId id="260" r:id="rId8"/>
    <p:sldId id="262" r:id="rId9"/>
    <p:sldId id="263" r:id="rId10"/>
    <p:sldId id="265" r:id="rId11"/>
    <p:sldId id="266" r:id="rId12"/>
    <p:sldId id="267" r:id="rId13"/>
    <p:sldId id="278" r:id="rId14"/>
    <p:sldId id="279" r:id="rId15"/>
    <p:sldId id="269" r:id="rId16"/>
    <p:sldId id="270" r:id="rId17"/>
    <p:sldId id="271"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8" d="100"/>
          <a:sy n="118" d="100"/>
        </p:scale>
        <p:origin x="276"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3864"/>
                </a:solidFill>
                <a:latin typeface="Arial"/>
              </a:defRPr>
            </a:pPr>
            <a:r>
              <a:rPr lang="en-US" sz="1400" b="0" i="0" u="none" strike="noStrike">
                <a:solidFill>
                  <a:srgbClr val="1F3864"/>
                </a:solidFill>
                <a:latin typeface="Arial"/>
              </a:rPr>
              <a:t>Stock on hand vs. a year of sales</a:t>
            </a:r>
          </a:p>
        </c:rich>
      </c:tx>
      <c:overlay val="0"/>
    </c:title>
    <c:autoTitleDeleted val="0"/>
    <c:plotArea>
      <c:layout/>
      <c:barChart>
        <c:barDir val="bar"/>
        <c:grouping val="clustered"/>
        <c:varyColors val="0"/>
        <c:ser>
          <c:idx val="0"/>
          <c:order val="0"/>
          <c:tx>
            <c:strRef>
              <c:f>Sheet1!$B$1</c:f>
              <c:strCache>
                <c:ptCount val="1"/>
                <c:pt idx="0">
                  <c:v>Units</c:v>
                </c:pt>
              </c:strCache>
            </c:strRef>
          </c:tx>
          <c:spPr>
            <a:solidFill>
              <a:srgbClr val="1F3864"/>
            </a:solidFill>
            <a:effectLst/>
          </c:spPr>
          <c:invertIfNegative val="0"/>
          <c:dPt>
            <c:idx val="0"/>
            <c:invertIfNegative val="0"/>
            <c:bubble3D val="0"/>
            <c:extLst>
              <c:ext xmlns:c16="http://schemas.microsoft.com/office/drawing/2014/chart" uri="{C3380CC4-5D6E-409C-BE32-E72D297353CC}">
                <c16:uniqueId val="{00000001-42EB-4FDB-B4AB-1CF792272E1C}"/>
              </c:ext>
            </c:extLst>
          </c:dPt>
          <c:dPt>
            <c:idx val="1"/>
            <c:invertIfNegative val="0"/>
            <c:bubble3D val="0"/>
            <c:spPr>
              <a:solidFill>
                <a:srgbClr val="F2A900"/>
              </a:solidFill>
              <a:effectLst/>
            </c:spPr>
            <c:extLst>
              <c:ext xmlns:c16="http://schemas.microsoft.com/office/drawing/2014/chart" uri="{C3380CC4-5D6E-409C-BE32-E72D297353CC}">
                <c16:uniqueId val="{00000003-42EB-4FDB-B4AB-1CF792272E1C}"/>
              </c:ext>
            </c:extLst>
          </c:dPt>
          <c:dLbls>
            <c:numFmt formatCode="#,##0" sourceLinked="0"/>
            <c:spPr>
              <a:noFill/>
              <a:ln>
                <a:noFill/>
              </a:ln>
              <a:effectLst/>
            </c:spPr>
            <c:txPr>
              <a:bodyPr/>
              <a:lstStyle/>
              <a:p>
                <a:pPr>
                  <a:defRPr sz="1200" b="0" i="0" u="none" strike="noStrike">
                    <a:solidFill>
                      <a:srgbClr val="22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Units in stock</c:v>
                </c:pt>
                <c:pt idx="1">
                  <c:v>Units sold, last 12 months</c:v>
                </c:pt>
              </c:strCache>
            </c:strRef>
          </c:cat>
          <c:val>
            <c:numRef>
              <c:f>Sheet1!$B$2:$B$3</c:f>
              <c:numCache>
                <c:formatCode>General</c:formatCode>
                <c:ptCount val="2"/>
                <c:pt idx="0">
                  <c:v>3997159</c:v>
                </c:pt>
                <c:pt idx="1">
                  <c:v>116600</c:v>
                </c:pt>
              </c:numCache>
            </c:numRef>
          </c:val>
          <c:extLst>
            <c:ext xmlns:c16="http://schemas.microsoft.com/office/drawing/2014/chart" uri="{C3380CC4-5D6E-409C-BE32-E72D297353CC}">
              <c16:uniqueId val="{00000004-42EB-4FDB-B4AB-1CF792272E1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22B3A"/>
                </a:solidFill>
                <a:latin typeface="Arial"/>
              </a:defRPr>
            </a:pPr>
            <a:endParaRPr lang="en-US"/>
          </a:p>
        </c:txPr>
        <c:crossAx val="2094734552"/>
        <c:crosses val="autoZero"/>
        <c:auto val="1"/>
        <c:lblAlgn val="ctr"/>
        <c:lblOffset val="100"/>
        <c:noMultiLvlLbl val="1"/>
      </c:catAx>
      <c:valAx>
        <c:axId val="2094734552"/>
        <c:scaling>
          <c:orientation val="minMax"/>
          <c:max val="480000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Result</c:v>
                </c:pt>
              </c:strCache>
            </c:strRef>
          </c:tx>
          <c:spPr>
            <a:solidFill>
              <a:schemeClr val="accent1"/>
            </a:solidFill>
            <a:ln w="9525" cap="flat">
              <a:solidFill>
                <a:srgbClr val="F9F9F9"/>
              </a:solidFill>
              <a:prstDash val="solid"/>
              <a:round/>
            </a:ln>
            <a:effectLst/>
          </c:spPr>
          <c:dPt>
            <c:idx val="0"/>
            <c:bubble3D val="0"/>
            <c:spPr>
              <a:solidFill>
                <a:srgbClr val="1F3864"/>
              </a:solidFill>
              <a:effectLst/>
            </c:spPr>
            <c:extLst>
              <c:ext xmlns:c16="http://schemas.microsoft.com/office/drawing/2014/chart" uri="{C3380CC4-5D6E-409C-BE32-E72D297353CC}">
                <c16:uniqueId val="{00000001-C688-4095-BEF8-5DD9829A8ABA}"/>
              </c:ext>
            </c:extLst>
          </c:dPt>
          <c:dPt>
            <c:idx val="1"/>
            <c:bubble3D val="0"/>
            <c:spPr>
              <a:solidFill>
                <a:srgbClr val="F2A900"/>
              </a:solidFill>
              <a:effectLst/>
            </c:spPr>
            <c:extLst>
              <c:ext xmlns:c16="http://schemas.microsoft.com/office/drawing/2014/chart" uri="{C3380CC4-5D6E-409C-BE32-E72D297353CC}">
                <c16:uniqueId val="{00000003-C688-4095-BEF8-5DD9829A8ABA}"/>
              </c:ext>
            </c:extLst>
          </c:dPt>
          <c:cat>
            <c:strRef>
              <c:f>Sheet1!$A$2:$A$3</c:f>
              <c:strCache>
                <c:ptCount val="2"/>
                <c:pt idx="0">
                  <c:v>Passed</c:v>
                </c:pt>
                <c:pt idx="1">
                  <c:v>Missed (wording)</c:v>
                </c:pt>
              </c:strCache>
            </c:strRef>
          </c:cat>
          <c:val>
            <c:numRef>
              <c:f>Sheet1!$B$2:$B$3</c:f>
              <c:numCache>
                <c:formatCode>General</c:formatCode>
                <c:ptCount val="2"/>
                <c:pt idx="0">
                  <c:v>73</c:v>
                </c:pt>
                <c:pt idx="1">
                  <c:v>2</c:v>
                </c:pt>
              </c:numCache>
            </c:numRef>
          </c:val>
          <c:extLst>
            <c:ext xmlns:c16="http://schemas.microsoft.com/office/drawing/2014/chart" uri="{C3380CC4-5D6E-409C-BE32-E72D297353CC}">
              <c16:uniqueId val="{00000004-C688-4095-BEF8-5DD9829A8ABA}"/>
            </c:ext>
          </c:extLst>
        </c:ser>
        <c:dLbls>
          <c:showLegendKey val="0"/>
          <c:showVal val="0"/>
          <c:showCatName val="0"/>
          <c:showSerName val="0"/>
          <c:showPercent val="0"/>
          <c:showBubbleSize val="0"/>
          <c:showLeaderLines val="0"/>
        </c:dLbls>
        <c:firstSliceAng val="0"/>
        <c:holeSize val="68"/>
      </c:doughnutChart>
      <c:spPr>
        <a:noFill/>
        <a:ln>
          <a:noFill/>
        </a:ln>
        <a:effectLst/>
      </c:spPr>
    </c:plotArea>
    <c:legend>
      <c:legendPos val="b"/>
      <c:overlay val="0"/>
      <c:txPr>
        <a:bodyPr/>
        <a:lstStyle/>
        <a:p>
          <a:pPr>
            <a:defRPr sz="1200">
              <a:solidFill>
                <a:srgbClr val="222B3A"/>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B8B490CC-3775-4794-8843-0BFD45045495}" type="datetimeFigureOut">
              <a:t>10/28/2026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6D99D37-FF0F-45D8-96B7-57294A6E9039}" type="slidenum">
              <a:t>‹#›</a:t>
            </a:fld>
            <a:endParaRPr lang="en-US"/>
          </a:p>
        </p:txBody>
      </p:sp>
    </p:spTree>
    <p:extLst>
      <p:ext uri="{BB962C8B-B14F-4D97-AF65-F5344CB8AC3E}">
        <p14:creationId xmlns:p14="http://schemas.microsoft.com/office/powerpoint/2010/main" val="2991845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Sateesh (Project Lead)
Welcome everyone. We are Team BlueBird and we chose the Inventory Optimisation Agent use case for Zava DIY. Our proof of concept is the Zava Inventory Advisor: a chat-based, read-only agent that answers inventory questions from the Zava database, checks every figure before the user sees it, and presents every recommendation as a draft for a person to approve. Each of us will present the part we owned.
[Sources]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Sateesh (Project Lead)
Quick running order. I cover the problem and how we measured success. Ruthvik shows the evidence in the data and what our testing taught us about our assumptions. Navneet explains why we chose an agent and walks through the architecture. Ranjith shows how a question is answered end to end and our evaluation results. Ankur closes with governance, risks and responsible use. I will finish with next steps and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Sateesh (Project Lead)
Zava DIY runs multiple stores. Demand, seasonal trends and availability differ by store, so some stores sit on excess stock while others could run short. Our users are the Super Manager, who sees all eight stores, and Store Managers, who see only their own. The decision they make is what to stop buying, move or clear first. Getting it wrong costs sales, storage and transport, and can leave seasonal stock unsold. For example, if Seattle runs out of a popular product while Everett has excess, Zava loses sales despite having enough stock overall.
[Sources]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D5C7C-87EF-0D07-B831-2742DE707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430AE-4431-02F6-2041-B9EB2655BC38}"/>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8251B0EE-9DC4-3A49-5502-96C53153C705}"/>
              </a:ext>
            </a:extLst>
          </p:cNvPr>
          <p:cNvSpPr>
            <a:spLocks noGrp="1"/>
          </p:cNvSpPr>
          <p:nvPr>
            <p:ph type="body" idx="1"/>
          </p:nvPr>
        </p:nvSpPr>
        <p:spPr/>
        <p:txBody>
          <a:bodyPr/>
          <a:lstStyle/>
          <a:p>
            <a:r>
              <a:rPr lang="en-US" dirty="0"/>
              <a:t>PRESENTER: Sateesh (Project Lead)
We set six success criteria at the start. Four are met. The headline is 73 of 75 test cases passed, 97.3% against a 90% target; the two misses were wording differences, not wrong figures. The excess-stock ranking matches independent SQL. The transfer tool works, but no store is short in this data, so the agent honestly says no transfer is needed. Two are open: we did not run a timing study with real users to prove the 50% effort reduction, and the final demo and presentation are in progress. A typical answer takes about 10.5 seconds and costs about US$0.007.</a:t>
            </a:r>
          </a:p>
        </p:txBody>
      </p:sp>
      <p:sp>
        <p:nvSpPr>
          <p:cNvPr id="4" name="Slide Number Placeholder 3">
            <a:extLst>
              <a:ext uri="{FF2B5EF4-FFF2-40B4-BE49-F238E27FC236}">
                <a16:creationId xmlns:a16="http://schemas.microsoft.com/office/drawing/2014/main" id="{49E43566-DA68-170D-33E7-D9CE4486BC7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539207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Ranjith (Implementation Lead)
Weeks 6 to 8 were planning: use case and plan, data exploration and success criteria, then architecture and governance practices. Build started in week 10 with a working agent and per-person row-level security. Week 11 added charts and exports, grounded product lookup, role sign-in, saved chats and the scope gate. Week 12 was the team prompt review, privacy and read-only guards and the 75-case evaluation. The report and this presentation are the final step. I will hand over to Ankur for governance.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Ruthvik (Data &amp; Problem Analyst)
We first confirmed the problem is real in the data. Zava holds 3,997,159 units, worth $193,657,843.57 at cost, against roughly 116,600 units sold in the last 12 months. Stock above six months of cover is worth $190,839,018.92 at cost, and 99% of product-store records hold more than five years of stock. The largest single excess is the Sliding Miter Saw 12-inch, at $4,431,750.00. Two more findings shaped the agent: seasonal peaks are reliable, for example Garden &amp; Outdoor peaks every April from 2020 to 2026, and no store is short today, with the lowest stock cover about 375 days. The dataset is synthetic, so these sizes show the shape of the problem, not a real financial loss. Source: data/database/all_7_analysis_db.ipynb, questions 5 and 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Navneet (Solution Architect)
A SQL query can list stores with excess stock, but it cannot decide what to look at next or judge whether the evidence supports an action, and the user needs technical skills to write it. The agent goes beyond reporting: it chooses its tools and their order, checks the category seasonal peak before recommending a clearance, reads the results and drafts a recommendation with the figures behind it. A concrete example: the largest excess is in power tools, but the Electrical peak is two months away, so the agent says do not clear. And where no store is short, it says so instead of inventing a transfer.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Navneet (Solution Architect)
This is the implemented design. A manager signs in on the chat page. The web app on port 8005 checks the sign-in, saves the chat for that person and passes the question to the agent service on port 8006. The service looks up which stores the person may see and runs the question as that person. A scope gate declines unrelated questions; gpt-5-mini then picks tools for up to ten rounds. Tools sit on three MCP servers that query PostgreSQL with the person's identity, so row-level security decides which stores are visible. Before an answer is shown, code checks every figure, product code, scope claim and calculation; a failing draft is rewritten up to twice. The seven numbered controls along the bottom are what Ankur will cover in governance.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Navneet (Solution Architect)
On the left is the stack. PostgreSQL with pgvector holds the data and enforces row-level security. Azure OpenAI gpt-5-mini chooses tools and writes answers, and text-embedding-3-small powers search by meaning. Three MCP servers built with the Python SDK expose 17 tested SQL tools. FastAPI runs the agent service and the web app. Azure Identity means no key is stored in code. On the right are the decisions that matter most: one agent, rules in code, access control in the database, arithmetic in a tool, MCP for data access, store names not ids, read-only by design, and a small fast model. Over to Ranjith for how it runs.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Ranjith (Implementation Lead)
Here is the journey of one question, top row left to right, then bottom row right to left. One: the manager signs in by role. Two: the service maps the person to their stores and runs as that person, so row-level security applies. Three: a scope gate declines unrelated questions before any tool runs; we checked it on 38 unrelated messages. Four: gpt-5-mini calls tools for up to ten rounds; SQL is read-only and personal-detail columns are refused. Five: the draft starts with a Scope line naming the stores, metric and dates. Six, the key step: code verifies every figure, product code, scope claim and calculation, with up to two rewrites, otherwise a visible verification note. Seven: the answer streams back as text, tables, charts or downloads, as a draft. Eight: the turn is logged for audit.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Ranjith (Implementation Lead)
We built 75 evaluation cases and rerun them after every change. 73 passed, 97.3%; the two misses were wording in answers about the agent itself. A grounding audit of 29 answers found zero invented product names, zero invented SKUs and zero unsupported large figures. Median response is about 10.5 seconds at about US$0.007 per question. Testing also caught a real defect on 25 October: the agent would return customers' names, emails and phone numbers when asked. We fixed it in three places, refusing the request, rejecting queries that name those columns and stripping them from results, and added case T8 so it stays fixed.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3F26E-9F83-CA4A-2169-BE705F6F9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26765-F472-63CE-C499-3D76CE77F50E}"/>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1E2BDAEA-4E0D-86D3-49CA-F441ABB9E173}"/>
              </a:ext>
            </a:extLst>
          </p:cNvPr>
          <p:cNvSpPr>
            <a:spLocks noGrp="1"/>
          </p:cNvSpPr>
          <p:nvPr>
            <p:ph type="body" idx="1"/>
          </p:nvPr>
        </p:nvSpPr>
        <p:spPr/>
        <p:txBody>
          <a:bodyPr/>
          <a:lstStyle/>
          <a:p>
            <a:r>
              <a:rPr lang="en-US" dirty="0"/>
              <a:t>PRESENTER: Ranjith (Implementation Lead)
We built 75 evaluation cases and rerun them after every change. 73 passed, 97.3%; the two misses were wording in answers about the agent itself. A grounding audit of 29 answers found zero invented product names, zero invented SKUs and zero unsupported large figures. Median response is about 10.5 seconds at about US$0.007 per question. Testing also caught a real defect on 25 October: the agent would return customers' names, emails and phone numbers when asked. We fixed it in three places, refusing the request, rejecting queries that name those columns and stripping them from results, and added case T8 so it stays fixed.</a:t>
            </a:r>
          </a:p>
        </p:txBody>
      </p:sp>
      <p:sp>
        <p:nvSpPr>
          <p:cNvPr id="4" name="Slide Number Placeholder 3">
            <a:extLst>
              <a:ext uri="{FF2B5EF4-FFF2-40B4-BE49-F238E27FC236}">
                <a16:creationId xmlns:a16="http://schemas.microsoft.com/office/drawing/2014/main" id="{B84359E6-763F-5D0C-4194-908F15920F1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125027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6EE4D-B667-312C-1A90-BA13E5083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24EA02-F04E-173B-6C26-49E94255E0DF}"/>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59A65805-AEFB-CE1D-CEE5-C87E688F425C}"/>
              </a:ext>
            </a:extLst>
          </p:cNvPr>
          <p:cNvSpPr>
            <a:spLocks noGrp="1"/>
          </p:cNvSpPr>
          <p:nvPr>
            <p:ph type="body" idx="1"/>
          </p:nvPr>
        </p:nvSpPr>
        <p:spPr/>
        <p:txBody>
          <a:bodyPr/>
          <a:lstStyle/>
          <a:p>
            <a:r>
              <a:rPr lang="en-US" dirty="0"/>
              <a:t>PRESENTER: Ranjith (Implementation Lead)
We built 75 evaluation cases and rerun them after every change. 73 passed, 97.3%; the two misses were wording in answers about the agent itself. A grounding audit of 29 answers found zero invented product names, zero invented SKUs and zero unsupported large figures. Median response is about 10.5 seconds at about US$0.007 per question. Testing also caught a real defect on 25 October: the agent would return customers' names, emails and phone numbers when asked. We fixed it in three places, refusing the request, rejecting queries that name those columns and stripping them from results, and added case T8 so it stays fixed.</a:t>
            </a:r>
          </a:p>
        </p:txBody>
      </p:sp>
      <p:sp>
        <p:nvSpPr>
          <p:cNvPr id="4" name="Slide Number Placeholder 3">
            <a:extLst>
              <a:ext uri="{FF2B5EF4-FFF2-40B4-BE49-F238E27FC236}">
                <a16:creationId xmlns:a16="http://schemas.microsoft.com/office/drawing/2014/main" id="{2C3A47AB-4C6A-8B07-079D-7B03E9365ED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585495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Ankur (AI Governance Lead)
Our governance principle is defence in depth: no single control is relied on. Identity and row-level security decide who sees what. The scope gate decides what is asked. The read-only transaction decides what can change. The answer verifier decides what is claimed. The privacy guard keeps customer personal details out. The audit log records what happened, and the Azure content filter covers what is generated. Above all of these, a person approves every action; the agent only drafts. Each control has its own test evidence, shown on each card.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Ankur (AI Governance Lead)
These are the seven main risks. The four high-impact risks are hallucination, seeing the wrong stores, prompt injection or write requests, and exposing customer personal details. Each is mitigated in code or the database, and each has test cases. The two high-likelihood risks are that synthetic data misleads, which we handle by stating limits every time, and inconsistent answers, found by a tester on 25 October, which we handle with fixed procedures in tools and a repeat-run check. Model latency and cost are medium and managed with timeouts, retries and a planned fallback demo video.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Ankur (AI Governance Lead)
On privacy: the data is synthetic, store access is enforced in the database, and after the defect we found on 25 October customer personal details are never returned. Saved chats belong to the signed-in person only. We are open about limitations: synthetic data shows the method, not real savings; some wording like highest or fell is not checked by code; the model occasionally adds general-knowledge remarks; and we have not yet tested with real managers. On bias: rankings default to units sold, which favours cheap fast-moving items, so the metric is always stated; we never profile individual customers; seasons are northern hemisphere; and managers remain accountable for every decision.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Sateesh (Project Lead)
To wrap up: the proof of concept delivers a working, read-only advisor with verified answers, seasonal awareness, role-based access and a strong evaluation. The path to production is clear: forecasting once lead times and safety stock exist, executing actions through an approval workflow, hosting in Azure AI Foundry with Entra sign-in, scheduled alerts, integration with ERP, POS and supplier systems, cost modelling, and a timing study with real managers to prove the 50% effort target.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Sateesh (Project Lead), whole team for Q&amp;A
Three takeaways: the agent is verified, because every figure is checked in code; it is safe, because it is read-only, role-based, privacy-guarded and human-approved; and it is proven, with 73 of 75 cases passing. Thank you. We are happy to take questions or run the live demo (guide in docs/demo.md).
Suggested Q&amp;A owners: data questions to Ruthvik; architecture to Navneet; code and evaluation to Ranjith; privacy and risk to Ankur; scope and plan to Sateesh.
[Sources]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182778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4.png"/><Relationship Id="rId4" Type="http://schemas.openxmlformats.org/officeDocument/2006/relationships/image" Target="../media/image16.pn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5.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1.png"/><Relationship Id="rId5" Type="http://schemas.openxmlformats.org/officeDocument/2006/relationships/image" Target="../media/image26.png"/><Relationship Id="rId10" Type="http://schemas.openxmlformats.org/officeDocument/2006/relationships/image" Target="../media/image30.png"/><Relationship Id="rId4" Type="http://schemas.openxmlformats.org/officeDocument/2006/relationships/image" Target="../media/image25.pn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7.png"/><Relationship Id="rId4" Type="http://schemas.openxmlformats.org/officeDocument/2006/relationships/image" Target="../media/image33.png"/><Relationship Id="rId9"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5.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pic>
        <p:nvPicPr>
          <p:cNvPr id="2" name="Image 0" descr="img_a.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A33">
              <a:alpha val="78000"/>
            </a:srgbClr>
          </a:solidFill>
          <a:ln w="12700">
            <a:solidFill>
              <a:srgbClr val="0E1A33">
                <a:alpha val="0"/>
              </a:srgbClr>
            </a:solidFill>
            <a:prstDash val="solid"/>
          </a:ln>
        </p:spPr>
        <p:txBody>
          <a:bodyPr/>
          <a:lstStyle/>
          <a:p>
            <a:endParaRPr lang="en-NZ"/>
          </a:p>
        </p:txBody>
      </p:sp>
      <p:sp>
        <p:nvSpPr>
          <p:cNvPr id="4" name="Shape 1"/>
          <p:cNvSpPr/>
          <p:nvPr/>
        </p:nvSpPr>
        <p:spPr>
          <a:xfrm>
            <a:off x="45720" y="0"/>
            <a:ext cx="7680960" cy="6858000"/>
          </a:xfrm>
          <a:prstGeom prst="rect">
            <a:avLst/>
          </a:prstGeom>
          <a:solidFill>
            <a:srgbClr val="0E1A33">
              <a:alpha val="85000"/>
            </a:srgbClr>
          </a:solidFill>
          <a:ln w="12700">
            <a:solidFill>
              <a:srgbClr val="0E1A33">
                <a:alpha val="0"/>
              </a:srgbClr>
            </a:solidFill>
            <a:prstDash val="solid"/>
          </a:ln>
        </p:spPr>
        <p:txBody>
          <a:bodyPr/>
          <a:lstStyle/>
          <a:p>
            <a:endParaRPr lang="en-NZ"/>
          </a:p>
        </p:txBody>
      </p:sp>
      <p:sp>
        <p:nvSpPr>
          <p:cNvPr id="5" name="Text 2"/>
          <p:cNvSpPr txBox="1"/>
          <p:nvPr/>
        </p:nvSpPr>
        <p:spPr>
          <a:xfrm>
            <a:off x="731520" y="1188720"/>
            <a:ext cx="6858000" cy="365760"/>
          </a:xfrm>
          <a:prstGeom prst="rect">
            <a:avLst/>
          </a:prstGeom>
          <a:noFill/>
          <a:ln/>
        </p:spPr>
        <p:txBody>
          <a:bodyPr wrap="square" lIns="0" tIns="0" rIns="0" bIns="0" rtlCol="0" anchor="t"/>
          <a:lstStyle/>
          <a:p>
            <a:pPr marL="0" indent="0">
              <a:buNone/>
            </a:pPr>
            <a:r>
              <a:rPr lang="en-US" sz="1300" b="1" kern="0" spc="200" dirty="0">
                <a:solidFill>
                  <a:srgbClr val="9DC3E6"/>
                </a:solidFill>
                <a:latin typeface="Arial" pitchFamily="34" charset="0"/>
                <a:ea typeface="Arial" pitchFamily="34" charset="-122"/>
                <a:cs typeface="Arial" pitchFamily="34" charset="-120"/>
              </a:rPr>
              <a:t>COMPSCI 714  ·  </a:t>
            </a:r>
            <a:r>
              <a:rPr lang="en-US" sz="1300" b="1" kern="0" spc="200" dirty="0">
                <a:solidFill>
                  <a:srgbClr val="9DC3E6"/>
                </a:solidFill>
                <a:latin typeface="Arial" pitchFamily="34" charset="0"/>
                <a:cs typeface="Arial" pitchFamily="34" charset="-120"/>
              </a:rPr>
              <a:t>GROUP</a:t>
            </a:r>
            <a:r>
              <a:rPr lang="en-US" sz="1300" b="1" kern="0" spc="200" dirty="0">
                <a:solidFill>
                  <a:srgbClr val="9DC3E6"/>
                </a:solidFill>
                <a:latin typeface="Arial" pitchFamily="34" charset="0"/>
                <a:ea typeface="Arial" pitchFamily="34" charset="-122"/>
                <a:cs typeface="Arial" pitchFamily="34" charset="-120"/>
              </a:rPr>
              <a:t> PROJECT  ·  S2 2026</a:t>
            </a:r>
            <a:endParaRPr lang="en-US" sz="1300" dirty="0"/>
          </a:p>
        </p:txBody>
      </p:sp>
      <p:sp>
        <p:nvSpPr>
          <p:cNvPr id="6" name="Text 3"/>
          <p:cNvSpPr txBox="1"/>
          <p:nvPr/>
        </p:nvSpPr>
        <p:spPr>
          <a:xfrm>
            <a:off x="731520" y="1737360"/>
            <a:ext cx="6858000" cy="146304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Inventory Optimisation Agent</a:t>
            </a:r>
            <a:endParaRPr lang="en-US" sz="4600" dirty="0"/>
          </a:p>
        </p:txBody>
      </p:sp>
      <p:sp>
        <p:nvSpPr>
          <p:cNvPr id="7" name="Text 4"/>
          <p:cNvSpPr txBox="1"/>
          <p:nvPr/>
        </p:nvSpPr>
        <p:spPr>
          <a:xfrm>
            <a:off x="731520" y="3291840"/>
            <a:ext cx="6309360" cy="914400"/>
          </a:xfrm>
          <a:prstGeom prst="rect">
            <a:avLst/>
          </a:prstGeom>
          <a:noFill/>
          <a:ln/>
        </p:spPr>
        <p:txBody>
          <a:bodyPr wrap="square" lIns="0" tIns="0" rIns="0" bIns="0" rtlCol="0" anchor="t"/>
          <a:lstStyle/>
          <a:p>
            <a:pPr marL="0" indent="0">
              <a:buNone/>
            </a:pPr>
            <a:r>
              <a:rPr lang="en-US" sz="1700" dirty="0">
                <a:solidFill>
                  <a:srgbClr val="DCE6F2"/>
                </a:solidFill>
                <a:latin typeface="Arial" pitchFamily="34" charset="0"/>
                <a:ea typeface="Arial" pitchFamily="34" charset="-122"/>
                <a:cs typeface="Arial" pitchFamily="34" charset="-120"/>
              </a:rPr>
              <a:t>Zava Inventory Advisor: a read-only AI agent that turns inventory data into Data-driven recommendations</a:t>
            </a:r>
            <a:endParaRPr lang="en-US" sz="1700" dirty="0"/>
          </a:p>
        </p:txBody>
      </p:sp>
      <p:sp>
        <p:nvSpPr>
          <p:cNvPr id="8" name="Shape 5"/>
          <p:cNvSpPr/>
          <p:nvPr/>
        </p:nvSpPr>
        <p:spPr>
          <a:xfrm>
            <a:off x="731520" y="4526280"/>
            <a:ext cx="1828800" cy="384048"/>
          </a:xfrm>
          <a:prstGeom prst="roundRect">
            <a:avLst>
              <a:gd name="adj" fmla="val 50000"/>
            </a:avLst>
          </a:prstGeom>
          <a:solidFill>
            <a:srgbClr val="F2A900"/>
          </a:solidFill>
          <a:ln w="12700">
            <a:solidFill>
              <a:srgbClr val="F2A900"/>
            </a:solidFill>
            <a:prstDash val="solid"/>
          </a:ln>
        </p:spPr>
        <p:txBody>
          <a:bodyPr/>
          <a:lstStyle/>
          <a:p>
            <a:endParaRPr lang="en-NZ"/>
          </a:p>
        </p:txBody>
      </p:sp>
      <p:sp>
        <p:nvSpPr>
          <p:cNvPr id="9" name="Text 6"/>
          <p:cNvSpPr txBox="1"/>
          <p:nvPr/>
        </p:nvSpPr>
        <p:spPr>
          <a:xfrm>
            <a:off x="731520" y="4526280"/>
            <a:ext cx="1828800" cy="384048"/>
          </a:xfrm>
          <a:prstGeom prst="rect">
            <a:avLst/>
          </a:prstGeom>
          <a:noFill/>
          <a:ln/>
        </p:spPr>
        <p:txBody>
          <a:bodyPr wrap="square" lIns="0" tIns="0" rIns="0" bIns="0" rtlCol="0" anchor="ctr"/>
          <a:lstStyle/>
          <a:p>
            <a:pPr marL="0" indent="0" algn="ctr">
              <a:buNone/>
            </a:pPr>
            <a:r>
              <a:rPr lang="en-US" sz="1200" b="1" dirty="0">
                <a:solidFill>
                  <a:srgbClr val="1F3864"/>
                </a:solidFill>
                <a:latin typeface="Arial" pitchFamily="34" charset="0"/>
                <a:ea typeface="Arial" pitchFamily="34" charset="-122"/>
                <a:cs typeface="Arial" pitchFamily="34" charset="-120"/>
              </a:rPr>
              <a:t>TEAM BLUEBIRD</a:t>
            </a:r>
            <a:endParaRPr lang="en-US" sz="1200" dirty="0"/>
          </a:p>
        </p:txBody>
      </p:sp>
      <p:sp>
        <p:nvSpPr>
          <p:cNvPr id="10" name="Text 7"/>
          <p:cNvSpPr txBox="1"/>
          <p:nvPr/>
        </p:nvSpPr>
        <p:spPr>
          <a:xfrm>
            <a:off x="731520" y="5074920"/>
            <a:ext cx="6400800" cy="365760"/>
          </a:xfrm>
          <a:prstGeom prst="rect">
            <a:avLst/>
          </a:prstGeom>
          <a:noFill/>
          <a:ln/>
        </p:spPr>
        <p:txBody>
          <a:bodyPr wrap="square" lIns="0" tIns="0" rIns="0" bIns="0" rtlCol="0" anchor="t"/>
          <a:lstStyle/>
          <a:p>
            <a:pPr marL="0" indent="0">
              <a:buNone/>
            </a:pPr>
            <a:r>
              <a:rPr lang="en-US" sz="1400" dirty="0">
                <a:solidFill>
                  <a:srgbClr val="FFFFFF"/>
                </a:solidFill>
                <a:latin typeface="Arial" pitchFamily="34" charset="0"/>
                <a:ea typeface="Arial" pitchFamily="34" charset="-122"/>
                <a:cs typeface="Arial" pitchFamily="34" charset="-120"/>
              </a:rPr>
              <a:t>Sateesh  ·  Navneet  ·  Ankur  ·  Ranjith  ·  Ruthvik</a:t>
            </a:r>
            <a:endParaRPr lang="en-US" sz="1400" dirty="0"/>
          </a:p>
        </p:txBody>
      </p:sp>
      <p:sp>
        <p:nvSpPr>
          <p:cNvPr id="11" name="Text 8"/>
          <p:cNvSpPr txBox="1"/>
          <p:nvPr/>
        </p:nvSpPr>
        <p:spPr>
          <a:xfrm>
            <a:off x="731520" y="5440680"/>
            <a:ext cx="6400800" cy="365760"/>
          </a:xfrm>
          <a:prstGeom prst="rect">
            <a:avLst/>
          </a:prstGeom>
          <a:noFill/>
          <a:ln/>
        </p:spPr>
        <p:txBody>
          <a:bodyPr wrap="square" lIns="0" tIns="0" rIns="0" bIns="0" rtlCol="0" anchor="t"/>
          <a:lstStyle/>
          <a:p>
            <a:pPr marL="0" indent="0">
              <a:buNone/>
            </a:pPr>
            <a:r>
              <a:rPr lang="en-US" sz="1200" dirty="0">
                <a:solidFill>
                  <a:srgbClr val="9DC3E6"/>
                </a:solidFill>
                <a:latin typeface="Arial" pitchFamily="34" charset="0"/>
                <a:ea typeface="Arial" pitchFamily="34" charset="-122"/>
                <a:cs typeface="Arial" pitchFamily="34" charset="-120"/>
              </a:rPr>
              <a:t>University of Auckland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Who presents what</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Each team member presents the part of the project they owned</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Sateesh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Project Lead</a:t>
            </a:r>
            <a:endParaRPr lang="en-US" sz="1200" dirty="0"/>
          </a:p>
        </p:txBody>
      </p:sp>
      <p:sp>
        <p:nvSpPr>
          <p:cNvPr id="8" name="Text 5"/>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2</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0" name="Shape 7"/>
          <p:cNvSpPr/>
          <p:nvPr/>
        </p:nvSpPr>
        <p:spPr>
          <a:xfrm>
            <a:off x="548640" y="1417320"/>
            <a:ext cx="2057400" cy="3017520"/>
          </a:xfrm>
          <a:prstGeom prst="roundRect">
            <a:avLst>
              <a:gd name="adj" fmla="val 5333"/>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1" name="Shape 8"/>
          <p:cNvSpPr/>
          <p:nvPr/>
        </p:nvSpPr>
        <p:spPr>
          <a:xfrm>
            <a:off x="1257300" y="1572768"/>
            <a:ext cx="640080" cy="640080"/>
          </a:xfrm>
          <a:prstGeom prst="ellipse">
            <a:avLst/>
          </a:prstGeom>
          <a:solidFill>
            <a:srgbClr val="1F3864"/>
          </a:solidFill>
          <a:ln w="12700">
            <a:solidFill>
              <a:srgbClr val="1F3864"/>
            </a:solidFill>
            <a:prstDash val="solid"/>
          </a:ln>
        </p:spPr>
        <p:txBody>
          <a:bodyPr/>
          <a:lstStyle/>
          <a:p>
            <a:endParaRPr lang="en-NZ"/>
          </a:p>
        </p:txBody>
      </p:sp>
      <p:pic>
        <p:nvPicPr>
          <p:cNvPr id="12" name="Image 1" descr="preencoded.png"/>
          <p:cNvPicPr>
            <a:picLocks noChangeAspect="1"/>
          </p:cNvPicPr>
          <p:nvPr/>
        </p:nvPicPr>
        <p:blipFill>
          <a:blip r:embed="rId3"/>
          <a:stretch>
            <a:fillRect/>
          </a:stretch>
        </p:blipFill>
        <p:spPr>
          <a:xfrm>
            <a:off x="1417320" y="1732788"/>
            <a:ext cx="320040" cy="320040"/>
          </a:xfrm>
          <a:prstGeom prst="rect">
            <a:avLst/>
          </a:prstGeom>
        </p:spPr>
      </p:pic>
      <p:sp>
        <p:nvSpPr>
          <p:cNvPr id="13" name="Text 9"/>
          <p:cNvSpPr txBox="1"/>
          <p:nvPr/>
        </p:nvSpPr>
        <p:spPr>
          <a:xfrm>
            <a:off x="685800" y="2304288"/>
            <a:ext cx="1783080" cy="347472"/>
          </a:xfrm>
          <a:prstGeom prst="rect">
            <a:avLst/>
          </a:prstGeom>
          <a:noFill/>
          <a:ln/>
        </p:spPr>
        <p:txBody>
          <a:bodyPr wrap="square" lIns="0" tIns="0" rIns="0" bIns="0" rtlCol="0" anchor="t"/>
          <a:lstStyle/>
          <a:p>
            <a:pPr marL="0" indent="0" algn="ctr">
              <a:buNone/>
            </a:pPr>
            <a:r>
              <a:rPr lang="en-US" sz="1050" b="1" kern="0" spc="100" dirty="0">
                <a:solidFill>
                  <a:srgbClr val="2E75B6"/>
                </a:solidFill>
                <a:latin typeface="Arial" pitchFamily="34" charset="0"/>
                <a:ea typeface="Arial" pitchFamily="34" charset="-122"/>
                <a:cs typeface="Arial" pitchFamily="34" charset="-120"/>
              </a:rPr>
              <a:t>PROJECT LEAD</a:t>
            </a:r>
            <a:endParaRPr lang="en-US" sz="1050" dirty="0"/>
          </a:p>
        </p:txBody>
      </p:sp>
      <p:sp>
        <p:nvSpPr>
          <p:cNvPr id="14" name="Text 10"/>
          <p:cNvSpPr txBox="1"/>
          <p:nvPr/>
        </p:nvSpPr>
        <p:spPr>
          <a:xfrm>
            <a:off x="685800" y="2633472"/>
            <a:ext cx="1783080" cy="566928"/>
          </a:xfrm>
          <a:prstGeom prst="rect">
            <a:avLst/>
          </a:prstGeom>
          <a:noFill/>
          <a:ln/>
        </p:spPr>
        <p:txBody>
          <a:bodyPr wrap="square" lIns="0" tIns="0" rIns="0" bIns="0" rtlCol="0" anchor="t"/>
          <a:lstStyle/>
          <a:p>
            <a:pPr marL="0" indent="0" algn="ctr">
              <a:buNone/>
            </a:pPr>
            <a:r>
              <a:rPr lang="en-US" sz="1400" b="1" dirty="0">
                <a:solidFill>
                  <a:srgbClr val="1F3864"/>
                </a:solidFill>
                <a:latin typeface="Arial" pitchFamily="34" charset="0"/>
                <a:ea typeface="Arial" pitchFamily="34" charset="-122"/>
                <a:cs typeface="Arial" pitchFamily="34" charset="-120"/>
              </a:rPr>
              <a:t>Sateesh Kumar Puletipalle</a:t>
            </a:r>
            <a:endParaRPr lang="en-US" sz="1450" dirty="0"/>
          </a:p>
        </p:txBody>
      </p:sp>
      <p:sp>
        <p:nvSpPr>
          <p:cNvPr id="15" name="Text 11"/>
          <p:cNvSpPr txBox="1"/>
          <p:nvPr/>
        </p:nvSpPr>
        <p:spPr>
          <a:xfrm>
            <a:off x="731520" y="3200400"/>
            <a:ext cx="1691640" cy="731520"/>
          </a:xfrm>
          <a:prstGeom prst="rect">
            <a:avLst/>
          </a:prstGeom>
          <a:noFill/>
          <a:ln/>
        </p:spPr>
        <p:txBody>
          <a:bodyPr wrap="square" lIns="0" tIns="0" rIns="0" bIns="0" rtlCol="0" anchor="t"/>
          <a:lstStyle/>
          <a:p>
            <a:pPr marL="0" indent="0" algn="ctr">
              <a:buNone/>
            </a:pPr>
            <a:r>
              <a:rPr lang="en-US" sz="1150" dirty="0">
                <a:solidFill>
                  <a:srgbClr val="222B3A"/>
                </a:solidFill>
                <a:latin typeface="Arial" pitchFamily="34" charset="0"/>
                <a:ea typeface="Arial" pitchFamily="34" charset="-122"/>
                <a:cs typeface="Arial" pitchFamily="34" charset="-120"/>
              </a:rPr>
              <a:t>Problem, use case and success criteria; next steps</a:t>
            </a:r>
            <a:endParaRPr lang="en-US" sz="1200" dirty="0"/>
          </a:p>
        </p:txBody>
      </p:sp>
      <p:sp>
        <p:nvSpPr>
          <p:cNvPr id="16" name="Shape 12"/>
          <p:cNvSpPr/>
          <p:nvPr/>
        </p:nvSpPr>
        <p:spPr>
          <a:xfrm>
            <a:off x="914400" y="4023360"/>
            <a:ext cx="1325880" cy="310896"/>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17" name="Text 13"/>
          <p:cNvSpPr txBox="1"/>
          <p:nvPr/>
        </p:nvSpPr>
        <p:spPr>
          <a:xfrm>
            <a:off x="914400" y="4023360"/>
            <a:ext cx="1325880" cy="310896"/>
          </a:xfrm>
          <a:prstGeom prst="rect">
            <a:avLst/>
          </a:prstGeom>
          <a:noFill/>
          <a:ln/>
        </p:spPr>
        <p:txBody>
          <a:bodyPr wrap="square" lIns="0" tIns="0" rIns="0" bIns="0" rtlCol="0" anchor="ctr"/>
          <a:lstStyle/>
          <a:p>
            <a:pPr marL="0" indent="0" algn="ctr">
              <a:buNone/>
            </a:pPr>
            <a:r>
              <a:rPr lang="en-US" sz="1050" b="1" dirty="0">
                <a:solidFill>
                  <a:srgbClr val="1F3864"/>
                </a:solidFill>
                <a:latin typeface="Arial" pitchFamily="34" charset="0"/>
                <a:ea typeface="Arial" pitchFamily="34" charset="-122"/>
                <a:cs typeface="Arial" pitchFamily="34" charset="-120"/>
              </a:rPr>
              <a:t>Slides 3–4, 18–19</a:t>
            </a:r>
            <a:endParaRPr lang="en-US" sz="1050" dirty="0"/>
          </a:p>
        </p:txBody>
      </p:sp>
      <p:sp>
        <p:nvSpPr>
          <p:cNvPr id="18" name="Shape 14"/>
          <p:cNvSpPr/>
          <p:nvPr/>
        </p:nvSpPr>
        <p:spPr>
          <a:xfrm>
            <a:off x="2761488" y="1417320"/>
            <a:ext cx="2057400" cy="3017520"/>
          </a:xfrm>
          <a:prstGeom prst="roundRect">
            <a:avLst>
              <a:gd name="adj" fmla="val 5333"/>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9" name="Shape 15"/>
          <p:cNvSpPr/>
          <p:nvPr/>
        </p:nvSpPr>
        <p:spPr>
          <a:xfrm>
            <a:off x="3470147" y="1572768"/>
            <a:ext cx="640080" cy="640080"/>
          </a:xfrm>
          <a:prstGeom prst="ellipse">
            <a:avLst/>
          </a:prstGeom>
          <a:solidFill>
            <a:srgbClr val="2E75B6"/>
          </a:solidFill>
          <a:ln w="12700">
            <a:solidFill>
              <a:srgbClr val="2E75B6"/>
            </a:solidFill>
            <a:prstDash val="solid"/>
          </a:ln>
        </p:spPr>
        <p:txBody>
          <a:bodyPr/>
          <a:lstStyle/>
          <a:p>
            <a:endParaRPr lang="en-NZ"/>
          </a:p>
        </p:txBody>
      </p:sp>
      <p:pic>
        <p:nvPicPr>
          <p:cNvPr id="20" name="Image 2" descr="preencoded.png"/>
          <p:cNvPicPr>
            <a:picLocks noChangeAspect="1"/>
          </p:cNvPicPr>
          <p:nvPr/>
        </p:nvPicPr>
        <p:blipFill>
          <a:blip r:embed="rId4"/>
          <a:stretch>
            <a:fillRect/>
          </a:stretch>
        </p:blipFill>
        <p:spPr>
          <a:xfrm>
            <a:off x="3630167" y="1732788"/>
            <a:ext cx="320040" cy="320040"/>
          </a:xfrm>
          <a:prstGeom prst="rect">
            <a:avLst/>
          </a:prstGeom>
        </p:spPr>
      </p:pic>
      <p:sp>
        <p:nvSpPr>
          <p:cNvPr id="21" name="Text 16"/>
          <p:cNvSpPr txBox="1"/>
          <p:nvPr/>
        </p:nvSpPr>
        <p:spPr>
          <a:xfrm>
            <a:off x="2898648" y="2304288"/>
            <a:ext cx="1783080" cy="347472"/>
          </a:xfrm>
          <a:prstGeom prst="rect">
            <a:avLst/>
          </a:prstGeom>
          <a:noFill/>
          <a:ln/>
        </p:spPr>
        <p:txBody>
          <a:bodyPr wrap="square" lIns="0" tIns="0" rIns="0" bIns="0" rtlCol="0" anchor="t"/>
          <a:lstStyle/>
          <a:p>
            <a:pPr marL="0" indent="0" algn="ctr">
              <a:buNone/>
            </a:pPr>
            <a:r>
              <a:rPr lang="en-US" sz="1050" b="1" kern="0" spc="100" dirty="0">
                <a:solidFill>
                  <a:srgbClr val="2E75B6"/>
                </a:solidFill>
                <a:latin typeface="Arial" pitchFamily="34" charset="0"/>
                <a:ea typeface="Arial" pitchFamily="34" charset="-122"/>
                <a:cs typeface="Arial" pitchFamily="34" charset="-120"/>
              </a:rPr>
              <a:t>DATA &amp; PROBLEM ANALYST</a:t>
            </a:r>
            <a:endParaRPr lang="en-US" sz="1050" dirty="0"/>
          </a:p>
        </p:txBody>
      </p:sp>
      <p:sp>
        <p:nvSpPr>
          <p:cNvPr id="22" name="Text 17"/>
          <p:cNvSpPr txBox="1"/>
          <p:nvPr/>
        </p:nvSpPr>
        <p:spPr>
          <a:xfrm>
            <a:off x="2898648" y="2633472"/>
            <a:ext cx="1783080" cy="566928"/>
          </a:xfrm>
          <a:prstGeom prst="rect">
            <a:avLst/>
          </a:prstGeom>
          <a:noFill/>
          <a:ln/>
        </p:spPr>
        <p:txBody>
          <a:bodyPr wrap="square" lIns="0" tIns="0" rIns="0" bIns="0" rtlCol="0" anchor="t"/>
          <a:lstStyle/>
          <a:p>
            <a:pPr marL="0" indent="0" algn="ctr">
              <a:buNone/>
            </a:pPr>
            <a:r>
              <a:rPr lang="en-US" sz="1400" b="1" dirty="0">
                <a:solidFill>
                  <a:srgbClr val="1F3864"/>
                </a:solidFill>
                <a:latin typeface="Arial" pitchFamily="34" charset="0"/>
                <a:ea typeface="Arial" pitchFamily="34" charset="-122"/>
                <a:cs typeface="Arial" pitchFamily="34" charset="-120"/>
              </a:rPr>
              <a:t>Ruthvik Kodimela</a:t>
            </a:r>
            <a:endParaRPr lang="en-US" sz="1450" dirty="0"/>
          </a:p>
        </p:txBody>
      </p:sp>
      <p:sp>
        <p:nvSpPr>
          <p:cNvPr id="23" name="Text 18"/>
          <p:cNvSpPr txBox="1"/>
          <p:nvPr/>
        </p:nvSpPr>
        <p:spPr>
          <a:xfrm>
            <a:off x="2944368" y="3200400"/>
            <a:ext cx="1691640" cy="731520"/>
          </a:xfrm>
          <a:prstGeom prst="rect">
            <a:avLst/>
          </a:prstGeom>
          <a:noFill/>
          <a:ln/>
        </p:spPr>
        <p:txBody>
          <a:bodyPr wrap="square" lIns="0" tIns="0" rIns="0" bIns="0" rtlCol="0" anchor="t"/>
          <a:lstStyle/>
          <a:p>
            <a:pPr marL="0" indent="0" algn="ctr">
              <a:buNone/>
            </a:pPr>
            <a:r>
              <a:rPr lang="en-US" sz="1150" dirty="0">
                <a:solidFill>
                  <a:srgbClr val="222B3A"/>
                </a:solidFill>
                <a:latin typeface="Arial" pitchFamily="34" charset="0"/>
                <a:ea typeface="Arial" pitchFamily="34" charset="-122"/>
                <a:cs typeface="Arial" pitchFamily="34" charset="-120"/>
              </a:rPr>
              <a:t>Evidence in the data; assumptions tested</a:t>
            </a:r>
            <a:endParaRPr lang="en-US" sz="1200" dirty="0"/>
          </a:p>
        </p:txBody>
      </p:sp>
      <p:sp>
        <p:nvSpPr>
          <p:cNvPr id="24" name="Shape 19"/>
          <p:cNvSpPr/>
          <p:nvPr/>
        </p:nvSpPr>
        <p:spPr>
          <a:xfrm>
            <a:off x="3127248" y="4023360"/>
            <a:ext cx="1325880" cy="310896"/>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25" name="Text 20"/>
          <p:cNvSpPr txBox="1"/>
          <p:nvPr/>
        </p:nvSpPr>
        <p:spPr>
          <a:xfrm>
            <a:off x="3127248" y="4023360"/>
            <a:ext cx="1325880" cy="310896"/>
          </a:xfrm>
          <a:prstGeom prst="rect">
            <a:avLst/>
          </a:prstGeom>
          <a:noFill/>
          <a:ln/>
        </p:spPr>
        <p:txBody>
          <a:bodyPr wrap="square" lIns="0" tIns="0" rIns="0" bIns="0" rtlCol="0" anchor="ctr"/>
          <a:lstStyle/>
          <a:p>
            <a:pPr marL="0" indent="0" algn="ctr">
              <a:buNone/>
            </a:pPr>
            <a:r>
              <a:rPr lang="en-US" sz="1050" b="1" dirty="0">
                <a:solidFill>
                  <a:srgbClr val="1F3864"/>
                </a:solidFill>
                <a:latin typeface="Arial" pitchFamily="34" charset="0"/>
                <a:ea typeface="Arial" pitchFamily="34" charset="-122"/>
                <a:cs typeface="Arial" pitchFamily="34" charset="-120"/>
              </a:rPr>
              <a:t>Slides 5–6</a:t>
            </a:r>
            <a:endParaRPr lang="en-US" sz="1050" dirty="0"/>
          </a:p>
        </p:txBody>
      </p:sp>
      <p:sp>
        <p:nvSpPr>
          <p:cNvPr id="26" name="Shape 21"/>
          <p:cNvSpPr/>
          <p:nvPr/>
        </p:nvSpPr>
        <p:spPr>
          <a:xfrm>
            <a:off x="4974336" y="1417320"/>
            <a:ext cx="2057400" cy="3017520"/>
          </a:xfrm>
          <a:prstGeom prst="roundRect">
            <a:avLst>
              <a:gd name="adj" fmla="val 5333"/>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7" name="Shape 22"/>
          <p:cNvSpPr/>
          <p:nvPr/>
        </p:nvSpPr>
        <p:spPr>
          <a:xfrm>
            <a:off x="5682996" y="1572768"/>
            <a:ext cx="640080" cy="640080"/>
          </a:xfrm>
          <a:prstGeom prst="ellipse">
            <a:avLst/>
          </a:prstGeom>
          <a:solidFill>
            <a:srgbClr val="2E75B6"/>
          </a:solidFill>
          <a:ln w="12700">
            <a:solidFill>
              <a:srgbClr val="2E75B6"/>
            </a:solidFill>
            <a:prstDash val="solid"/>
          </a:ln>
        </p:spPr>
        <p:txBody>
          <a:bodyPr/>
          <a:lstStyle/>
          <a:p>
            <a:endParaRPr lang="en-NZ"/>
          </a:p>
        </p:txBody>
      </p:sp>
      <p:pic>
        <p:nvPicPr>
          <p:cNvPr id="28" name="Image 3" descr="preencoded.png"/>
          <p:cNvPicPr>
            <a:picLocks noChangeAspect="1"/>
          </p:cNvPicPr>
          <p:nvPr/>
        </p:nvPicPr>
        <p:blipFill>
          <a:blip r:embed="rId5"/>
          <a:stretch>
            <a:fillRect/>
          </a:stretch>
        </p:blipFill>
        <p:spPr>
          <a:xfrm>
            <a:off x="5843016" y="1732788"/>
            <a:ext cx="320040" cy="320040"/>
          </a:xfrm>
          <a:prstGeom prst="rect">
            <a:avLst/>
          </a:prstGeom>
        </p:spPr>
      </p:pic>
      <p:sp>
        <p:nvSpPr>
          <p:cNvPr id="29" name="Text 23"/>
          <p:cNvSpPr txBox="1"/>
          <p:nvPr/>
        </p:nvSpPr>
        <p:spPr>
          <a:xfrm>
            <a:off x="5111496" y="2304288"/>
            <a:ext cx="1783080" cy="347472"/>
          </a:xfrm>
          <a:prstGeom prst="rect">
            <a:avLst/>
          </a:prstGeom>
          <a:noFill/>
          <a:ln/>
        </p:spPr>
        <p:txBody>
          <a:bodyPr wrap="square" lIns="0" tIns="0" rIns="0" bIns="0" rtlCol="0" anchor="t"/>
          <a:lstStyle/>
          <a:p>
            <a:pPr marL="0" indent="0" algn="ctr">
              <a:buNone/>
            </a:pPr>
            <a:r>
              <a:rPr lang="en-US" sz="1050" b="1" kern="0" spc="100" dirty="0">
                <a:solidFill>
                  <a:srgbClr val="2E75B6"/>
                </a:solidFill>
                <a:latin typeface="Arial" pitchFamily="34" charset="0"/>
                <a:ea typeface="Arial" pitchFamily="34" charset="-122"/>
                <a:cs typeface="Arial" pitchFamily="34" charset="-120"/>
              </a:rPr>
              <a:t>SOLUTION ARCHITECT</a:t>
            </a:r>
            <a:endParaRPr lang="en-US" sz="1050" dirty="0"/>
          </a:p>
        </p:txBody>
      </p:sp>
      <p:sp>
        <p:nvSpPr>
          <p:cNvPr id="30" name="Text 24"/>
          <p:cNvSpPr txBox="1"/>
          <p:nvPr/>
        </p:nvSpPr>
        <p:spPr>
          <a:xfrm>
            <a:off x="5111496" y="2633472"/>
            <a:ext cx="1783080" cy="566928"/>
          </a:xfrm>
          <a:prstGeom prst="rect">
            <a:avLst/>
          </a:prstGeom>
          <a:noFill/>
          <a:ln/>
        </p:spPr>
        <p:txBody>
          <a:bodyPr wrap="square" lIns="0" tIns="0" rIns="0" bIns="0" rtlCol="0" anchor="t"/>
          <a:lstStyle/>
          <a:p>
            <a:pPr marL="0" indent="0" algn="ctr">
              <a:buNone/>
            </a:pPr>
            <a:r>
              <a:rPr lang="en-US" sz="1400" b="1" dirty="0">
                <a:solidFill>
                  <a:srgbClr val="1F3864"/>
                </a:solidFill>
                <a:latin typeface="Arial" pitchFamily="34" charset="0"/>
                <a:ea typeface="Arial" pitchFamily="34" charset="-122"/>
                <a:cs typeface="Arial" pitchFamily="34" charset="-120"/>
              </a:rPr>
              <a:t>Navneet Kumar Gupta</a:t>
            </a:r>
            <a:endParaRPr lang="en-US" sz="1450" dirty="0"/>
          </a:p>
        </p:txBody>
      </p:sp>
      <p:sp>
        <p:nvSpPr>
          <p:cNvPr id="31" name="Text 25"/>
          <p:cNvSpPr txBox="1"/>
          <p:nvPr/>
        </p:nvSpPr>
        <p:spPr>
          <a:xfrm>
            <a:off x="5157216" y="3200400"/>
            <a:ext cx="1691640" cy="731520"/>
          </a:xfrm>
          <a:prstGeom prst="rect">
            <a:avLst/>
          </a:prstGeom>
          <a:noFill/>
          <a:ln/>
        </p:spPr>
        <p:txBody>
          <a:bodyPr wrap="square" lIns="0" tIns="0" rIns="0" bIns="0" rtlCol="0" anchor="t"/>
          <a:lstStyle/>
          <a:p>
            <a:pPr marL="0" indent="0" algn="ctr">
              <a:buNone/>
            </a:pPr>
            <a:r>
              <a:rPr lang="en-US" sz="1150" dirty="0">
                <a:solidFill>
                  <a:srgbClr val="222B3A"/>
                </a:solidFill>
                <a:latin typeface="Arial" pitchFamily="34" charset="0"/>
                <a:ea typeface="Arial" pitchFamily="34" charset="-122"/>
                <a:cs typeface="Arial" pitchFamily="34" charset="-120"/>
              </a:rPr>
              <a:t>Why an agent; architecture; services and design changes</a:t>
            </a:r>
            <a:endParaRPr lang="en-US" sz="1200" dirty="0"/>
          </a:p>
        </p:txBody>
      </p:sp>
      <p:sp>
        <p:nvSpPr>
          <p:cNvPr id="32" name="Shape 26"/>
          <p:cNvSpPr/>
          <p:nvPr/>
        </p:nvSpPr>
        <p:spPr>
          <a:xfrm>
            <a:off x="5340096" y="4023360"/>
            <a:ext cx="1325880" cy="310896"/>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33" name="Text 27"/>
          <p:cNvSpPr txBox="1"/>
          <p:nvPr/>
        </p:nvSpPr>
        <p:spPr>
          <a:xfrm>
            <a:off x="5340096" y="4023360"/>
            <a:ext cx="1325880" cy="310896"/>
          </a:xfrm>
          <a:prstGeom prst="rect">
            <a:avLst/>
          </a:prstGeom>
          <a:noFill/>
          <a:ln/>
        </p:spPr>
        <p:txBody>
          <a:bodyPr wrap="square" lIns="0" tIns="0" rIns="0" bIns="0" rtlCol="0" anchor="ctr"/>
          <a:lstStyle/>
          <a:p>
            <a:pPr marL="0" indent="0" algn="ctr">
              <a:buNone/>
            </a:pPr>
            <a:r>
              <a:rPr lang="en-US" sz="1050" b="1" dirty="0">
                <a:solidFill>
                  <a:srgbClr val="1F3864"/>
                </a:solidFill>
                <a:latin typeface="Arial" pitchFamily="34" charset="0"/>
                <a:ea typeface="Arial" pitchFamily="34" charset="-122"/>
                <a:cs typeface="Arial" pitchFamily="34" charset="-120"/>
              </a:rPr>
              <a:t>Slides 7–10</a:t>
            </a:r>
            <a:endParaRPr lang="en-US" sz="1050" dirty="0"/>
          </a:p>
        </p:txBody>
      </p:sp>
      <p:sp>
        <p:nvSpPr>
          <p:cNvPr id="34" name="Shape 28"/>
          <p:cNvSpPr/>
          <p:nvPr/>
        </p:nvSpPr>
        <p:spPr>
          <a:xfrm>
            <a:off x="7187184" y="1417320"/>
            <a:ext cx="2057400" cy="3017520"/>
          </a:xfrm>
          <a:prstGeom prst="roundRect">
            <a:avLst>
              <a:gd name="adj" fmla="val 5333"/>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5" name="Shape 29"/>
          <p:cNvSpPr/>
          <p:nvPr/>
        </p:nvSpPr>
        <p:spPr>
          <a:xfrm>
            <a:off x="7895844" y="1572768"/>
            <a:ext cx="640080" cy="640080"/>
          </a:xfrm>
          <a:prstGeom prst="ellipse">
            <a:avLst/>
          </a:prstGeom>
          <a:solidFill>
            <a:srgbClr val="2E75B6"/>
          </a:solidFill>
          <a:ln w="12700">
            <a:solidFill>
              <a:srgbClr val="2E75B6"/>
            </a:solidFill>
            <a:prstDash val="solid"/>
          </a:ln>
        </p:spPr>
        <p:txBody>
          <a:bodyPr/>
          <a:lstStyle/>
          <a:p>
            <a:endParaRPr lang="en-NZ"/>
          </a:p>
        </p:txBody>
      </p:sp>
      <p:pic>
        <p:nvPicPr>
          <p:cNvPr id="36" name="Image 4" descr="preencoded.png"/>
          <p:cNvPicPr>
            <a:picLocks noChangeAspect="1"/>
          </p:cNvPicPr>
          <p:nvPr/>
        </p:nvPicPr>
        <p:blipFill>
          <a:blip r:embed="rId6"/>
          <a:stretch>
            <a:fillRect/>
          </a:stretch>
        </p:blipFill>
        <p:spPr>
          <a:xfrm>
            <a:off x="8055864" y="1732788"/>
            <a:ext cx="320040" cy="320040"/>
          </a:xfrm>
          <a:prstGeom prst="rect">
            <a:avLst/>
          </a:prstGeom>
        </p:spPr>
      </p:pic>
      <p:sp>
        <p:nvSpPr>
          <p:cNvPr id="37" name="Text 30"/>
          <p:cNvSpPr txBox="1"/>
          <p:nvPr/>
        </p:nvSpPr>
        <p:spPr>
          <a:xfrm>
            <a:off x="7324344" y="2304288"/>
            <a:ext cx="1783080" cy="347472"/>
          </a:xfrm>
          <a:prstGeom prst="rect">
            <a:avLst/>
          </a:prstGeom>
          <a:noFill/>
          <a:ln/>
        </p:spPr>
        <p:txBody>
          <a:bodyPr wrap="square" lIns="0" tIns="0" rIns="0" bIns="0" rtlCol="0" anchor="t"/>
          <a:lstStyle/>
          <a:p>
            <a:pPr marL="0" indent="0" algn="ctr">
              <a:buNone/>
            </a:pPr>
            <a:r>
              <a:rPr lang="en-US" sz="1050" b="1" kern="0" spc="100" dirty="0">
                <a:solidFill>
                  <a:srgbClr val="2E75B6"/>
                </a:solidFill>
                <a:latin typeface="Arial" pitchFamily="34" charset="0"/>
                <a:ea typeface="Arial" pitchFamily="34" charset="-122"/>
                <a:cs typeface="Arial" pitchFamily="34" charset="-120"/>
              </a:rPr>
              <a:t>IMPLEMENTATION LEAD</a:t>
            </a:r>
            <a:endParaRPr lang="en-US" sz="1050" dirty="0"/>
          </a:p>
        </p:txBody>
      </p:sp>
      <p:sp>
        <p:nvSpPr>
          <p:cNvPr id="38" name="Text 31"/>
          <p:cNvSpPr txBox="1"/>
          <p:nvPr/>
        </p:nvSpPr>
        <p:spPr>
          <a:xfrm>
            <a:off x="7324344" y="2633472"/>
            <a:ext cx="1783080" cy="566928"/>
          </a:xfrm>
          <a:prstGeom prst="rect">
            <a:avLst/>
          </a:prstGeom>
          <a:noFill/>
          <a:ln/>
        </p:spPr>
        <p:txBody>
          <a:bodyPr wrap="square" lIns="0" tIns="0" rIns="0" bIns="0" rtlCol="0" anchor="t"/>
          <a:lstStyle/>
          <a:p>
            <a:pPr marL="0" indent="0" algn="ctr">
              <a:buNone/>
            </a:pPr>
            <a:r>
              <a:rPr lang="en-US" sz="1400" b="1" dirty="0">
                <a:solidFill>
                  <a:srgbClr val="1F3864"/>
                </a:solidFill>
                <a:latin typeface="Arial" pitchFamily="34" charset="0"/>
                <a:ea typeface="Arial" pitchFamily="34" charset="-122"/>
                <a:cs typeface="Arial" pitchFamily="34" charset="-120"/>
              </a:rPr>
              <a:t>Ranjith Kumar Pulluri</a:t>
            </a:r>
            <a:endParaRPr lang="en-US" sz="1450" dirty="0"/>
          </a:p>
        </p:txBody>
      </p:sp>
      <p:sp>
        <p:nvSpPr>
          <p:cNvPr id="39" name="Text 32"/>
          <p:cNvSpPr txBox="1"/>
          <p:nvPr/>
        </p:nvSpPr>
        <p:spPr>
          <a:xfrm>
            <a:off x="7370064" y="3200400"/>
            <a:ext cx="1691640" cy="731520"/>
          </a:xfrm>
          <a:prstGeom prst="rect">
            <a:avLst/>
          </a:prstGeom>
          <a:noFill/>
          <a:ln/>
        </p:spPr>
        <p:txBody>
          <a:bodyPr wrap="square" lIns="0" tIns="0" rIns="0" bIns="0" rtlCol="0" anchor="t"/>
          <a:lstStyle/>
          <a:p>
            <a:pPr marL="0" indent="0" algn="ctr">
              <a:buNone/>
            </a:pPr>
            <a:r>
              <a:rPr lang="en-US" sz="1150" dirty="0">
                <a:solidFill>
                  <a:srgbClr val="222B3A"/>
                </a:solidFill>
                <a:latin typeface="Arial" pitchFamily="34" charset="0"/>
                <a:ea typeface="Arial" pitchFamily="34" charset="-122"/>
                <a:cs typeface="Arial" pitchFamily="34" charset="-120"/>
              </a:rPr>
              <a:t>How it works; evaluation results; delivery timeline</a:t>
            </a:r>
            <a:endParaRPr lang="en-US" sz="1200" dirty="0"/>
          </a:p>
        </p:txBody>
      </p:sp>
      <p:sp>
        <p:nvSpPr>
          <p:cNvPr id="40" name="Shape 33"/>
          <p:cNvSpPr/>
          <p:nvPr/>
        </p:nvSpPr>
        <p:spPr>
          <a:xfrm>
            <a:off x="7552944" y="4023360"/>
            <a:ext cx="1325880" cy="310896"/>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1" name="Text 34"/>
          <p:cNvSpPr txBox="1"/>
          <p:nvPr/>
        </p:nvSpPr>
        <p:spPr>
          <a:xfrm>
            <a:off x="7552944" y="4023360"/>
            <a:ext cx="1325880" cy="310896"/>
          </a:xfrm>
          <a:prstGeom prst="rect">
            <a:avLst/>
          </a:prstGeom>
          <a:noFill/>
          <a:ln/>
        </p:spPr>
        <p:txBody>
          <a:bodyPr wrap="square" lIns="0" tIns="0" rIns="0" bIns="0" rtlCol="0" anchor="ctr"/>
          <a:lstStyle/>
          <a:p>
            <a:pPr marL="0" indent="0" algn="ctr">
              <a:buNone/>
            </a:pPr>
            <a:r>
              <a:rPr lang="en-US" sz="1050" b="1" dirty="0">
                <a:solidFill>
                  <a:srgbClr val="1F3864"/>
                </a:solidFill>
                <a:latin typeface="Arial" pitchFamily="34" charset="0"/>
                <a:ea typeface="Arial" pitchFamily="34" charset="-122"/>
                <a:cs typeface="Arial" pitchFamily="34" charset="-120"/>
              </a:rPr>
              <a:t>Slides 11–13</a:t>
            </a:r>
            <a:endParaRPr lang="en-US" sz="1050" dirty="0"/>
          </a:p>
        </p:txBody>
      </p:sp>
      <p:sp>
        <p:nvSpPr>
          <p:cNvPr id="42" name="Shape 35"/>
          <p:cNvSpPr/>
          <p:nvPr/>
        </p:nvSpPr>
        <p:spPr>
          <a:xfrm>
            <a:off x="9400032" y="1417320"/>
            <a:ext cx="2057400" cy="3017520"/>
          </a:xfrm>
          <a:prstGeom prst="roundRect">
            <a:avLst>
              <a:gd name="adj" fmla="val 5333"/>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43" name="Shape 36"/>
          <p:cNvSpPr/>
          <p:nvPr/>
        </p:nvSpPr>
        <p:spPr>
          <a:xfrm>
            <a:off x="10108692" y="1572768"/>
            <a:ext cx="640080" cy="640080"/>
          </a:xfrm>
          <a:prstGeom prst="ellipse">
            <a:avLst/>
          </a:prstGeom>
          <a:solidFill>
            <a:srgbClr val="2E75B6"/>
          </a:solidFill>
          <a:ln w="12700">
            <a:solidFill>
              <a:srgbClr val="2E75B6"/>
            </a:solidFill>
            <a:prstDash val="solid"/>
          </a:ln>
        </p:spPr>
        <p:txBody>
          <a:bodyPr/>
          <a:lstStyle/>
          <a:p>
            <a:endParaRPr lang="en-NZ"/>
          </a:p>
        </p:txBody>
      </p:sp>
      <p:pic>
        <p:nvPicPr>
          <p:cNvPr id="44" name="Image 5" descr="preencoded.png"/>
          <p:cNvPicPr>
            <a:picLocks noChangeAspect="1"/>
          </p:cNvPicPr>
          <p:nvPr/>
        </p:nvPicPr>
        <p:blipFill>
          <a:blip r:embed="rId7"/>
          <a:stretch>
            <a:fillRect/>
          </a:stretch>
        </p:blipFill>
        <p:spPr>
          <a:xfrm>
            <a:off x="10268712" y="1732788"/>
            <a:ext cx="320040" cy="320040"/>
          </a:xfrm>
          <a:prstGeom prst="rect">
            <a:avLst/>
          </a:prstGeom>
        </p:spPr>
      </p:pic>
      <p:sp>
        <p:nvSpPr>
          <p:cNvPr id="45" name="Text 37"/>
          <p:cNvSpPr txBox="1"/>
          <p:nvPr/>
        </p:nvSpPr>
        <p:spPr>
          <a:xfrm>
            <a:off x="9537192" y="2304288"/>
            <a:ext cx="1783080" cy="347472"/>
          </a:xfrm>
          <a:prstGeom prst="rect">
            <a:avLst/>
          </a:prstGeom>
          <a:noFill/>
          <a:ln/>
        </p:spPr>
        <p:txBody>
          <a:bodyPr wrap="square" lIns="0" tIns="0" rIns="0" bIns="0" rtlCol="0" anchor="t"/>
          <a:lstStyle/>
          <a:p>
            <a:pPr marL="0" indent="0" algn="ctr">
              <a:buNone/>
            </a:pPr>
            <a:r>
              <a:rPr lang="en-US" sz="1050" b="1" kern="0" spc="100" dirty="0">
                <a:solidFill>
                  <a:srgbClr val="2E75B6"/>
                </a:solidFill>
                <a:latin typeface="Arial" pitchFamily="34" charset="0"/>
                <a:ea typeface="Arial" pitchFamily="34" charset="-122"/>
                <a:cs typeface="Arial" pitchFamily="34" charset="-120"/>
              </a:rPr>
              <a:t>AI GOVERNANCE LEAD</a:t>
            </a:r>
            <a:endParaRPr lang="en-US" sz="1050" dirty="0"/>
          </a:p>
        </p:txBody>
      </p:sp>
      <p:sp>
        <p:nvSpPr>
          <p:cNvPr id="46" name="Text 38"/>
          <p:cNvSpPr txBox="1"/>
          <p:nvPr/>
        </p:nvSpPr>
        <p:spPr>
          <a:xfrm>
            <a:off x="9537192" y="2633472"/>
            <a:ext cx="1783080" cy="566928"/>
          </a:xfrm>
          <a:prstGeom prst="rect">
            <a:avLst/>
          </a:prstGeom>
          <a:noFill/>
          <a:ln/>
        </p:spPr>
        <p:txBody>
          <a:bodyPr wrap="square" lIns="0" tIns="0" rIns="0" bIns="0" rtlCol="0" anchor="t"/>
          <a:lstStyle/>
          <a:p>
            <a:pPr marL="0" indent="0" algn="ctr">
              <a:buNone/>
            </a:pPr>
            <a:r>
              <a:rPr lang="en-US" sz="1400" b="1" dirty="0">
                <a:solidFill>
                  <a:srgbClr val="1F3864"/>
                </a:solidFill>
                <a:latin typeface="Arial" pitchFamily="34" charset="0"/>
                <a:ea typeface="Arial" pitchFamily="34" charset="-122"/>
                <a:cs typeface="Arial" pitchFamily="34" charset="-120"/>
              </a:rPr>
              <a:t>Ankur Sharma</a:t>
            </a:r>
            <a:endParaRPr lang="en-US" sz="1450" dirty="0"/>
          </a:p>
        </p:txBody>
      </p:sp>
      <p:sp>
        <p:nvSpPr>
          <p:cNvPr id="47" name="Text 39"/>
          <p:cNvSpPr txBox="1"/>
          <p:nvPr/>
        </p:nvSpPr>
        <p:spPr>
          <a:xfrm>
            <a:off x="9582912" y="3200400"/>
            <a:ext cx="1691640" cy="731520"/>
          </a:xfrm>
          <a:prstGeom prst="rect">
            <a:avLst/>
          </a:prstGeom>
          <a:noFill/>
          <a:ln/>
        </p:spPr>
        <p:txBody>
          <a:bodyPr wrap="square" lIns="0" tIns="0" rIns="0" bIns="0" rtlCol="0" anchor="t"/>
          <a:lstStyle/>
          <a:p>
            <a:pPr marL="0" indent="0" algn="ctr">
              <a:buNone/>
            </a:pPr>
            <a:r>
              <a:rPr lang="en-US" sz="1150" dirty="0">
                <a:solidFill>
                  <a:srgbClr val="222B3A"/>
                </a:solidFill>
                <a:latin typeface="Arial" pitchFamily="34" charset="0"/>
                <a:ea typeface="Arial" pitchFamily="34" charset="-122"/>
                <a:cs typeface="Arial" pitchFamily="34" charset="-120"/>
              </a:rPr>
              <a:t>Governance controls; risks; privacy, limits and GenAI use</a:t>
            </a:r>
            <a:endParaRPr lang="en-US" sz="1200" dirty="0"/>
          </a:p>
        </p:txBody>
      </p:sp>
      <p:sp>
        <p:nvSpPr>
          <p:cNvPr id="48" name="Shape 40"/>
          <p:cNvSpPr/>
          <p:nvPr/>
        </p:nvSpPr>
        <p:spPr>
          <a:xfrm>
            <a:off x="9765792" y="4023360"/>
            <a:ext cx="1325880" cy="310896"/>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9" name="Text 41"/>
          <p:cNvSpPr txBox="1"/>
          <p:nvPr/>
        </p:nvSpPr>
        <p:spPr>
          <a:xfrm>
            <a:off x="9765792" y="4023360"/>
            <a:ext cx="1325880" cy="310896"/>
          </a:xfrm>
          <a:prstGeom prst="rect">
            <a:avLst/>
          </a:prstGeom>
          <a:noFill/>
          <a:ln/>
        </p:spPr>
        <p:txBody>
          <a:bodyPr wrap="square" lIns="0" tIns="0" rIns="0" bIns="0" rtlCol="0" anchor="ctr"/>
          <a:lstStyle/>
          <a:p>
            <a:pPr marL="0" indent="0" algn="ctr">
              <a:buNone/>
            </a:pPr>
            <a:r>
              <a:rPr lang="en-US" sz="1050" b="1" dirty="0">
                <a:solidFill>
                  <a:srgbClr val="1F3864"/>
                </a:solidFill>
                <a:latin typeface="Arial" pitchFamily="34" charset="0"/>
                <a:ea typeface="Arial" pitchFamily="34" charset="-122"/>
                <a:cs typeface="Arial" pitchFamily="34" charset="-120"/>
              </a:rPr>
              <a:t>Slides 14–17</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39" y="382987"/>
            <a:ext cx="8549641" cy="640080"/>
          </a:xfrm>
          <a:prstGeom prst="rect">
            <a:avLst/>
          </a:prstGeom>
          <a:noFill/>
          <a:ln/>
        </p:spPr>
        <p:txBody>
          <a:bodyPr wrap="square" lIns="0" tIns="0" rIns="0" bIns="0" rtlCol="0" anchor="ctr"/>
          <a:lstStyle/>
          <a:p>
            <a:r>
              <a:rPr lang="en-US" sz="2800" b="1" dirty="0">
                <a:solidFill>
                  <a:srgbClr val="1F3864"/>
                </a:solidFill>
                <a:latin typeface="Arial" pitchFamily="34" charset="0"/>
                <a:ea typeface="Arial" pitchFamily="34" charset="-122"/>
                <a:cs typeface="Arial" pitchFamily="34" charset="-120"/>
              </a:rPr>
              <a:t>The problem</a:t>
            </a:r>
            <a:r>
              <a:rPr lang="en-US" sz="2800" b="1" dirty="0">
                <a:solidFill>
                  <a:srgbClr val="1F3864"/>
                </a:solidFill>
                <a:latin typeface="Arial" pitchFamily="34" charset="0"/>
                <a:cs typeface="Arial" pitchFamily="34" charset="-120"/>
              </a:rPr>
              <a:t>: </a:t>
            </a:r>
            <a:r>
              <a:rPr lang="en-NZ" sz="2400" dirty="0">
                <a:solidFill>
                  <a:srgbClr val="1F3864"/>
                </a:solidFill>
                <a:latin typeface="Arial" pitchFamily="34" charset="0"/>
                <a:cs typeface="Arial" pitchFamily="34" charset="-120"/>
              </a:rPr>
              <a:t>Inventory Allocation Misaligned with Demand</a:t>
            </a:r>
            <a:endParaRPr lang="en-US" sz="2800" dirty="0">
              <a:solidFill>
                <a:srgbClr val="1F3864"/>
              </a:solidFill>
              <a:latin typeface="Arial" pitchFamily="34" charset="0"/>
              <a:cs typeface="Arial" pitchFamily="34" charset="-120"/>
            </a:endParaRPr>
          </a:p>
        </p:txBody>
      </p:sp>
      <p:sp>
        <p:nvSpPr>
          <p:cNvPr id="7" name="Text 4"/>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3</a:t>
            </a:r>
            <a:endParaRPr lang="en-US" sz="1000" dirty="0"/>
          </a:p>
        </p:txBody>
      </p:sp>
      <p:sp>
        <p:nvSpPr>
          <p:cNvPr id="8" name="Text 5"/>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pic>
        <p:nvPicPr>
          <p:cNvPr id="9" name="Image 1" descr="img_b.jpg"/>
          <p:cNvPicPr>
            <a:picLocks noChangeAspect="1"/>
          </p:cNvPicPr>
          <p:nvPr/>
        </p:nvPicPr>
        <p:blipFill>
          <a:blip r:embed="rId3"/>
          <a:srcRect l="22338" r="22338"/>
          <a:stretch/>
        </p:blipFill>
        <p:spPr>
          <a:xfrm>
            <a:off x="9098280" y="1325880"/>
            <a:ext cx="2542032" cy="3063240"/>
          </a:xfrm>
          <a:prstGeom prst="rect">
            <a:avLst/>
          </a:prstGeom>
        </p:spPr>
      </p:pic>
      <p:sp>
        <p:nvSpPr>
          <p:cNvPr id="10" name="Shape 6"/>
          <p:cNvSpPr/>
          <p:nvPr/>
        </p:nvSpPr>
        <p:spPr>
          <a:xfrm>
            <a:off x="548640" y="1417320"/>
            <a:ext cx="566928" cy="566928"/>
          </a:xfrm>
          <a:prstGeom prst="ellipse">
            <a:avLst/>
          </a:prstGeom>
          <a:solidFill>
            <a:srgbClr val="2E75B6"/>
          </a:solidFill>
          <a:ln w="12700">
            <a:solidFill>
              <a:srgbClr val="2E75B6"/>
            </a:solidFill>
            <a:prstDash val="solid"/>
          </a:ln>
        </p:spPr>
        <p:txBody>
          <a:bodyPr/>
          <a:lstStyle/>
          <a:p>
            <a:endParaRPr lang="en-NZ"/>
          </a:p>
        </p:txBody>
      </p:sp>
      <p:pic>
        <p:nvPicPr>
          <p:cNvPr id="11" name="Image 2" descr="preencoded.png"/>
          <p:cNvPicPr>
            <a:picLocks noChangeAspect="1"/>
          </p:cNvPicPr>
          <p:nvPr/>
        </p:nvPicPr>
        <p:blipFill>
          <a:blip r:embed="rId4"/>
          <a:stretch>
            <a:fillRect/>
          </a:stretch>
        </p:blipFill>
        <p:spPr>
          <a:xfrm>
            <a:off x="690372" y="1559052"/>
            <a:ext cx="283464" cy="283464"/>
          </a:xfrm>
          <a:prstGeom prst="rect">
            <a:avLst/>
          </a:prstGeom>
        </p:spPr>
      </p:pic>
      <p:sp>
        <p:nvSpPr>
          <p:cNvPr id="12" name="Text 7"/>
          <p:cNvSpPr txBox="1"/>
          <p:nvPr/>
        </p:nvSpPr>
        <p:spPr>
          <a:xfrm>
            <a:off x="1325880" y="1371600"/>
            <a:ext cx="7315200" cy="320040"/>
          </a:xfrm>
          <a:prstGeom prst="rect">
            <a:avLst/>
          </a:prstGeom>
          <a:noFill/>
          <a:ln/>
        </p:spPr>
        <p:txBody>
          <a:bodyPr wrap="square" lIns="0" tIns="0" rIns="0" bIns="0" rtlCol="0" anchor="t"/>
          <a:lstStyle/>
          <a:p>
            <a:pPr marL="0" indent="0">
              <a:buNone/>
            </a:pPr>
            <a:r>
              <a:rPr lang="en-US" sz="1600" b="1" dirty="0">
                <a:solidFill>
                  <a:srgbClr val="1F3864"/>
                </a:solidFill>
                <a:latin typeface="Arial" pitchFamily="34" charset="0"/>
                <a:ea typeface="Arial" pitchFamily="34" charset="-122"/>
                <a:cs typeface="Arial" pitchFamily="34" charset="-120"/>
              </a:rPr>
              <a:t>Problem</a:t>
            </a:r>
            <a:endParaRPr lang="en-US" sz="1600" dirty="0"/>
          </a:p>
        </p:txBody>
      </p:sp>
      <p:sp>
        <p:nvSpPr>
          <p:cNvPr id="13" name="Text 8"/>
          <p:cNvSpPr txBox="1"/>
          <p:nvPr/>
        </p:nvSpPr>
        <p:spPr>
          <a:xfrm>
            <a:off x="1325880" y="1719072"/>
            <a:ext cx="7315200" cy="1054796"/>
          </a:xfrm>
          <a:prstGeom prst="rect">
            <a:avLst/>
          </a:prstGeom>
          <a:noFill/>
          <a:ln/>
        </p:spPr>
        <p:txBody>
          <a:bodyPr wrap="square" lIns="0" tIns="0" rIns="0" bIns="0" rtlCol="0" anchor="t"/>
          <a:lstStyle/>
          <a:p>
            <a:r>
              <a:rPr lang="en-NZ" sz="1300" dirty="0">
                <a:solidFill>
                  <a:srgbClr val="222B3A"/>
                </a:solidFill>
                <a:latin typeface="Arial" pitchFamily="34" charset="0"/>
                <a:cs typeface="Arial" pitchFamily="34" charset="-120"/>
              </a:rPr>
              <a:t>Zava DIY faces challenges in aligning inventory levels with actual demand across its stores. Differences in customer demand, seasonal trends, and sales patterns lead to excess stock and inefficient inventory allocation. Currently, store managers spend considerable time manually analysing inventory and sales data to identify stock imbalances and make informed decisions about stock allocation and replenishment.</a:t>
            </a:r>
          </a:p>
        </p:txBody>
      </p:sp>
      <p:sp>
        <p:nvSpPr>
          <p:cNvPr id="14" name="Shape 9"/>
          <p:cNvSpPr/>
          <p:nvPr/>
        </p:nvSpPr>
        <p:spPr>
          <a:xfrm>
            <a:off x="548640" y="2901884"/>
            <a:ext cx="566928" cy="566928"/>
          </a:xfrm>
          <a:prstGeom prst="ellipse">
            <a:avLst/>
          </a:prstGeom>
          <a:solidFill>
            <a:srgbClr val="2E75B6"/>
          </a:solidFill>
          <a:ln w="12700">
            <a:solidFill>
              <a:srgbClr val="2E75B6"/>
            </a:solidFill>
            <a:prstDash val="solid"/>
          </a:ln>
        </p:spPr>
        <p:txBody>
          <a:bodyPr/>
          <a:lstStyle/>
          <a:p>
            <a:endParaRPr lang="en-NZ"/>
          </a:p>
        </p:txBody>
      </p:sp>
      <p:pic>
        <p:nvPicPr>
          <p:cNvPr id="15" name="Image 3" descr="preencoded.png"/>
          <p:cNvPicPr>
            <a:picLocks noChangeAspect="1"/>
          </p:cNvPicPr>
          <p:nvPr/>
        </p:nvPicPr>
        <p:blipFill>
          <a:blip r:embed="rId5"/>
          <a:stretch>
            <a:fillRect/>
          </a:stretch>
        </p:blipFill>
        <p:spPr>
          <a:xfrm>
            <a:off x="690372" y="3079464"/>
            <a:ext cx="283464" cy="283464"/>
          </a:xfrm>
          <a:prstGeom prst="rect">
            <a:avLst/>
          </a:prstGeom>
        </p:spPr>
      </p:pic>
      <p:sp>
        <p:nvSpPr>
          <p:cNvPr id="16" name="Text 10"/>
          <p:cNvSpPr txBox="1"/>
          <p:nvPr/>
        </p:nvSpPr>
        <p:spPr>
          <a:xfrm>
            <a:off x="1325880" y="2856165"/>
            <a:ext cx="7315200" cy="320040"/>
          </a:xfrm>
          <a:prstGeom prst="rect">
            <a:avLst/>
          </a:prstGeom>
          <a:noFill/>
          <a:ln/>
        </p:spPr>
        <p:txBody>
          <a:bodyPr wrap="square" lIns="0" tIns="0" rIns="0" bIns="0" rtlCol="0" anchor="t"/>
          <a:lstStyle/>
          <a:p>
            <a:pPr marL="0" indent="0">
              <a:buNone/>
            </a:pPr>
            <a:r>
              <a:rPr lang="en-US" sz="1600" b="1" dirty="0">
                <a:solidFill>
                  <a:srgbClr val="1F3864"/>
                </a:solidFill>
                <a:latin typeface="Arial" pitchFamily="34" charset="0"/>
                <a:ea typeface="Arial" pitchFamily="34" charset="-122"/>
                <a:cs typeface="Arial" pitchFamily="34" charset="-120"/>
              </a:rPr>
              <a:t>Users</a:t>
            </a:r>
            <a:endParaRPr lang="en-US" sz="1600" dirty="0"/>
          </a:p>
        </p:txBody>
      </p:sp>
      <p:sp>
        <p:nvSpPr>
          <p:cNvPr id="17" name="Text 11"/>
          <p:cNvSpPr txBox="1"/>
          <p:nvPr/>
        </p:nvSpPr>
        <p:spPr>
          <a:xfrm>
            <a:off x="1325880" y="3203636"/>
            <a:ext cx="7315200" cy="566928"/>
          </a:xfrm>
          <a:prstGeom prst="rect">
            <a:avLst/>
          </a:prstGeom>
          <a:noFill/>
          <a:ln/>
        </p:spPr>
        <p:txBody>
          <a:bodyPr wrap="square" lIns="0" tIns="0" rIns="0" bIns="0" rtlCol="0" anchor="t"/>
          <a:lstStyle/>
          <a:p>
            <a:pPr marL="0" indent="0">
              <a:buNone/>
            </a:pPr>
            <a:r>
              <a:rPr lang="en-US" sz="1300" dirty="0">
                <a:solidFill>
                  <a:srgbClr val="222B3A"/>
                </a:solidFill>
                <a:latin typeface="Arial" pitchFamily="34" charset="0"/>
                <a:ea typeface="Arial" pitchFamily="34" charset="-122"/>
                <a:cs typeface="Arial" pitchFamily="34" charset="-120"/>
              </a:rPr>
              <a:t>The Super Manager sees all 8 stores; Store Managers see only their own. The agent knows who is asking from the sign-in.</a:t>
            </a:r>
            <a:endParaRPr lang="en-US" sz="1300" dirty="0"/>
          </a:p>
        </p:txBody>
      </p:sp>
      <p:sp>
        <p:nvSpPr>
          <p:cNvPr id="18" name="Shape 12"/>
          <p:cNvSpPr/>
          <p:nvPr/>
        </p:nvSpPr>
        <p:spPr>
          <a:xfrm>
            <a:off x="548640" y="3911304"/>
            <a:ext cx="566928" cy="566928"/>
          </a:xfrm>
          <a:prstGeom prst="ellipse">
            <a:avLst/>
          </a:prstGeom>
          <a:solidFill>
            <a:srgbClr val="2E75B6"/>
          </a:solidFill>
          <a:ln w="12700">
            <a:solidFill>
              <a:srgbClr val="2E75B6"/>
            </a:solidFill>
            <a:prstDash val="solid"/>
          </a:ln>
        </p:spPr>
        <p:txBody>
          <a:bodyPr/>
          <a:lstStyle/>
          <a:p>
            <a:endParaRPr lang="en-NZ"/>
          </a:p>
        </p:txBody>
      </p:sp>
      <p:pic>
        <p:nvPicPr>
          <p:cNvPr id="19" name="Image 4" descr="preencoded.png"/>
          <p:cNvPicPr>
            <a:picLocks noChangeAspect="1"/>
          </p:cNvPicPr>
          <p:nvPr/>
        </p:nvPicPr>
        <p:blipFill>
          <a:blip r:embed="rId6"/>
          <a:stretch>
            <a:fillRect/>
          </a:stretch>
        </p:blipFill>
        <p:spPr>
          <a:xfrm>
            <a:off x="690372" y="4053036"/>
            <a:ext cx="283464" cy="283464"/>
          </a:xfrm>
          <a:prstGeom prst="rect">
            <a:avLst/>
          </a:prstGeom>
        </p:spPr>
      </p:pic>
      <p:sp>
        <p:nvSpPr>
          <p:cNvPr id="20" name="Text 13"/>
          <p:cNvSpPr txBox="1"/>
          <p:nvPr/>
        </p:nvSpPr>
        <p:spPr>
          <a:xfrm>
            <a:off x="1325880" y="3865584"/>
            <a:ext cx="7315200" cy="320040"/>
          </a:xfrm>
          <a:prstGeom prst="rect">
            <a:avLst/>
          </a:prstGeom>
          <a:noFill/>
          <a:ln/>
        </p:spPr>
        <p:txBody>
          <a:bodyPr wrap="square" lIns="0" tIns="0" rIns="0" bIns="0" rtlCol="0" anchor="t"/>
          <a:lstStyle/>
          <a:p>
            <a:pPr marL="0" indent="0">
              <a:buNone/>
            </a:pPr>
            <a:r>
              <a:rPr lang="en-US" sz="1600" b="1" dirty="0">
                <a:solidFill>
                  <a:srgbClr val="1F3864"/>
                </a:solidFill>
                <a:latin typeface="Arial" pitchFamily="34" charset="0"/>
                <a:ea typeface="Arial" pitchFamily="34" charset="-122"/>
                <a:cs typeface="Arial" pitchFamily="34" charset="-120"/>
              </a:rPr>
              <a:t>Decision</a:t>
            </a:r>
            <a:endParaRPr lang="en-US" sz="1600" dirty="0"/>
          </a:p>
        </p:txBody>
      </p:sp>
      <p:sp>
        <p:nvSpPr>
          <p:cNvPr id="21" name="Text 14"/>
          <p:cNvSpPr txBox="1"/>
          <p:nvPr/>
        </p:nvSpPr>
        <p:spPr>
          <a:xfrm>
            <a:off x="1325880" y="4213056"/>
            <a:ext cx="7315200" cy="731520"/>
          </a:xfrm>
          <a:prstGeom prst="rect">
            <a:avLst/>
          </a:prstGeom>
          <a:noFill/>
          <a:ln/>
        </p:spPr>
        <p:txBody>
          <a:bodyPr wrap="square" lIns="0" tIns="0" rIns="0" bIns="0" rtlCol="0" anchor="t"/>
          <a:lstStyle/>
          <a:p>
            <a:pPr marL="0" indent="0">
              <a:buNone/>
            </a:pPr>
            <a:r>
              <a:rPr lang="en-US" sz="1300" dirty="0">
                <a:solidFill>
                  <a:srgbClr val="222B3A"/>
                </a:solidFill>
                <a:latin typeface="Arial" pitchFamily="34" charset="0"/>
                <a:ea typeface="Arial" pitchFamily="34" charset="-122"/>
                <a:cs typeface="Arial" pitchFamily="34" charset="-120"/>
              </a:rPr>
              <a:t>Daily/weekly/on-need basis: Agent can help managers with right stock level recommendations across the stores on daily, weekly, need basis or with real-time numbers.</a:t>
            </a:r>
            <a:endParaRPr lang="en-US" sz="1300" dirty="0"/>
          </a:p>
        </p:txBody>
      </p:sp>
      <p:sp>
        <p:nvSpPr>
          <p:cNvPr id="22" name="Shape 15"/>
          <p:cNvSpPr/>
          <p:nvPr/>
        </p:nvSpPr>
        <p:spPr>
          <a:xfrm>
            <a:off x="548640" y="4929690"/>
            <a:ext cx="566928" cy="566928"/>
          </a:xfrm>
          <a:prstGeom prst="ellipse">
            <a:avLst/>
          </a:prstGeom>
          <a:solidFill>
            <a:srgbClr val="C55A11"/>
          </a:solidFill>
          <a:ln w="12700">
            <a:solidFill>
              <a:srgbClr val="C55A11"/>
            </a:solidFill>
            <a:prstDash val="solid"/>
          </a:ln>
        </p:spPr>
        <p:txBody>
          <a:bodyPr/>
          <a:lstStyle/>
          <a:p>
            <a:endParaRPr lang="en-NZ"/>
          </a:p>
        </p:txBody>
      </p:sp>
      <p:pic>
        <p:nvPicPr>
          <p:cNvPr id="23" name="Image 5" descr="preencoded.png"/>
          <p:cNvPicPr>
            <a:picLocks noChangeAspect="1"/>
          </p:cNvPicPr>
          <p:nvPr/>
        </p:nvPicPr>
        <p:blipFill>
          <a:blip r:embed="rId7"/>
          <a:stretch>
            <a:fillRect/>
          </a:stretch>
        </p:blipFill>
        <p:spPr>
          <a:xfrm>
            <a:off x="690372" y="5071422"/>
            <a:ext cx="283464" cy="283464"/>
          </a:xfrm>
          <a:prstGeom prst="rect">
            <a:avLst/>
          </a:prstGeom>
        </p:spPr>
      </p:pic>
      <p:sp>
        <p:nvSpPr>
          <p:cNvPr id="24" name="Text 16"/>
          <p:cNvSpPr txBox="1"/>
          <p:nvPr/>
        </p:nvSpPr>
        <p:spPr>
          <a:xfrm>
            <a:off x="1325880" y="4883970"/>
            <a:ext cx="7315200" cy="320040"/>
          </a:xfrm>
          <a:prstGeom prst="rect">
            <a:avLst/>
          </a:prstGeom>
          <a:noFill/>
          <a:ln/>
        </p:spPr>
        <p:txBody>
          <a:bodyPr wrap="square" lIns="0" tIns="0" rIns="0" bIns="0" rtlCol="0" anchor="t"/>
          <a:lstStyle/>
          <a:p>
            <a:pPr marL="0" indent="0">
              <a:buNone/>
            </a:pPr>
            <a:r>
              <a:rPr lang="en-US" sz="1600" b="1" dirty="0">
                <a:solidFill>
                  <a:srgbClr val="1F3864"/>
                </a:solidFill>
                <a:latin typeface="Arial" pitchFamily="34" charset="0"/>
                <a:ea typeface="Arial" pitchFamily="34" charset="-122"/>
                <a:cs typeface="Arial" pitchFamily="34" charset="-120"/>
              </a:rPr>
              <a:t>Consequence</a:t>
            </a:r>
            <a:endParaRPr lang="en-US" sz="1600" dirty="0"/>
          </a:p>
        </p:txBody>
      </p:sp>
      <p:sp>
        <p:nvSpPr>
          <p:cNvPr id="25" name="Text 17"/>
          <p:cNvSpPr txBox="1"/>
          <p:nvPr/>
        </p:nvSpPr>
        <p:spPr>
          <a:xfrm>
            <a:off x="1325880" y="5231442"/>
            <a:ext cx="7315200" cy="731520"/>
          </a:xfrm>
          <a:prstGeom prst="rect">
            <a:avLst/>
          </a:prstGeom>
          <a:noFill/>
          <a:ln/>
        </p:spPr>
        <p:txBody>
          <a:bodyPr wrap="square" lIns="0" tIns="0" rIns="0" bIns="0" rtlCol="0" anchor="t"/>
          <a:lstStyle/>
          <a:p>
            <a:pPr marL="0" indent="0">
              <a:buNone/>
            </a:pPr>
            <a:r>
              <a:rPr lang="en-US" sz="1300" dirty="0">
                <a:solidFill>
                  <a:srgbClr val="222B3A"/>
                </a:solidFill>
                <a:latin typeface="Arial" pitchFamily="34" charset="0"/>
                <a:ea typeface="Arial" pitchFamily="34" charset="-122"/>
                <a:cs typeface="Arial" pitchFamily="34" charset="-120"/>
              </a:rPr>
              <a:t>Lost sales, higher holding and transport costs, and unsold seasonal stock, which hit profit, cash flow and customer satisfaction.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706C8-DC1F-8CF8-3207-4CFDABC55E8B}"/>
            </a:ext>
          </a:extLst>
        </p:cNvPr>
        <p:cNvGrpSpPr/>
        <p:nvPr/>
      </p:nvGrpSpPr>
      <p:grpSpPr>
        <a:xfrm>
          <a:off x="0" y="0"/>
          <a:ext cx="0" cy="0"/>
          <a:chOff x="0" y="0"/>
          <a:chExt cx="0" cy="0"/>
        </a:xfrm>
      </p:grpSpPr>
      <p:sp>
        <p:nvSpPr>
          <p:cNvPr id="8" name="Text 5">
            <a:extLst>
              <a:ext uri="{FF2B5EF4-FFF2-40B4-BE49-F238E27FC236}">
                <a16:creationId xmlns:a16="http://schemas.microsoft.com/office/drawing/2014/main" id="{972A6D34-D0F9-8D6B-1855-10A08442E582}"/>
              </a:ext>
            </a:extLst>
          </p:cNvPr>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4</a:t>
            </a:r>
            <a:endParaRPr lang="en-US" sz="1000" dirty="0"/>
          </a:p>
        </p:txBody>
      </p:sp>
      <p:sp>
        <p:nvSpPr>
          <p:cNvPr id="9" name="Text 6">
            <a:extLst>
              <a:ext uri="{FF2B5EF4-FFF2-40B4-BE49-F238E27FC236}">
                <a16:creationId xmlns:a16="http://schemas.microsoft.com/office/drawing/2014/main" id="{E03160FA-142C-D9CD-3D3E-64A892D7EBC3}"/>
              </a:ext>
            </a:extLst>
          </p:cNvPr>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1" name="Text 8">
            <a:extLst>
              <a:ext uri="{FF2B5EF4-FFF2-40B4-BE49-F238E27FC236}">
                <a16:creationId xmlns:a16="http://schemas.microsoft.com/office/drawing/2014/main" id="{BA049261-D42E-0E40-0368-3E00A0DB8DA2}"/>
              </a:ext>
            </a:extLst>
          </p:cNvPr>
          <p:cNvSpPr txBox="1"/>
          <p:nvPr/>
        </p:nvSpPr>
        <p:spPr>
          <a:xfrm>
            <a:off x="9098280" y="1664208"/>
            <a:ext cx="2542032" cy="777240"/>
          </a:xfrm>
          <a:prstGeom prst="rect">
            <a:avLst/>
          </a:prstGeom>
          <a:noFill/>
          <a:ln/>
        </p:spPr>
        <p:txBody>
          <a:bodyPr wrap="square" lIns="0" tIns="0" rIns="0" bIns="0" rtlCol="0" anchor="t"/>
          <a:lstStyle/>
          <a:p>
            <a:pPr marL="0" indent="0" algn="ctr">
              <a:buNone/>
            </a:pPr>
            <a:r>
              <a:rPr lang="en-US" sz="4800" b="1" dirty="0">
                <a:solidFill>
                  <a:srgbClr val="FFFFFF"/>
                </a:solidFill>
                <a:latin typeface="Arial" pitchFamily="34" charset="0"/>
                <a:ea typeface="Arial" pitchFamily="34" charset="-122"/>
                <a:cs typeface="Arial" pitchFamily="34" charset="-120"/>
              </a:rPr>
              <a:t>97.3%</a:t>
            </a:r>
            <a:endParaRPr lang="en-US" sz="6000" dirty="0"/>
          </a:p>
        </p:txBody>
      </p:sp>
      <p:sp>
        <p:nvSpPr>
          <p:cNvPr id="21" name="Shape 18">
            <a:extLst>
              <a:ext uri="{FF2B5EF4-FFF2-40B4-BE49-F238E27FC236}">
                <a16:creationId xmlns:a16="http://schemas.microsoft.com/office/drawing/2014/main" id="{93C9F00B-79A0-25B3-4485-74803E78A329}"/>
              </a:ext>
            </a:extLst>
          </p:cNvPr>
          <p:cNvSpPr/>
          <p:nvPr/>
        </p:nvSpPr>
        <p:spPr>
          <a:xfrm>
            <a:off x="548640" y="2322576"/>
            <a:ext cx="8183879" cy="676656"/>
          </a:xfrm>
          <a:prstGeom prst="roundRect">
            <a:avLst>
              <a:gd name="adj" fmla="val 16216"/>
            </a:avLst>
          </a:prstGeom>
          <a:solidFill>
            <a:srgbClr val="FFFFFF"/>
          </a:solidFill>
          <a:ln w="12700">
            <a:solidFill>
              <a:srgbClr val="FFFFFF"/>
            </a:solidFill>
            <a:prstDash val="solid"/>
          </a:ln>
        </p:spPr>
        <p:txBody>
          <a:bodyPr/>
          <a:lstStyle/>
          <a:p>
            <a:endParaRPr lang="en-NZ"/>
          </a:p>
        </p:txBody>
      </p:sp>
      <p:sp>
        <p:nvSpPr>
          <p:cNvPr id="31" name="Shape 28">
            <a:extLst>
              <a:ext uri="{FF2B5EF4-FFF2-40B4-BE49-F238E27FC236}">
                <a16:creationId xmlns:a16="http://schemas.microsoft.com/office/drawing/2014/main" id="{0FA58822-601D-A64B-8314-6B20D04E40F4}"/>
              </a:ext>
            </a:extLst>
          </p:cNvPr>
          <p:cNvSpPr/>
          <p:nvPr/>
        </p:nvSpPr>
        <p:spPr>
          <a:xfrm>
            <a:off x="548639" y="3877056"/>
            <a:ext cx="8183879" cy="676656"/>
          </a:xfrm>
          <a:prstGeom prst="roundRect">
            <a:avLst>
              <a:gd name="adj" fmla="val 16216"/>
            </a:avLst>
          </a:prstGeom>
          <a:solidFill>
            <a:srgbClr val="FFFFFF"/>
          </a:solidFill>
          <a:ln w="12700">
            <a:solidFill>
              <a:srgbClr val="FFFFFF"/>
            </a:solidFill>
            <a:prstDash val="solid"/>
          </a:ln>
        </p:spPr>
        <p:txBody>
          <a:bodyPr/>
          <a:lstStyle/>
          <a:p>
            <a:endParaRPr lang="en-NZ"/>
          </a:p>
        </p:txBody>
      </p:sp>
      <p:pic>
        <p:nvPicPr>
          <p:cNvPr id="13" name="Picture 12">
            <a:extLst>
              <a:ext uri="{FF2B5EF4-FFF2-40B4-BE49-F238E27FC236}">
                <a16:creationId xmlns:a16="http://schemas.microsoft.com/office/drawing/2014/main" id="{407142F0-E134-09DC-AE5C-00CEF5F305B5}"/>
              </a:ext>
            </a:extLst>
          </p:cNvPr>
          <p:cNvPicPr>
            <a:picLocks noChangeAspect="1"/>
          </p:cNvPicPr>
          <p:nvPr/>
        </p:nvPicPr>
        <p:blipFill>
          <a:blip r:embed="rId3"/>
          <a:stretch>
            <a:fillRect/>
          </a:stretch>
        </p:blipFill>
        <p:spPr>
          <a:xfrm>
            <a:off x="548639" y="215369"/>
            <a:ext cx="10535830" cy="5772737"/>
          </a:xfrm>
          <a:prstGeom prst="rect">
            <a:avLst/>
          </a:prstGeom>
        </p:spPr>
      </p:pic>
      <p:sp>
        <p:nvSpPr>
          <p:cNvPr id="15" name="Shape 2">
            <a:extLst>
              <a:ext uri="{FF2B5EF4-FFF2-40B4-BE49-F238E27FC236}">
                <a16:creationId xmlns:a16="http://schemas.microsoft.com/office/drawing/2014/main" id="{A109CA38-4FDA-221E-118E-C39C2030E740}"/>
              </a:ext>
            </a:extLst>
          </p:cNvPr>
          <p:cNvSpPr/>
          <p:nvPr/>
        </p:nvSpPr>
        <p:spPr>
          <a:xfrm>
            <a:off x="9035972" y="147600"/>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17" name="Shape 3">
            <a:extLst>
              <a:ext uri="{FF2B5EF4-FFF2-40B4-BE49-F238E27FC236}">
                <a16:creationId xmlns:a16="http://schemas.microsoft.com/office/drawing/2014/main" id="{A50750FA-7862-5C3E-AE92-3F79D9150B7C}"/>
              </a:ext>
            </a:extLst>
          </p:cNvPr>
          <p:cNvSpPr/>
          <p:nvPr/>
        </p:nvSpPr>
        <p:spPr>
          <a:xfrm>
            <a:off x="9090836" y="184176"/>
            <a:ext cx="457200" cy="457200"/>
          </a:xfrm>
          <a:prstGeom prst="ellipse">
            <a:avLst/>
          </a:prstGeom>
          <a:solidFill>
            <a:srgbClr val="1F3864"/>
          </a:solidFill>
          <a:ln w="12700">
            <a:solidFill>
              <a:srgbClr val="1F3864"/>
            </a:solidFill>
            <a:prstDash val="solid"/>
          </a:ln>
        </p:spPr>
        <p:txBody>
          <a:bodyPr/>
          <a:lstStyle/>
          <a:p>
            <a:endParaRPr lang="en-NZ"/>
          </a:p>
        </p:txBody>
      </p:sp>
      <p:pic>
        <p:nvPicPr>
          <p:cNvPr id="19" name="Image 0" descr="preencoded.png">
            <a:extLst>
              <a:ext uri="{FF2B5EF4-FFF2-40B4-BE49-F238E27FC236}">
                <a16:creationId xmlns:a16="http://schemas.microsoft.com/office/drawing/2014/main" id="{6F607EE0-2613-4406-4E59-3487DCDA6C40}"/>
              </a:ext>
            </a:extLst>
          </p:cNvPr>
          <p:cNvPicPr>
            <a:picLocks noChangeAspect="1"/>
          </p:cNvPicPr>
          <p:nvPr/>
        </p:nvPicPr>
        <p:blipFill>
          <a:blip r:embed="rId4"/>
          <a:stretch>
            <a:fillRect/>
          </a:stretch>
        </p:blipFill>
        <p:spPr>
          <a:xfrm>
            <a:off x="9205136" y="298476"/>
            <a:ext cx="228600" cy="228600"/>
          </a:xfrm>
          <a:prstGeom prst="rect">
            <a:avLst/>
          </a:prstGeom>
        </p:spPr>
      </p:pic>
      <p:sp>
        <p:nvSpPr>
          <p:cNvPr id="22" name="Text 4">
            <a:extLst>
              <a:ext uri="{FF2B5EF4-FFF2-40B4-BE49-F238E27FC236}">
                <a16:creationId xmlns:a16="http://schemas.microsoft.com/office/drawing/2014/main" id="{F8A67EE0-46A5-2101-CB97-9791F89DB664}"/>
              </a:ext>
            </a:extLst>
          </p:cNvPr>
          <p:cNvSpPr txBox="1"/>
          <p:nvPr/>
        </p:nvSpPr>
        <p:spPr>
          <a:xfrm>
            <a:off x="9630332" y="184176"/>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Sateesh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Project Lead</a:t>
            </a:r>
            <a:endParaRPr lang="en-US" sz="1200" dirty="0"/>
          </a:p>
        </p:txBody>
      </p:sp>
    </p:spTree>
    <p:extLst>
      <p:ext uri="{BB962C8B-B14F-4D97-AF65-F5344CB8AC3E}">
        <p14:creationId xmlns:p14="http://schemas.microsoft.com/office/powerpoint/2010/main" val="2107478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Delivery timeline</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Weeks 6 to 8 were planned milestones; weeks 10 to 13 record what was delivered</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Sateesh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Project Lead</a:t>
            </a:r>
            <a:endParaRPr lang="en-US" sz="1200" dirty="0"/>
          </a:p>
        </p:txBody>
      </p:sp>
      <p:sp>
        <p:nvSpPr>
          <p:cNvPr id="8" name="Text 5"/>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13</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0" name="Shape 7"/>
          <p:cNvSpPr/>
          <p:nvPr/>
        </p:nvSpPr>
        <p:spPr>
          <a:xfrm>
            <a:off x="1371600" y="2880360"/>
            <a:ext cx="9436608" cy="0"/>
          </a:xfrm>
          <a:prstGeom prst="line">
            <a:avLst/>
          </a:prstGeom>
          <a:noFill/>
          <a:ln w="38100">
            <a:solidFill>
              <a:srgbClr val="B4C7E7"/>
            </a:solidFill>
            <a:prstDash val="solid"/>
          </a:ln>
        </p:spPr>
        <p:txBody>
          <a:bodyPr/>
          <a:lstStyle/>
          <a:p>
            <a:endParaRPr lang="en-NZ"/>
          </a:p>
        </p:txBody>
      </p:sp>
      <p:sp>
        <p:nvSpPr>
          <p:cNvPr id="11" name="Shape 8"/>
          <p:cNvSpPr/>
          <p:nvPr/>
        </p:nvSpPr>
        <p:spPr>
          <a:xfrm>
            <a:off x="1170432" y="2679191"/>
            <a:ext cx="402336" cy="402336"/>
          </a:xfrm>
          <a:prstGeom prst="ellipse">
            <a:avLst/>
          </a:prstGeom>
          <a:solidFill>
            <a:srgbClr val="1F3864"/>
          </a:solidFill>
          <a:ln w="25400">
            <a:solidFill>
              <a:srgbClr val="FFFFFF"/>
            </a:solidFill>
            <a:prstDash val="solid"/>
          </a:ln>
        </p:spPr>
        <p:txBody>
          <a:bodyPr/>
          <a:lstStyle/>
          <a:p>
            <a:endParaRPr lang="en-NZ"/>
          </a:p>
        </p:txBody>
      </p:sp>
      <p:sp>
        <p:nvSpPr>
          <p:cNvPr id="12" name="Shape 9"/>
          <p:cNvSpPr/>
          <p:nvPr/>
        </p:nvSpPr>
        <p:spPr>
          <a:xfrm>
            <a:off x="594360" y="132588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3" name="Text 10"/>
          <p:cNvSpPr txBox="1"/>
          <p:nvPr/>
        </p:nvSpPr>
        <p:spPr>
          <a:xfrm>
            <a:off x="685800" y="1380744"/>
            <a:ext cx="1371600" cy="256032"/>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Wk 6</a:t>
            </a:r>
            <a:endParaRPr lang="en-US" sz="1400" dirty="0"/>
          </a:p>
        </p:txBody>
      </p:sp>
      <p:sp>
        <p:nvSpPr>
          <p:cNvPr id="14" name="Text 11"/>
          <p:cNvSpPr txBox="1"/>
          <p:nvPr/>
        </p:nvSpPr>
        <p:spPr>
          <a:xfrm>
            <a:off x="685800" y="162763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20/09</a:t>
            </a:r>
            <a:endParaRPr lang="en-US" sz="1000" dirty="0"/>
          </a:p>
        </p:txBody>
      </p:sp>
      <p:sp>
        <p:nvSpPr>
          <p:cNvPr id="15" name="Text 12"/>
          <p:cNvSpPr txBox="1"/>
          <p:nvPr/>
        </p:nvSpPr>
        <p:spPr>
          <a:xfrm>
            <a:off x="685800" y="183794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Use case and project plan</a:t>
            </a:r>
            <a:endParaRPr lang="en-US" sz="1050" dirty="0"/>
          </a:p>
        </p:txBody>
      </p:sp>
      <p:sp>
        <p:nvSpPr>
          <p:cNvPr id="16" name="Shape 13"/>
          <p:cNvSpPr/>
          <p:nvPr/>
        </p:nvSpPr>
        <p:spPr>
          <a:xfrm>
            <a:off x="1371600" y="2514600"/>
            <a:ext cx="0" cy="164591"/>
          </a:xfrm>
          <a:prstGeom prst="line">
            <a:avLst/>
          </a:prstGeom>
          <a:noFill/>
          <a:ln w="15875">
            <a:solidFill>
              <a:srgbClr val="B4C7E7"/>
            </a:solidFill>
            <a:prstDash val="solid"/>
          </a:ln>
        </p:spPr>
        <p:txBody>
          <a:bodyPr/>
          <a:lstStyle/>
          <a:p>
            <a:endParaRPr lang="en-NZ"/>
          </a:p>
        </p:txBody>
      </p:sp>
      <p:sp>
        <p:nvSpPr>
          <p:cNvPr id="17" name="Shape 14"/>
          <p:cNvSpPr/>
          <p:nvPr/>
        </p:nvSpPr>
        <p:spPr>
          <a:xfrm>
            <a:off x="2743200" y="2679191"/>
            <a:ext cx="402336" cy="402336"/>
          </a:xfrm>
          <a:prstGeom prst="ellipse">
            <a:avLst/>
          </a:prstGeom>
          <a:solidFill>
            <a:srgbClr val="1F3864"/>
          </a:solidFill>
          <a:ln w="25400">
            <a:solidFill>
              <a:srgbClr val="FFFFFF"/>
            </a:solidFill>
            <a:prstDash val="solid"/>
          </a:ln>
        </p:spPr>
        <p:txBody>
          <a:bodyPr/>
          <a:lstStyle/>
          <a:p>
            <a:endParaRPr lang="en-NZ"/>
          </a:p>
        </p:txBody>
      </p:sp>
      <p:sp>
        <p:nvSpPr>
          <p:cNvPr id="18" name="Shape 15"/>
          <p:cNvSpPr/>
          <p:nvPr/>
        </p:nvSpPr>
        <p:spPr>
          <a:xfrm>
            <a:off x="2167128" y="324612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9" name="Text 16"/>
          <p:cNvSpPr txBox="1"/>
          <p:nvPr/>
        </p:nvSpPr>
        <p:spPr>
          <a:xfrm>
            <a:off x="2258568" y="3300984"/>
            <a:ext cx="1371600" cy="256032"/>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Wk 7</a:t>
            </a:r>
            <a:endParaRPr lang="en-US" sz="1400" dirty="0"/>
          </a:p>
        </p:txBody>
      </p:sp>
      <p:sp>
        <p:nvSpPr>
          <p:cNvPr id="20" name="Text 17"/>
          <p:cNvSpPr txBox="1"/>
          <p:nvPr/>
        </p:nvSpPr>
        <p:spPr>
          <a:xfrm>
            <a:off x="2258568" y="354787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27/09</a:t>
            </a:r>
            <a:endParaRPr lang="en-US" sz="1000" dirty="0"/>
          </a:p>
        </p:txBody>
      </p:sp>
      <p:sp>
        <p:nvSpPr>
          <p:cNvPr id="21" name="Text 18"/>
          <p:cNvSpPr txBox="1"/>
          <p:nvPr/>
        </p:nvSpPr>
        <p:spPr>
          <a:xfrm>
            <a:off x="2258568" y="375818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Data exploration; scope; success criteria</a:t>
            </a:r>
            <a:endParaRPr lang="en-US" sz="1050" dirty="0"/>
          </a:p>
        </p:txBody>
      </p:sp>
      <p:sp>
        <p:nvSpPr>
          <p:cNvPr id="22" name="Shape 19"/>
          <p:cNvSpPr/>
          <p:nvPr/>
        </p:nvSpPr>
        <p:spPr>
          <a:xfrm>
            <a:off x="2944368" y="3081528"/>
            <a:ext cx="0" cy="164591"/>
          </a:xfrm>
          <a:prstGeom prst="line">
            <a:avLst/>
          </a:prstGeom>
          <a:noFill/>
          <a:ln w="15875">
            <a:solidFill>
              <a:srgbClr val="B4C7E7"/>
            </a:solidFill>
            <a:prstDash val="solid"/>
          </a:ln>
        </p:spPr>
        <p:txBody>
          <a:bodyPr/>
          <a:lstStyle/>
          <a:p>
            <a:endParaRPr lang="en-NZ"/>
          </a:p>
        </p:txBody>
      </p:sp>
      <p:sp>
        <p:nvSpPr>
          <p:cNvPr id="23" name="Shape 20"/>
          <p:cNvSpPr/>
          <p:nvPr/>
        </p:nvSpPr>
        <p:spPr>
          <a:xfrm>
            <a:off x="4315968" y="2679191"/>
            <a:ext cx="402336" cy="402336"/>
          </a:xfrm>
          <a:prstGeom prst="ellipse">
            <a:avLst/>
          </a:prstGeom>
          <a:solidFill>
            <a:srgbClr val="1F3864"/>
          </a:solidFill>
          <a:ln w="25400">
            <a:solidFill>
              <a:srgbClr val="FFFFFF"/>
            </a:solidFill>
            <a:prstDash val="solid"/>
          </a:ln>
        </p:spPr>
        <p:txBody>
          <a:bodyPr/>
          <a:lstStyle/>
          <a:p>
            <a:endParaRPr lang="en-NZ"/>
          </a:p>
        </p:txBody>
      </p:sp>
      <p:sp>
        <p:nvSpPr>
          <p:cNvPr id="24" name="Shape 21"/>
          <p:cNvSpPr/>
          <p:nvPr/>
        </p:nvSpPr>
        <p:spPr>
          <a:xfrm>
            <a:off x="3739896" y="132588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5" name="Text 22"/>
          <p:cNvSpPr txBox="1"/>
          <p:nvPr/>
        </p:nvSpPr>
        <p:spPr>
          <a:xfrm>
            <a:off x="3831336" y="1380744"/>
            <a:ext cx="1371600" cy="256032"/>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Wk 8</a:t>
            </a:r>
            <a:endParaRPr lang="en-US" sz="1400" dirty="0"/>
          </a:p>
        </p:txBody>
      </p:sp>
      <p:sp>
        <p:nvSpPr>
          <p:cNvPr id="26" name="Text 23"/>
          <p:cNvSpPr txBox="1"/>
          <p:nvPr/>
        </p:nvSpPr>
        <p:spPr>
          <a:xfrm>
            <a:off x="3831336" y="162763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30/09</a:t>
            </a:r>
            <a:endParaRPr lang="en-US" sz="1000" dirty="0"/>
          </a:p>
        </p:txBody>
      </p:sp>
      <p:sp>
        <p:nvSpPr>
          <p:cNvPr id="27" name="Text 24"/>
          <p:cNvSpPr txBox="1"/>
          <p:nvPr/>
        </p:nvSpPr>
        <p:spPr>
          <a:xfrm>
            <a:off x="3831336" y="183794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Architecture and AI governance practices</a:t>
            </a:r>
            <a:endParaRPr lang="en-US" sz="1050" dirty="0"/>
          </a:p>
        </p:txBody>
      </p:sp>
      <p:sp>
        <p:nvSpPr>
          <p:cNvPr id="28" name="Shape 25"/>
          <p:cNvSpPr/>
          <p:nvPr/>
        </p:nvSpPr>
        <p:spPr>
          <a:xfrm>
            <a:off x="4517136" y="2514600"/>
            <a:ext cx="0" cy="164591"/>
          </a:xfrm>
          <a:prstGeom prst="line">
            <a:avLst/>
          </a:prstGeom>
          <a:noFill/>
          <a:ln w="15875">
            <a:solidFill>
              <a:srgbClr val="B4C7E7"/>
            </a:solidFill>
            <a:prstDash val="solid"/>
          </a:ln>
        </p:spPr>
        <p:txBody>
          <a:bodyPr/>
          <a:lstStyle/>
          <a:p>
            <a:endParaRPr lang="en-NZ"/>
          </a:p>
        </p:txBody>
      </p:sp>
      <p:sp>
        <p:nvSpPr>
          <p:cNvPr id="29" name="Shape 26"/>
          <p:cNvSpPr/>
          <p:nvPr/>
        </p:nvSpPr>
        <p:spPr>
          <a:xfrm>
            <a:off x="5888736" y="2679191"/>
            <a:ext cx="402336" cy="402336"/>
          </a:xfrm>
          <a:prstGeom prst="ellipse">
            <a:avLst/>
          </a:prstGeom>
          <a:solidFill>
            <a:srgbClr val="1F3864"/>
          </a:solidFill>
          <a:ln w="25400">
            <a:solidFill>
              <a:srgbClr val="FFFFFF"/>
            </a:solidFill>
            <a:prstDash val="solid"/>
          </a:ln>
        </p:spPr>
        <p:txBody>
          <a:bodyPr/>
          <a:lstStyle/>
          <a:p>
            <a:endParaRPr lang="en-NZ"/>
          </a:p>
        </p:txBody>
      </p:sp>
      <p:sp>
        <p:nvSpPr>
          <p:cNvPr id="30" name="Shape 27"/>
          <p:cNvSpPr/>
          <p:nvPr/>
        </p:nvSpPr>
        <p:spPr>
          <a:xfrm>
            <a:off x="5312664" y="324612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1" name="Text 28"/>
          <p:cNvSpPr txBox="1"/>
          <p:nvPr/>
        </p:nvSpPr>
        <p:spPr>
          <a:xfrm>
            <a:off x="5404104" y="3300984"/>
            <a:ext cx="1371600" cy="256032"/>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Wk 10</a:t>
            </a:r>
            <a:endParaRPr lang="en-US" sz="1400" dirty="0"/>
          </a:p>
        </p:txBody>
      </p:sp>
      <p:sp>
        <p:nvSpPr>
          <p:cNvPr id="32" name="Text 29"/>
          <p:cNvSpPr txBox="1"/>
          <p:nvPr/>
        </p:nvSpPr>
        <p:spPr>
          <a:xfrm>
            <a:off x="5404104" y="354787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13–14/10</a:t>
            </a:r>
            <a:endParaRPr lang="en-US" sz="1000" dirty="0"/>
          </a:p>
        </p:txBody>
      </p:sp>
      <p:sp>
        <p:nvSpPr>
          <p:cNvPr id="33" name="Text 30"/>
          <p:cNvSpPr txBox="1"/>
          <p:nvPr/>
        </p:nvSpPr>
        <p:spPr>
          <a:xfrm>
            <a:off x="5404104" y="375818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Working agent, 20+ tests; per-person identity and RLS</a:t>
            </a:r>
            <a:endParaRPr lang="en-US" sz="1050" dirty="0"/>
          </a:p>
        </p:txBody>
      </p:sp>
      <p:sp>
        <p:nvSpPr>
          <p:cNvPr id="34" name="Shape 31"/>
          <p:cNvSpPr/>
          <p:nvPr/>
        </p:nvSpPr>
        <p:spPr>
          <a:xfrm>
            <a:off x="6089904" y="3081528"/>
            <a:ext cx="0" cy="164591"/>
          </a:xfrm>
          <a:prstGeom prst="line">
            <a:avLst/>
          </a:prstGeom>
          <a:noFill/>
          <a:ln w="15875">
            <a:solidFill>
              <a:srgbClr val="B4C7E7"/>
            </a:solidFill>
            <a:prstDash val="solid"/>
          </a:ln>
        </p:spPr>
        <p:txBody>
          <a:bodyPr/>
          <a:lstStyle/>
          <a:p>
            <a:endParaRPr lang="en-NZ"/>
          </a:p>
        </p:txBody>
      </p:sp>
      <p:sp>
        <p:nvSpPr>
          <p:cNvPr id="35" name="Shape 32"/>
          <p:cNvSpPr/>
          <p:nvPr/>
        </p:nvSpPr>
        <p:spPr>
          <a:xfrm>
            <a:off x="7461504" y="2679191"/>
            <a:ext cx="402336" cy="402336"/>
          </a:xfrm>
          <a:prstGeom prst="ellipse">
            <a:avLst/>
          </a:prstGeom>
          <a:solidFill>
            <a:srgbClr val="1F3864"/>
          </a:solidFill>
          <a:ln w="25400">
            <a:solidFill>
              <a:srgbClr val="FFFFFF"/>
            </a:solidFill>
            <a:prstDash val="solid"/>
          </a:ln>
        </p:spPr>
        <p:txBody>
          <a:bodyPr/>
          <a:lstStyle/>
          <a:p>
            <a:endParaRPr lang="en-NZ"/>
          </a:p>
        </p:txBody>
      </p:sp>
      <p:sp>
        <p:nvSpPr>
          <p:cNvPr id="36" name="Shape 33"/>
          <p:cNvSpPr/>
          <p:nvPr/>
        </p:nvSpPr>
        <p:spPr>
          <a:xfrm>
            <a:off x="6885432" y="132588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7" name="Text 34"/>
          <p:cNvSpPr txBox="1"/>
          <p:nvPr/>
        </p:nvSpPr>
        <p:spPr>
          <a:xfrm>
            <a:off x="6976872" y="1380744"/>
            <a:ext cx="1371600" cy="256032"/>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Wk 11</a:t>
            </a:r>
            <a:endParaRPr lang="en-US" sz="1400" dirty="0"/>
          </a:p>
        </p:txBody>
      </p:sp>
      <p:sp>
        <p:nvSpPr>
          <p:cNvPr id="38" name="Text 35"/>
          <p:cNvSpPr txBox="1"/>
          <p:nvPr/>
        </p:nvSpPr>
        <p:spPr>
          <a:xfrm>
            <a:off x="6976872" y="162763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19–23/10</a:t>
            </a:r>
            <a:endParaRPr lang="en-US" sz="1000" dirty="0"/>
          </a:p>
        </p:txBody>
      </p:sp>
      <p:sp>
        <p:nvSpPr>
          <p:cNvPr id="39" name="Text 36"/>
          <p:cNvSpPr txBox="1"/>
          <p:nvPr/>
        </p:nvSpPr>
        <p:spPr>
          <a:xfrm>
            <a:off x="6976872" y="183794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Charts and exports; grounded lookup; role sign-in; scope gate</a:t>
            </a:r>
            <a:endParaRPr lang="en-US" sz="1050" dirty="0"/>
          </a:p>
        </p:txBody>
      </p:sp>
      <p:sp>
        <p:nvSpPr>
          <p:cNvPr id="40" name="Shape 37"/>
          <p:cNvSpPr/>
          <p:nvPr/>
        </p:nvSpPr>
        <p:spPr>
          <a:xfrm>
            <a:off x="7662672" y="2514600"/>
            <a:ext cx="0" cy="164591"/>
          </a:xfrm>
          <a:prstGeom prst="line">
            <a:avLst/>
          </a:prstGeom>
          <a:noFill/>
          <a:ln w="15875">
            <a:solidFill>
              <a:srgbClr val="B4C7E7"/>
            </a:solidFill>
            <a:prstDash val="solid"/>
          </a:ln>
        </p:spPr>
        <p:txBody>
          <a:bodyPr/>
          <a:lstStyle/>
          <a:p>
            <a:endParaRPr lang="en-NZ"/>
          </a:p>
        </p:txBody>
      </p:sp>
      <p:sp>
        <p:nvSpPr>
          <p:cNvPr id="41" name="Shape 38"/>
          <p:cNvSpPr/>
          <p:nvPr/>
        </p:nvSpPr>
        <p:spPr>
          <a:xfrm>
            <a:off x="9034272" y="2679191"/>
            <a:ext cx="402336" cy="402336"/>
          </a:xfrm>
          <a:prstGeom prst="ellipse">
            <a:avLst/>
          </a:prstGeom>
          <a:solidFill>
            <a:srgbClr val="1F3864"/>
          </a:solidFill>
          <a:ln w="25400">
            <a:solidFill>
              <a:srgbClr val="FFFFFF"/>
            </a:solidFill>
            <a:prstDash val="solid"/>
          </a:ln>
        </p:spPr>
        <p:txBody>
          <a:bodyPr/>
          <a:lstStyle/>
          <a:p>
            <a:endParaRPr lang="en-NZ"/>
          </a:p>
        </p:txBody>
      </p:sp>
      <p:sp>
        <p:nvSpPr>
          <p:cNvPr id="42" name="Shape 39"/>
          <p:cNvSpPr/>
          <p:nvPr/>
        </p:nvSpPr>
        <p:spPr>
          <a:xfrm>
            <a:off x="8458200" y="324612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43" name="Text 40"/>
          <p:cNvSpPr txBox="1"/>
          <p:nvPr/>
        </p:nvSpPr>
        <p:spPr>
          <a:xfrm>
            <a:off x="8549640" y="3300984"/>
            <a:ext cx="1371600" cy="256032"/>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Wk 12</a:t>
            </a:r>
            <a:endParaRPr lang="en-US" sz="1400" dirty="0"/>
          </a:p>
        </p:txBody>
      </p:sp>
      <p:sp>
        <p:nvSpPr>
          <p:cNvPr id="44" name="Text 41"/>
          <p:cNvSpPr txBox="1"/>
          <p:nvPr/>
        </p:nvSpPr>
        <p:spPr>
          <a:xfrm>
            <a:off x="8549640" y="354787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25/10</a:t>
            </a:r>
            <a:endParaRPr lang="en-US" sz="1000" dirty="0"/>
          </a:p>
        </p:txBody>
      </p:sp>
      <p:sp>
        <p:nvSpPr>
          <p:cNvPr id="45" name="Text 42"/>
          <p:cNvSpPr txBox="1"/>
          <p:nvPr/>
        </p:nvSpPr>
        <p:spPr>
          <a:xfrm>
            <a:off x="8549640" y="375818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Prompt review; privacy and read-only guards; 75-case evaluation</a:t>
            </a:r>
            <a:endParaRPr lang="en-US" sz="1050" dirty="0"/>
          </a:p>
        </p:txBody>
      </p:sp>
      <p:sp>
        <p:nvSpPr>
          <p:cNvPr id="46" name="Shape 43"/>
          <p:cNvSpPr/>
          <p:nvPr/>
        </p:nvSpPr>
        <p:spPr>
          <a:xfrm>
            <a:off x="9235440" y="3081528"/>
            <a:ext cx="0" cy="164591"/>
          </a:xfrm>
          <a:prstGeom prst="line">
            <a:avLst/>
          </a:prstGeom>
          <a:noFill/>
          <a:ln w="15875">
            <a:solidFill>
              <a:srgbClr val="B4C7E7"/>
            </a:solidFill>
            <a:prstDash val="solid"/>
          </a:ln>
        </p:spPr>
        <p:txBody>
          <a:bodyPr/>
          <a:lstStyle/>
          <a:p>
            <a:endParaRPr lang="en-NZ"/>
          </a:p>
        </p:txBody>
      </p:sp>
      <p:sp>
        <p:nvSpPr>
          <p:cNvPr id="47" name="Shape 44"/>
          <p:cNvSpPr/>
          <p:nvPr/>
        </p:nvSpPr>
        <p:spPr>
          <a:xfrm>
            <a:off x="10607040" y="2679191"/>
            <a:ext cx="402336" cy="402336"/>
          </a:xfrm>
          <a:prstGeom prst="ellipse">
            <a:avLst/>
          </a:prstGeom>
          <a:solidFill>
            <a:srgbClr val="F2A900"/>
          </a:solidFill>
          <a:ln w="25400">
            <a:solidFill>
              <a:srgbClr val="FFFFFF"/>
            </a:solidFill>
            <a:prstDash val="solid"/>
          </a:ln>
        </p:spPr>
        <p:txBody>
          <a:bodyPr/>
          <a:lstStyle/>
          <a:p>
            <a:endParaRPr lang="en-NZ"/>
          </a:p>
        </p:txBody>
      </p:sp>
      <p:sp>
        <p:nvSpPr>
          <p:cNvPr id="48" name="Shape 45"/>
          <p:cNvSpPr/>
          <p:nvPr/>
        </p:nvSpPr>
        <p:spPr>
          <a:xfrm>
            <a:off x="10030968" y="132588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49" name="Text 46"/>
          <p:cNvSpPr txBox="1"/>
          <p:nvPr/>
        </p:nvSpPr>
        <p:spPr>
          <a:xfrm>
            <a:off x="10145268" y="1380744"/>
            <a:ext cx="1371600" cy="256032"/>
          </a:xfrm>
          <a:prstGeom prst="rect">
            <a:avLst/>
          </a:prstGeom>
          <a:noFill/>
          <a:ln/>
        </p:spPr>
        <p:txBody>
          <a:bodyPr wrap="square" lIns="0" tIns="0" rIns="0" bIns="0" rtlCol="0" anchor="t"/>
          <a:lstStyle/>
          <a:p>
            <a:pPr marL="0" indent="0">
              <a:buNone/>
            </a:pPr>
            <a:r>
              <a:rPr lang="en-US" sz="1400" b="1" dirty="0">
                <a:latin typeface="Arial" pitchFamily="34" charset="0"/>
                <a:ea typeface="Arial" pitchFamily="34" charset="-122"/>
                <a:cs typeface="Arial" pitchFamily="34" charset="-120"/>
              </a:rPr>
              <a:t>Wk 13</a:t>
            </a:r>
            <a:endParaRPr lang="en-US" sz="1400" dirty="0"/>
          </a:p>
        </p:txBody>
      </p:sp>
      <p:sp>
        <p:nvSpPr>
          <p:cNvPr id="50" name="Text 47"/>
          <p:cNvSpPr txBox="1"/>
          <p:nvPr/>
        </p:nvSpPr>
        <p:spPr>
          <a:xfrm>
            <a:off x="10122408" y="162763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25-29/10</a:t>
            </a:r>
            <a:endParaRPr lang="en-US" sz="1000" dirty="0"/>
          </a:p>
        </p:txBody>
      </p:sp>
      <p:sp>
        <p:nvSpPr>
          <p:cNvPr id="51" name="Text 48"/>
          <p:cNvSpPr txBox="1"/>
          <p:nvPr/>
        </p:nvSpPr>
        <p:spPr>
          <a:xfrm>
            <a:off x="10122408" y="183794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Technical report and final presentation</a:t>
            </a:r>
            <a:endParaRPr lang="en-US" sz="1050" dirty="0"/>
          </a:p>
        </p:txBody>
      </p:sp>
      <p:sp>
        <p:nvSpPr>
          <p:cNvPr id="52" name="Shape 49"/>
          <p:cNvSpPr/>
          <p:nvPr/>
        </p:nvSpPr>
        <p:spPr>
          <a:xfrm>
            <a:off x="10808208" y="2514600"/>
            <a:ext cx="0" cy="164591"/>
          </a:xfrm>
          <a:prstGeom prst="line">
            <a:avLst/>
          </a:prstGeom>
          <a:noFill/>
          <a:ln w="15875">
            <a:solidFill>
              <a:srgbClr val="B4C7E7"/>
            </a:solidFill>
            <a:prstDash val="solid"/>
          </a:ln>
        </p:spPr>
        <p:txBody>
          <a:bodyPr/>
          <a:lstStyle/>
          <a:p>
            <a:endParaRPr lang="en-NZ"/>
          </a:p>
        </p:txBody>
      </p:sp>
      <p:sp>
        <p:nvSpPr>
          <p:cNvPr id="53" name="Shape 50"/>
          <p:cNvSpPr/>
          <p:nvPr/>
        </p:nvSpPr>
        <p:spPr>
          <a:xfrm>
            <a:off x="548640" y="4709160"/>
            <a:ext cx="8183879" cy="777240"/>
          </a:xfrm>
          <a:prstGeom prst="roundRect">
            <a:avLst>
              <a:gd name="adj" fmla="val 16000"/>
            </a:avLst>
          </a:prstGeom>
          <a:solidFill>
            <a:srgbClr val="F3F7FC"/>
          </a:solidFill>
          <a:ln w="12700">
            <a:solidFill>
              <a:srgbClr val="F3F7FC"/>
            </a:solidFill>
            <a:prstDash val="solid"/>
          </a:ln>
        </p:spPr>
        <p:txBody>
          <a:bodyPr/>
          <a:lstStyle/>
          <a:p>
            <a:endParaRPr lang="en-NZ"/>
          </a:p>
        </p:txBody>
      </p:sp>
      <p:sp>
        <p:nvSpPr>
          <p:cNvPr id="54" name="Text 51"/>
          <p:cNvSpPr txBox="1"/>
          <p:nvPr/>
        </p:nvSpPr>
        <p:spPr>
          <a:xfrm>
            <a:off x="777240" y="4709160"/>
            <a:ext cx="7772400" cy="77724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Owners: </a:t>
            </a:r>
            <a:r>
              <a:rPr lang="en-US" sz="1200" dirty="0">
                <a:solidFill>
                  <a:srgbClr val="222B3A"/>
                </a:solidFill>
                <a:latin typeface="Arial" pitchFamily="34" charset="0"/>
                <a:ea typeface="Arial" pitchFamily="34" charset="-122"/>
                <a:cs typeface="Arial" pitchFamily="34" charset="-120"/>
              </a:rPr>
              <a:t>plan and success criteria (Sateesh, Ankur) · data (Ruthvik, Sateesh, Ranjith) · architecture (Navneet) · governance (Ankur) · build, evaluation and fixes (Team/Peer Programming), Technical and Final reports (Team)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609600" y="533400"/>
            <a:ext cx="11582400" cy="466725"/>
          </a:xfrm>
          <a:prstGeom prst="rect">
            <a:avLst/>
          </a:prstGeom>
          <a:noFill/>
        </p:spPr>
        <p:txBody>
          <a:bodyPr wrap="none" lIns="0" tIns="0" rIns="0" bIns="0" anchor="t">
            <a:spAutoFit/>
          </a:bodyPr>
          <a:lstStyle/>
          <a:p>
            <a:pPr algn="l"/>
            <a:r>
              <a:rPr sz="3000" b="1" i="0" u="none" dirty="0">
                <a:solidFill>
                  <a:srgbClr val="1E3A8A"/>
                </a:solidFill>
                <a:latin typeface="Inter"/>
              </a:rPr>
              <a:t>Data findings Snapshot</a:t>
            </a:r>
          </a:p>
        </p:txBody>
      </p:sp>
      <p:sp>
        <p:nvSpPr>
          <p:cNvPr id="24" name="TextBox 23"/>
          <p:cNvSpPr txBox="1"/>
          <p:nvPr/>
        </p:nvSpPr>
        <p:spPr>
          <a:xfrm>
            <a:off x="609600" y="6334125"/>
            <a:ext cx="2226468" cy="152400"/>
          </a:xfrm>
          <a:prstGeom prst="rect">
            <a:avLst/>
          </a:prstGeom>
          <a:noFill/>
        </p:spPr>
        <p:txBody>
          <a:bodyPr wrap="none" lIns="0" tIns="0" rIns="0" bIns="0" anchor="t">
            <a:spAutoFit/>
          </a:bodyPr>
          <a:lstStyle/>
          <a:p>
            <a:pPr algn="l"/>
            <a:r>
              <a:rPr sz="975" b="0" i="0" u="none">
                <a:solidFill>
                  <a:srgbClr val="0F172A"/>
                </a:solidFill>
                <a:latin typeface="Inter"/>
              </a:rPr>
              <a:t>Team BlueBird · COMPSCI 714</a:t>
            </a:r>
          </a:p>
        </p:txBody>
      </p:sp>
      <p:sp>
        <p:nvSpPr>
          <p:cNvPr id="25" name="TextBox 24"/>
          <p:cNvSpPr txBox="1"/>
          <p:nvPr/>
        </p:nvSpPr>
        <p:spPr>
          <a:xfrm>
            <a:off x="11506200" y="6334125"/>
            <a:ext cx="361950" cy="152400"/>
          </a:xfrm>
          <a:prstGeom prst="rect">
            <a:avLst/>
          </a:prstGeom>
          <a:noFill/>
        </p:spPr>
        <p:txBody>
          <a:bodyPr wrap="none" lIns="0" tIns="0" rIns="0" bIns="0" anchor="t">
            <a:spAutoFit/>
          </a:bodyPr>
          <a:lstStyle/>
          <a:p>
            <a:pPr algn="l"/>
            <a:r>
              <a:rPr sz="975" b="0" i="0" u="none">
                <a:solidFill>
                  <a:srgbClr val="0F172A"/>
                </a:solidFill>
                <a:latin typeface="Inter"/>
              </a:rPr>
              <a:t>4</a:t>
            </a:r>
          </a:p>
        </p:txBody>
      </p:sp>
      <p:sp>
        <p:nvSpPr>
          <p:cNvPr id="41" name="Shape 2">
            <a:extLst>
              <a:ext uri="{FF2B5EF4-FFF2-40B4-BE49-F238E27FC236}">
                <a16:creationId xmlns:a16="http://schemas.microsoft.com/office/drawing/2014/main" id="{49ECC0B7-CC4E-689A-E93F-FE1FF7EC41FA}"/>
              </a:ext>
            </a:extLst>
          </p:cNvPr>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3" name="Shape 3">
            <a:extLst>
              <a:ext uri="{FF2B5EF4-FFF2-40B4-BE49-F238E27FC236}">
                <a16:creationId xmlns:a16="http://schemas.microsoft.com/office/drawing/2014/main" id="{88D7DC61-D60E-2880-F11D-7268DBB653E7}"/>
              </a:ext>
            </a:extLst>
          </p:cNvPr>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45" name="Image 0" descr="preencoded.png">
            <a:extLst>
              <a:ext uri="{FF2B5EF4-FFF2-40B4-BE49-F238E27FC236}">
                <a16:creationId xmlns:a16="http://schemas.microsoft.com/office/drawing/2014/main" id="{4A74DF0B-88D4-AD03-9AAD-DBA5AC8282DB}"/>
              </a:ext>
            </a:extLst>
          </p:cNvPr>
          <p:cNvPicPr>
            <a:picLocks noChangeAspect="1"/>
          </p:cNvPicPr>
          <p:nvPr/>
        </p:nvPicPr>
        <p:blipFill>
          <a:blip r:embed="rId2"/>
          <a:stretch>
            <a:fillRect/>
          </a:stretch>
        </p:blipFill>
        <p:spPr>
          <a:xfrm>
            <a:off x="9358884" y="589788"/>
            <a:ext cx="228600" cy="228600"/>
          </a:xfrm>
          <a:prstGeom prst="rect">
            <a:avLst/>
          </a:prstGeom>
        </p:spPr>
      </p:pic>
      <p:sp>
        <p:nvSpPr>
          <p:cNvPr id="47" name="Text 4">
            <a:extLst>
              <a:ext uri="{FF2B5EF4-FFF2-40B4-BE49-F238E27FC236}">
                <a16:creationId xmlns:a16="http://schemas.microsoft.com/office/drawing/2014/main" id="{927642C5-EAB5-8D3D-F7E5-821B05B045F8}"/>
              </a:ext>
            </a:extLst>
          </p:cNvPr>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Ruthvik</a:t>
            </a:r>
            <a:endParaRPr lang="en-US" sz="1200" dirty="0"/>
          </a:p>
          <a:p>
            <a:r>
              <a:rPr lang="en-US" sz="950" dirty="0">
                <a:solidFill>
                  <a:srgbClr val="5F6B7A"/>
                </a:solidFill>
                <a:latin typeface="Arial" pitchFamily="34" charset="0"/>
                <a:ea typeface="Arial" pitchFamily="34" charset="-122"/>
                <a:cs typeface="Arial" pitchFamily="34" charset="-120"/>
              </a:rPr>
              <a:t>Data &amp; Problem Analyst</a:t>
            </a:r>
            <a:endParaRPr lang="en-US" sz="1200" dirty="0"/>
          </a:p>
        </p:txBody>
      </p:sp>
      <p:pic>
        <p:nvPicPr>
          <p:cNvPr id="49" name="Picture 48">
            <a:extLst>
              <a:ext uri="{FF2B5EF4-FFF2-40B4-BE49-F238E27FC236}">
                <a16:creationId xmlns:a16="http://schemas.microsoft.com/office/drawing/2014/main" id="{F45976D9-A3CA-483A-2C58-132CC0F4EB7A}"/>
              </a:ext>
            </a:extLst>
          </p:cNvPr>
          <p:cNvPicPr>
            <a:picLocks noChangeAspect="1"/>
          </p:cNvPicPr>
          <p:nvPr/>
        </p:nvPicPr>
        <p:blipFill>
          <a:blip r:embed="rId3"/>
          <a:stretch>
            <a:fillRect/>
          </a:stretch>
        </p:blipFill>
        <p:spPr>
          <a:xfrm>
            <a:off x="399207" y="1041868"/>
            <a:ext cx="10840963" cy="51156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The evidence: the problem exists in the data</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Phase 2 queries on the Zava PostgreSQL dataset, checked against independent SQL</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Ruthvik</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Data &amp; Problem Analyst</a:t>
            </a:r>
            <a:endParaRPr lang="en-US" sz="1200" dirty="0"/>
          </a:p>
        </p:txBody>
      </p:sp>
      <p:sp>
        <p:nvSpPr>
          <p:cNvPr id="8" name="Text 5"/>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5</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0" name="Shape 7"/>
          <p:cNvSpPr/>
          <p:nvPr/>
        </p:nvSpPr>
        <p:spPr>
          <a:xfrm>
            <a:off x="548640" y="1554480"/>
            <a:ext cx="4206240" cy="987552"/>
          </a:xfrm>
          <a:prstGeom prst="roundRect">
            <a:avLst>
              <a:gd name="adj" fmla="val 11111"/>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1" name="Text 8"/>
          <p:cNvSpPr txBox="1"/>
          <p:nvPr/>
        </p:nvSpPr>
        <p:spPr>
          <a:xfrm>
            <a:off x="777240" y="1645920"/>
            <a:ext cx="3749040" cy="502920"/>
          </a:xfrm>
          <a:prstGeom prst="rect">
            <a:avLst/>
          </a:prstGeom>
          <a:noFill/>
          <a:ln/>
        </p:spPr>
        <p:txBody>
          <a:bodyPr wrap="square" lIns="0" tIns="0" rIns="0" bIns="0" rtlCol="0" anchor="t"/>
          <a:lstStyle/>
          <a:p>
            <a:pPr marL="0" indent="0">
              <a:buNone/>
            </a:pPr>
            <a:r>
              <a:rPr lang="en-US" sz="2800" b="1" dirty="0">
                <a:solidFill>
                  <a:srgbClr val="1F3864"/>
                </a:solidFill>
                <a:latin typeface="Arial" pitchFamily="34" charset="0"/>
                <a:ea typeface="Arial" pitchFamily="34" charset="-122"/>
                <a:cs typeface="Arial" pitchFamily="34" charset="-120"/>
              </a:rPr>
              <a:t>3,997,159</a:t>
            </a:r>
            <a:endParaRPr lang="en-US" sz="2800" dirty="0"/>
          </a:p>
        </p:txBody>
      </p:sp>
      <p:sp>
        <p:nvSpPr>
          <p:cNvPr id="12" name="Text 9"/>
          <p:cNvSpPr txBox="1"/>
          <p:nvPr/>
        </p:nvSpPr>
        <p:spPr>
          <a:xfrm>
            <a:off x="777240" y="2148840"/>
            <a:ext cx="3840480" cy="320040"/>
          </a:xfrm>
          <a:prstGeom prst="rect">
            <a:avLst/>
          </a:prstGeom>
          <a:noFill/>
          <a:ln/>
        </p:spPr>
        <p:txBody>
          <a:bodyPr wrap="square" lIns="0" tIns="0" rIns="0" bIns="0" rtlCol="0" anchor="t"/>
          <a:lstStyle/>
          <a:p>
            <a:pPr marL="0" indent="0">
              <a:buNone/>
            </a:pPr>
            <a:r>
              <a:rPr lang="en-US" sz="1200" dirty="0">
                <a:solidFill>
                  <a:srgbClr val="5F6B7A"/>
                </a:solidFill>
                <a:latin typeface="Arial" pitchFamily="34" charset="0"/>
                <a:ea typeface="Arial" pitchFamily="34" charset="-122"/>
                <a:cs typeface="Arial" pitchFamily="34" charset="-120"/>
              </a:rPr>
              <a:t>units in stock</a:t>
            </a:r>
            <a:endParaRPr lang="en-US" sz="1200" dirty="0"/>
          </a:p>
        </p:txBody>
      </p:sp>
      <p:sp>
        <p:nvSpPr>
          <p:cNvPr id="13" name="Shape 10"/>
          <p:cNvSpPr/>
          <p:nvPr/>
        </p:nvSpPr>
        <p:spPr>
          <a:xfrm>
            <a:off x="548640" y="2697480"/>
            <a:ext cx="4206240" cy="987552"/>
          </a:xfrm>
          <a:prstGeom prst="roundRect">
            <a:avLst>
              <a:gd name="adj" fmla="val 11111"/>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4" name="Text 11"/>
          <p:cNvSpPr txBox="1"/>
          <p:nvPr/>
        </p:nvSpPr>
        <p:spPr>
          <a:xfrm>
            <a:off x="777240" y="2788920"/>
            <a:ext cx="3749040" cy="502920"/>
          </a:xfrm>
          <a:prstGeom prst="rect">
            <a:avLst/>
          </a:prstGeom>
          <a:noFill/>
          <a:ln/>
        </p:spPr>
        <p:txBody>
          <a:bodyPr wrap="square" lIns="0" tIns="0" rIns="0" bIns="0" rtlCol="0" anchor="t"/>
          <a:lstStyle/>
          <a:p>
            <a:pPr marL="0" indent="0">
              <a:buNone/>
            </a:pPr>
            <a:r>
              <a:rPr lang="en-US" sz="2800" b="1" dirty="0">
                <a:solidFill>
                  <a:srgbClr val="1F3864"/>
                </a:solidFill>
                <a:latin typeface="Arial" pitchFamily="34" charset="0"/>
                <a:ea typeface="Arial" pitchFamily="34" charset="-122"/>
                <a:cs typeface="Arial" pitchFamily="34" charset="-120"/>
              </a:rPr>
              <a:t>$193.7M</a:t>
            </a:r>
            <a:endParaRPr lang="en-US" sz="2800" dirty="0"/>
          </a:p>
        </p:txBody>
      </p:sp>
      <p:sp>
        <p:nvSpPr>
          <p:cNvPr id="15" name="Text 12"/>
          <p:cNvSpPr txBox="1"/>
          <p:nvPr/>
        </p:nvSpPr>
        <p:spPr>
          <a:xfrm>
            <a:off x="777240" y="3291840"/>
            <a:ext cx="3840480" cy="320040"/>
          </a:xfrm>
          <a:prstGeom prst="rect">
            <a:avLst/>
          </a:prstGeom>
          <a:noFill/>
          <a:ln/>
        </p:spPr>
        <p:txBody>
          <a:bodyPr wrap="square" lIns="0" tIns="0" rIns="0" bIns="0" rtlCol="0" anchor="t"/>
          <a:lstStyle/>
          <a:p>
            <a:pPr marL="0" indent="0">
              <a:buNone/>
            </a:pPr>
            <a:r>
              <a:rPr lang="en-US" sz="1200" dirty="0">
                <a:solidFill>
                  <a:srgbClr val="5F6B7A"/>
                </a:solidFill>
                <a:latin typeface="Arial" pitchFamily="34" charset="0"/>
                <a:ea typeface="Arial" pitchFamily="34" charset="-122"/>
                <a:cs typeface="Arial" pitchFamily="34" charset="-120"/>
              </a:rPr>
              <a:t>stock value at cost</a:t>
            </a:r>
            <a:endParaRPr lang="en-US" sz="1200" dirty="0"/>
          </a:p>
        </p:txBody>
      </p:sp>
      <p:sp>
        <p:nvSpPr>
          <p:cNvPr id="16" name="Shape 13"/>
          <p:cNvSpPr/>
          <p:nvPr/>
        </p:nvSpPr>
        <p:spPr>
          <a:xfrm>
            <a:off x="548640" y="3840480"/>
            <a:ext cx="4206240" cy="987552"/>
          </a:xfrm>
          <a:prstGeom prst="roundRect">
            <a:avLst>
              <a:gd name="adj" fmla="val 11111"/>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7" name="Text 14"/>
          <p:cNvSpPr txBox="1"/>
          <p:nvPr/>
        </p:nvSpPr>
        <p:spPr>
          <a:xfrm>
            <a:off x="777240" y="3931920"/>
            <a:ext cx="3749040" cy="502920"/>
          </a:xfrm>
          <a:prstGeom prst="rect">
            <a:avLst/>
          </a:prstGeom>
          <a:noFill/>
          <a:ln/>
        </p:spPr>
        <p:txBody>
          <a:bodyPr wrap="square" lIns="0" tIns="0" rIns="0" bIns="0" rtlCol="0" anchor="t"/>
          <a:lstStyle/>
          <a:p>
            <a:pPr marL="0" indent="0">
              <a:buNone/>
            </a:pPr>
            <a:r>
              <a:rPr lang="en-US" sz="2800" b="1" dirty="0">
                <a:solidFill>
                  <a:srgbClr val="1F3864"/>
                </a:solidFill>
                <a:latin typeface="Arial" pitchFamily="34" charset="0"/>
                <a:ea typeface="Arial" pitchFamily="34" charset="-122"/>
                <a:cs typeface="Arial" pitchFamily="34" charset="-120"/>
              </a:rPr>
              <a:t>99%</a:t>
            </a:r>
            <a:endParaRPr lang="en-US" sz="2800" dirty="0"/>
          </a:p>
        </p:txBody>
      </p:sp>
      <p:sp>
        <p:nvSpPr>
          <p:cNvPr id="18" name="Text 15"/>
          <p:cNvSpPr txBox="1"/>
          <p:nvPr/>
        </p:nvSpPr>
        <p:spPr>
          <a:xfrm>
            <a:off x="777240" y="4434840"/>
            <a:ext cx="3840480" cy="320040"/>
          </a:xfrm>
          <a:prstGeom prst="rect">
            <a:avLst/>
          </a:prstGeom>
          <a:noFill/>
          <a:ln/>
        </p:spPr>
        <p:txBody>
          <a:bodyPr wrap="square" lIns="0" tIns="0" rIns="0" bIns="0" rtlCol="0" anchor="t"/>
          <a:lstStyle/>
          <a:p>
            <a:pPr marL="0" indent="0">
              <a:buNone/>
            </a:pPr>
            <a:r>
              <a:rPr lang="en-US" sz="1200" dirty="0">
                <a:solidFill>
                  <a:srgbClr val="5F6B7A"/>
                </a:solidFill>
                <a:latin typeface="Arial" pitchFamily="34" charset="0"/>
                <a:ea typeface="Arial" pitchFamily="34" charset="-122"/>
                <a:cs typeface="Arial" pitchFamily="34" charset="-120"/>
              </a:rPr>
              <a:t>of product-store records hold &gt; 5 years of stock</a:t>
            </a:r>
            <a:endParaRPr lang="en-US" sz="1200" dirty="0"/>
          </a:p>
        </p:txBody>
      </p:sp>
      <p:graphicFrame>
        <p:nvGraphicFramePr>
          <p:cNvPr id="22" name="Chart 0"/>
          <p:cNvGraphicFramePr/>
          <p:nvPr/>
        </p:nvGraphicFramePr>
        <p:xfrm>
          <a:off x="5120640" y="1417320"/>
          <a:ext cx="6519672" cy="2240280"/>
        </p:xfrm>
        <a:graphic>
          <a:graphicData uri="http://schemas.openxmlformats.org/drawingml/2006/chart">
            <c:chart xmlns:c="http://schemas.openxmlformats.org/drawingml/2006/chart" xmlns:r="http://schemas.openxmlformats.org/officeDocument/2006/relationships" r:id="rId4"/>
          </a:graphicData>
        </a:graphic>
      </p:graphicFrame>
      <p:sp>
        <p:nvSpPr>
          <p:cNvPr id="23" name="Shape 19"/>
          <p:cNvSpPr/>
          <p:nvPr/>
        </p:nvSpPr>
        <p:spPr>
          <a:xfrm>
            <a:off x="5120640" y="3840480"/>
            <a:ext cx="3611880" cy="1143000"/>
          </a:xfrm>
          <a:prstGeom prst="roundRect">
            <a:avLst>
              <a:gd name="adj" fmla="val 7742"/>
            </a:avLst>
          </a:prstGeom>
          <a:solidFill>
            <a:srgbClr val="F3F7FC"/>
          </a:solidFill>
          <a:ln w="12700">
            <a:solidFill>
              <a:srgbClr val="F3F7FC"/>
            </a:solidFill>
            <a:prstDash val="solid"/>
          </a:ln>
        </p:spPr>
        <p:txBody>
          <a:bodyPr/>
          <a:lstStyle/>
          <a:p>
            <a:endParaRPr lang="en-NZ"/>
          </a:p>
        </p:txBody>
      </p:sp>
      <p:sp>
        <p:nvSpPr>
          <p:cNvPr id="24" name="Shape 20"/>
          <p:cNvSpPr/>
          <p:nvPr/>
        </p:nvSpPr>
        <p:spPr>
          <a:xfrm>
            <a:off x="5285232" y="3959352"/>
            <a:ext cx="411480" cy="411480"/>
          </a:xfrm>
          <a:prstGeom prst="ellipse">
            <a:avLst/>
          </a:prstGeom>
          <a:solidFill>
            <a:srgbClr val="2E75B6"/>
          </a:solidFill>
          <a:ln w="12700">
            <a:solidFill>
              <a:srgbClr val="2E75B6"/>
            </a:solidFill>
            <a:prstDash val="solid"/>
          </a:ln>
        </p:spPr>
        <p:txBody>
          <a:bodyPr/>
          <a:lstStyle/>
          <a:p>
            <a:endParaRPr lang="en-NZ"/>
          </a:p>
        </p:txBody>
      </p:sp>
      <p:pic>
        <p:nvPicPr>
          <p:cNvPr id="25" name="Image 1" descr="preencoded.png"/>
          <p:cNvPicPr>
            <a:picLocks noChangeAspect="1"/>
          </p:cNvPicPr>
          <p:nvPr/>
        </p:nvPicPr>
        <p:blipFill>
          <a:blip r:embed="rId5"/>
          <a:stretch>
            <a:fillRect/>
          </a:stretch>
        </p:blipFill>
        <p:spPr>
          <a:xfrm>
            <a:off x="5388102" y="4062222"/>
            <a:ext cx="205740" cy="205740"/>
          </a:xfrm>
          <a:prstGeom prst="rect">
            <a:avLst/>
          </a:prstGeom>
        </p:spPr>
      </p:pic>
      <p:sp>
        <p:nvSpPr>
          <p:cNvPr id="26" name="Text 21"/>
          <p:cNvSpPr txBox="1"/>
          <p:nvPr/>
        </p:nvSpPr>
        <p:spPr>
          <a:xfrm>
            <a:off x="5806440" y="3950208"/>
            <a:ext cx="2834640" cy="411480"/>
          </a:xfrm>
          <a:prstGeom prst="rect">
            <a:avLst/>
          </a:prstGeom>
          <a:noFill/>
          <a:ln/>
        </p:spPr>
        <p:txBody>
          <a:bodyPr wrap="square" lIns="0" tIns="0" rIns="0" bIns="0" rtlCol="0" anchor="ctr"/>
          <a:lstStyle/>
          <a:p>
            <a:pPr marL="0" indent="0">
              <a:buNone/>
            </a:pPr>
            <a:r>
              <a:rPr lang="en-US" sz="1250" b="1" dirty="0">
                <a:solidFill>
                  <a:srgbClr val="1F3864"/>
                </a:solidFill>
                <a:latin typeface="Arial" pitchFamily="34" charset="0"/>
                <a:ea typeface="Arial" pitchFamily="34" charset="-122"/>
                <a:cs typeface="Arial" pitchFamily="34" charset="-120"/>
              </a:rPr>
              <a:t>Seasonal peaks are reliable</a:t>
            </a:r>
            <a:endParaRPr lang="en-US" sz="1250" dirty="0"/>
          </a:p>
        </p:txBody>
      </p:sp>
      <p:sp>
        <p:nvSpPr>
          <p:cNvPr id="27" name="Text 22"/>
          <p:cNvSpPr txBox="1"/>
          <p:nvPr/>
        </p:nvSpPr>
        <p:spPr>
          <a:xfrm>
            <a:off x="5285232" y="4389120"/>
            <a:ext cx="3310128" cy="566928"/>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Garden &amp; Outdoor peaks in April every year from 2020 to 2026, so clearing just before a peak would be a mistake.</a:t>
            </a:r>
            <a:endParaRPr lang="en-US" sz="1050" dirty="0"/>
          </a:p>
        </p:txBody>
      </p:sp>
      <p:sp>
        <p:nvSpPr>
          <p:cNvPr id="28" name="Shape 23"/>
          <p:cNvSpPr/>
          <p:nvPr/>
        </p:nvSpPr>
        <p:spPr>
          <a:xfrm>
            <a:off x="5120640" y="5120640"/>
            <a:ext cx="3611880" cy="1143000"/>
          </a:xfrm>
          <a:prstGeom prst="roundRect">
            <a:avLst>
              <a:gd name="adj" fmla="val 7742"/>
            </a:avLst>
          </a:prstGeom>
          <a:solidFill>
            <a:srgbClr val="F3F7FC"/>
          </a:solidFill>
          <a:ln w="12700">
            <a:solidFill>
              <a:srgbClr val="F3F7FC"/>
            </a:solidFill>
            <a:prstDash val="solid"/>
          </a:ln>
        </p:spPr>
        <p:txBody>
          <a:bodyPr/>
          <a:lstStyle/>
          <a:p>
            <a:endParaRPr lang="en-NZ"/>
          </a:p>
        </p:txBody>
      </p:sp>
      <p:sp>
        <p:nvSpPr>
          <p:cNvPr id="29" name="Shape 24"/>
          <p:cNvSpPr/>
          <p:nvPr/>
        </p:nvSpPr>
        <p:spPr>
          <a:xfrm>
            <a:off x="5285232" y="5239512"/>
            <a:ext cx="411480" cy="411480"/>
          </a:xfrm>
          <a:prstGeom prst="ellipse">
            <a:avLst/>
          </a:prstGeom>
          <a:solidFill>
            <a:srgbClr val="2E75B6"/>
          </a:solidFill>
          <a:ln w="12700">
            <a:solidFill>
              <a:srgbClr val="2E75B6"/>
            </a:solidFill>
            <a:prstDash val="solid"/>
          </a:ln>
        </p:spPr>
        <p:txBody>
          <a:bodyPr/>
          <a:lstStyle/>
          <a:p>
            <a:endParaRPr lang="en-NZ"/>
          </a:p>
        </p:txBody>
      </p:sp>
      <p:pic>
        <p:nvPicPr>
          <p:cNvPr id="30" name="Image 2" descr="preencoded.png"/>
          <p:cNvPicPr>
            <a:picLocks noChangeAspect="1"/>
          </p:cNvPicPr>
          <p:nvPr/>
        </p:nvPicPr>
        <p:blipFill>
          <a:blip r:embed="rId6"/>
          <a:stretch>
            <a:fillRect/>
          </a:stretch>
        </p:blipFill>
        <p:spPr>
          <a:xfrm>
            <a:off x="5388102" y="5342381"/>
            <a:ext cx="205740" cy="205740"/>
          </a:xfrm>
          <a:prstGeom prst="rect">
            <a:avLst/>
          </a:prstGeom>
        </p:spPr>
      </p:pic>
      <p:sp>
        <p:nvSpPr>
          <p:cNvPr id="31" name="Text 25"/>
          <p:cNvSpPr txBox="1"/>
          <p:nvPr/>
        </p:nvSpPr>
        <p:spPr>
          <a:xfrm>
            <a:off x="5806440" y="5230368"/>
            <a:ext cx="2834640" cy="411480"/>
          </a:xfrm>
          <a:prstGeom prst="rect">
            <a:avLst/>
          </a:prstGeom>
          <a:noFill/>
          <a:ln/>
        </p:spPr>
        <p:txBody>
          <a:bodyPr wrap="square" lIns="0" tIns="0" rIns="0" bIns="0" rtlCol="0" anchor="ctr"/>
          <a:lstStyle/>
          <a:p>
            <a:pPr marL="0" indent="0">
              <a:buNone/>
            </a:pPr>
            <a:r>
              <a:rPr lang="en-US" sz="1250" b="1" dirty="0">
                <a:solidFill>
                  <a:srgbClr val="1F3864"/>
                </a:solidFill>
                <a:latin typeface="Arial" pitchFamily="34" charset="0"/>
                <a:ea typeface="Arial" pitchFamily="34" charset="-122"/>
                <a:cs typeface="Arial" pitchFamily="34" charset="-120"/>
              </a:rPr>
              <a:t>Some stores are short today</a:t>
            </a:r>
            <a:endParaRPr lang="en-US" sz="1250" dirty="0"/>
          </a:p>
        </p:txBody>
      </p:sp>
      <p:sp>
        <p:nvSpPr>
          <p:cNvPr id="32" name="Text 26"/>
          <p:cNvSpPr txBox="1"/>
          <p:nvPr/>
        </p:nvSpPr>
        <p:spPr>
          <a:xfrm>
            <a:off x="5285232" y="5669279"/>
            <a:ext cx="3310128" cy="566928"/>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cs typeface="Arial" pitchFamily="34" charset="-120"/>
              </a:rPr>
              <a:t>Identified lowest stock stores are in </a:t>
            </a:r>
            <a:r>
              <a:rPr lang="en-US" sz="1050" dirty="0" err="1">
                <a:solidFill>
                  <a:srgbClr val="222B3A"/>
                </a:solidFill>
                <a:latin typeface="Arial" pitchFamily="34" charset="0"/>
                <a:cs typeface="Arial" pitchFamily="34" charset="-120"/>
              </a:rPr>
              <a:t>Zava</a:t>
            </a:r>
            <a:r>
              <a:rPr lang="en-US" sz="1050" dirty="0">
                <a:solidFill>
                  <a:srgbClr val="222B3A"/>
                </a:solidFill>
                <a:latin typeface="Arial" pitchFamily="34" charset="0"/>
                <a:cs typeface="Arial" pitchFamily="34" charset="-120"/>
              </a:rPr>
              <a:t> Retail Kirkland, Redmond and Everett.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53144" cy="640080"/>
          </a:xfrm>
          <a:prstGeom prst="rect">
            <a:avLst/>
          </a:prstGeom>
          <a:noFill/>
          <a:ln/>
        </p:spPr>
        <p:txBody>
          <a:bodyPr wrap="square" lIns="0" tIns="0" rIns="0" bIns="0" rtlCol="0" anchor="ctr"/>
          <a:lstStyle/>
          <a:p>
            <a:r>
              <a:rPr lang="en-NZ" sz="2400" b="1" dirty="0">
                <a:solidFill>
                  <a:srgbClr val="1F3864"/>
                </a:solidFill>
                <a:latin typeface="Arial" pitchFamily="34" charset="0"/>
                <a:cs typeface="Arial" pitchFamily="34" charset="-120"/>
              </a:rPr>
              <a:t>Why do we need an agent? why not a chatbot?</a:t>
            </a:r>
            <a:endParaRPr lang="en-US" sz="2400" dirty="0"/>
          </a:p>
        </p:txBody>
      </p:sp>
      <p:sp>
        <p:nvSpPr>
          <p:cNvPr id="3" name="Shape 1"/>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 name="Shape 2"/>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5"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6" name="Text 3"/>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Navneet</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Solution Architect</a:t>
            </a:r>
            <a:endParaRPr lang="en-US" sz="1200" dirty="0"/>
          </a:p>
        </p:txBody>
      </p:sp>
      <p:sp>
        <p:nvSpPr>
          <p:cNvPr id="7" name="Text 4"/>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7</a:t>
            </a:r>
            <a:endParaRPr lang="en-US" sz="1000" dirty="0"/>
          </a:p>
        </p:txBody>
      </p:sp>
      <p:sp>
        <p:nvSpPr>
          <p:cNvPr id="8" name="Text 5"/>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9" name="Shape 6"/>
          <p:cNvSpPr/>
          <p:nvPr/>
        </p:nvSpPr>
        <p:spPr>
          <a:xfrm>
            <a:off x="548640" y="1371600"/>
            <a:ext cx="5349240" cy="3063240"/>
          </a:xfrm>
          <a:prstGeom prst="roundRect">
            <a:avLst>
              <a:gd name="adj" fmla="val 3117"/>
            </a:avLst>
          </a:prstGeom>
          <a:solidFill>
            <a:srgbClr val="E7E9EE"/>
          </a:solidFill>
          <a:ln w="12700">
            <a:solidFill>
              <a:srgbClr val="E7E9EE"/>
            </a:solidFill>
            <a:prstDash val="solid"/>
          </a:ln>
        </p:spPr>
        <p:txBody>
          <a:bodyPr/>
          <a:lstStyle/>
          <a:p>
            <a:endParaRPr lang="en-NZ"/>
          </a:p>
        </p:txBody>
      </p:sp>
      <p:sp>
        <p:nvSpPr>
          <p:cNvPr id="10" name="Shape 7"/>
          <p:cNvSpPr/>
          <p:nvPr/>
        </p:nvSpPr>
        <p:spPr>
          <a:xfrm>
            <a:off x="822960" y="1429866"/>
            <a:ext cx="640080" cy="640080"/>
          </a:xfrm>
          <a:prstGeom prst="ellipse">
            <a:avLst/>
          </a:prstGeom>
          <a:solidFill>
            <a:srgbClr val="5F6B7A"/>
          </a:solidFill>
          <a:ln w="12700">
            <a:solidFill>
              <a:srgbClr val="5F6B7A"/>
            </a:solidFill>
            <a:prstDash val="solid"/>
          </a:ln>
        </p:spPr>
        <p:txBody>
          <a:bodyPr/>
          <a:lstStyle/>
          <a:p>
            <a:endParaRPr lang="en-NZ"/>
          </a:p>
        </p:txBody>
      </p:sp>
      <p:pic>
        <p:nvPicPr>
          <p:cNvPr id="11" name="Image 1" descr="preencoded.png"/>
          <p:cNvPicPr>
            <a:picLocks noChangeAspect="1"/>
          </p:cNvPicPr>
          <p:nvPr/>
        </p:nvPicPr>
        <p:blipFill>
          <a:blip r:embed="rId4"/>
          <a:stretch>
            <a:fillRect/>
          </a:stretch>
        </p:blipFill>
        <p:spPr>
          <a:xfrm>
            <a:off x="982980" y="1589886"/>
            <a:ext cx="320040" cy="320040"/>
          </a:xfrm>
          <a:prstGeom prst="rect">
            <a:avLst/>
          </a:prstGeom>
        </p:spPr>
      </p:pic>
      <p:sp>
        <p:nvSpPr>
          <p:cNvPr id="12" name="Text 8"/>
          <p:cNvSpPr txBox="1"/>
          <p:nvPr/>
        </p:nvSpPr>
        <p:spPr>
          <a:xfrm>
            <a:off x="1623060" y="1371600"/>
            <a:ext cx="4069080" cy="640080"/>
          </a:xfrm>
          <a:prstGeom prst="rect">
            <a:avLst/>
          </a:prstGeom>
          <a:noFill/>
          <a:ln/>
        </p:spPr>
        <p:txBody>
          <a:bodyPr wrap="square" lIns="0" tIns="0" rIns="0" bIns="0" rtlCol="0" anchor="ctr"/>
          <a:lstStyle/>
          <a:p>
            <a:r>
              <a:rPr lang="en-NZ" b="1" dirty="0"/>
              <a:t>A Passive Chatbot / SQL Report</a:t>
            </a:r>
            <a:endParaRPr lang="en-US" sz="1800" dirty="0"/>
          </a:p>
        </p:txBody>
      </p:sp>
      <p:sp>
        <p:nvSpPr>
          <p:cNvPr id="13" name="Text 9"/>
          <p:cNvSpPr txBox="1"/>
          <p:nvPr/>
        </p:nvSpPr>
        <p:spPr>
          <a:xfrm>
            <a:off x="822960" y="2138526"/>
            <a:ext cx="4869180" cy="2177442"/>
          </a:xfrm>
          <a:prstGeom prst="rect">
            <a:avLst/>
          </a:prstGeom>
          <a:noFill/>
          <a:ln/>
        </p:spPr>
        <p:txBody>
          <a:bodyPr wrap="square" lIns="0" tIns="0" rIns="0" bIns="0" rtlCol="0" anchor="t"/>
          <a:lstStyle/>
          <a:p>
            <a:pPr marL="285750" lvl="0" indent="-285750">
              <a:buFont typeface="Arial" panose="020B0604020202020204" pitchFamily="34" charset="0"/>
              <a:buChar char="•"/>
            </a:pPr>
            <a:r>
              <a:rPr lang="en-NZ" sz="1400" b="1" dirty="0"/>
              <a:t>Static &amp; Reactive:</a:t>
            </a:r>
            <a:r>
              <a:rPr lang="en-NZ" sz="1400" dirty="0"/>
              <a:t> Can only answer pre-scripted questions or return raw SQL query tables when asked.</a:t>
            </a:r>
          </a:p>
          <a:p>
            <a:pPr marL="285750" lvl="0" indent="-285750">
              <a:buFont typeface="Arial" panose="020B0604020202020204" pitchFamily="34" charset="0"/>
              <a:buChar char="•"/>
            </a:pPr>
            <a:r>
              <a:rPr lang="en-NZ" sz="1400" b="1" dirty="0"/>
              <a:t>No Multi-Tool Reasoning:</a:t>
            </a:r>
            <a:r>
              <a:rPr lang="en-NZ" sz="1400" dirty="0"/>
              <a:t> Cannot independently chain actions (e.g., it cannot check inventory, look up freight costs, and verify warehouse capacity together).</a:t>
            </a:r>
          </a:p>
          <a:p>
            <a:pPr marL="285750" lvl="0" indent="-285750">
              <a:buFont typeface="Arial" panose="020B0604020202020204" pitchFamily="34" charset="0"/>
              <a:buChar char="•"/>
            </a:pPr>
            <a:r>
              <a:rPr lang="en-NZ" sz="1400" b="1" dirty="0"/>
              <a:t>Blind to Context:</a:t>
            </a:r>
            <a:r>
              <a:rPr lang="en-NZ" sz="1400" dirty="0"/>
              <a:t> Pulls data without evaluating real-world business constraints like seasonal demand peaks.</a:t>
            </a:r>
          </a:p>
          <a:p>
            <a:pPr marL="285750" lvl="0" indent="-285750">
              <a:buFont typeface="Arial" panose="020B0604020202020204" pitchFamily="34" charset="0"/>
              <a:buChar char="•"/>
            </a:pPr>
            <a:r>
              <a:rPr lang="en-NZ" sz="1400" b="1" dirty="0"/>
              <a:t>Requires Manual Action:</a:t>
            </a:r>
            <a:r>
              <a:rPr lang="en-NZ" sz="1400" dirty="0"/>
              <a:t> Merely outputs data and leaves humans to manually calculate and execute transfers or clearances.</a:t>
            </a:r>
          </a:p>
        </p:txBody>
      </p:sp>
      <p:sp>
        <p:nvSpPr>
          <p:cNvPr id="14" name="Shape 10"/>
          <p:cNvSpPr/>
          <p:nvPr/>
        </p:nvSpPr>
        <p:spPr>
          <a:xfrm>
            <a:off x="6291072" y="1371600"/>
            <a:ext cx="5349240" cy="3063240"/>
          </a:xfrm>
          <a:prstGeom prst="roundRect">
            <a:avLst>
              <a:gd name="adj" fmla="val 3117"/>
            </a:avLst>
          </a:prstGeom>
          <a:solidFill>
            <a:srgbClr val="DEEAF6"/>
          </a:solidFill>
          <a:ln w="12700">
            <a:solidFill>
              <a:srgbClr val="DEEAF6"/>
            </a:solidFill>
            <a:prstDash val="solid"/>
          </a:ln>
        </p:spPr>
        <p:txBody>
          <a:bodyPr/>
          <a:lstStyle/>
          <a:p>
            <a:endParaRPr lang="en-NZ"/>
          </a:p>
        </p:txBody>
      </p:sp>
      <p:sp>
        <p:nvSpPr>
          <p:cNvPr id="15" name="Shape 11"/>
          <p:cNvSpPr/>
          <p:nvPr/>
        </p:nvSpPr>
        <p:spPr>
          <a:xfrm>
            <a:off x="6565392" y="1600200"/>
            <a:ext cx="640080" cy="640080"/>
          </a:xfrm>
          <a:prstGeom prst="ellipse">
            <a:avLst/>
          </a:prstGeom>
          <a:solidFill>
            <a:srgbClr val="1F3864"/>
          </a:solidFill>
          <a:ln w="12700">
            <a:solidFill>
              <a:srgbClr val="1F3864"/>
            </a:solidFill>
            <a:prstDash val="solid"/>
          </a:ln>
        </p:spPr>
        <p:txBody>
          <a:bodyPr/>
          <a:lstStyle/>
          <a:p>
            <a:endParaRPr lang="en-NZ"/>
          </a:p>
        </p:txBody>
      </p:sp>
      <p:pic>
        <p:nvPicPr>
          <p:cNvPr id="16" name="Image 2" descr="preencoded.png"/>
          <p:cNvPicPr>
            <a:picLocks noChangeAspect="1"/>
          </p:cNvPicPr>
          <p:nvPr/>
        </p:nvPicPr>
        <p:blipFill>
          <a:blip r:embed="rId5"/>
          <a:stretch>
            <a:fillRect/>
          </a:stretch>
        </p:blipFill>
        <p:spPr>
          <a:xfrm>
            <a:off x="6725412" y="1760220"/>
            <a:ext cx="320040" cy="320040"/>
          </a:xfrm>
          <a:prstGeom prst="rect">
            <a:avLst/>
          </a:prstGeom>
        </p:spPr>
      </p:pic>
      <p:sp>
        <p:nvSpPr>
          <p:cNvPr id="17" name="Text 12"/>
          <p:cNvSpPr txBox="1"/>
          <p:nvPr/>
        </p:nvSpPr>
        <p:spPr>
          <a:xfrm>
            <a:off x="7388352" y="1600200"/>
            <a:ext cx="4069080" cy="640080"/>
          </a:xfrm>
          <a:prstGeom prst="rect">
            <a:avLst/>
          </a:prstGeom>
          <a:noFill/>
          <a:ln/>
        </p:spPr>
        <p:txBody>
          <a:bodyPr wrap="square" lIns="0" tIns="0" rIns="0" bIns="0" rtlCol="0" anchor="ctr"/>
          <a:lstStyle/>
          <a:p>
            <a:pPr marL="0" indent="0">
              <a:buNone/>
            </a:pPr>
            <a:r>
              <a:rPr lang="en-US" sz="1800" b="1" dirty="0">
                <a:solidFill>
                  <a:srgbClr val="1F3864"/>
                </a:solidFill>
                <a:latin typeface="Arial" pitchFamily="34" charset="0"/>
                <a:ea typeface="Arial" pitchFamily="34" charset="-122"/>
                <a:cs typeface="Arial" pitchFamily="34" charset="-120"/>
              </a:rPr>
              <a:t>The Inventory Optimisation Agent</a:t>
            </a:r>
            <a:endParaRPr lang="en-US" sz="1800" dirty="0"/>
          </a:p>
        </p:txBody>
      </p:sp>
      <p:sp>
        <p:nvSpPr>
          <p:cNvPr id="18" name="Text 13"/>
          <p:cNvSpPr txBox="1"/>
          <p:nvPr/>
        </p:nvSpPr>
        <p:spPr>
          <a:xfrm>
            <a:off x="6611112" y="2395728"/>
            <a:ext cx="4709160" cy="192024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NZ" sz="1400" b="1" dirty="0"/>
              <a:t>Proactive &amp; Goal-Driven:</a:t>
            </a:r>
            <a:r>
              <a:rPr lang="en-NZ" sz="1400" dirty="0"/>
              <a:t> Automatically monitors stock levels, flags overstock risks, and initiates workflows unprompted.</a:t>
            </a:r>
          </a:p>
          <a:p>
            <a:pPr marL="285750" lvl="0" indent="-285750">
              <a:buFont typeface="Arial" panose="020B0604020202020204" pitchFamily="34" charset="0"/>
              <a:buChar char="•"/>
            </a:pPr>
            <a:r>
              <a:rPr lang="en-NZ" sz="1400" b="1" dirty="0"/>
              <a:t>Multi-Tool Chaining:</a:t>
            </a:r>
            <a:r>
              <a:rPr lang="en-NZ" sz="1400" dirty="0"/>
              <a:t> Dynamically decides which tool to call next based on intermediate findings.</a:t>
            </a:r>
          </a:p>
          <a:p>
            <a:pPr marL="285750" lvl="0" indent="-285750">
              <a:buFont typeface="Arial" panose="020B0604020202020204" pitchFamily="34" charset="0"/>
              <a:buChar char="•"/>
            </a:pPr>
            <a:r>
              <a:rPr lang="en-NZ" sz="1400" b="1" dirty="0"/>
              <a:t>Context-Aware Reasoning:</a:t>
            </a:r>
            <a:r>
              <a:rPr lang="en-NZ" sz="1400" dirty="0"/>
              <a:t> Cross-references stock excess with seasonal calendars before recommending clearance.</a:t>
            </a:r>
          </a:p>
          <a:p>
            <a:pPr marL="285750" lvl="0" indent="-285750">
              <a:buFont typeface="Arial" panose="020B0604020202020204" pitchFamily="34" charset="0"/>
              <a:buChar char="•"/>
            </a:pPr>
            <a:r>
              <a:rPr lang="en-NZ" sz="1400" b="1" dirty="0"/>
              <a:t>Autonomous Draft &amp; Review:</a:t>
            </a:r>
            <a:r>
              <a:rPr lang="en-NZ" sz="1400" dirty="0"/>
              <a:t> Drafts precise store transfer and clearance plans with hard figures for human sign-off.</a:t>
            </a:r>
          </a:p>
        </p:txBody>
      </p:sp>
      <p:sp>
        <p:nvSpPr>
          <p:cNvPr id="19" name="Shape 14"/>
          <p:cNvSpPr/>
          <p:nvPr/>
        </p:nvSpPr>
        <p:spPr>
          <a:xfrm>
            <a:off x="5934456" y="2697480"/>
            <a:ext cx="329184" cy="457200"/>
          </a:xfrm>
          <a:prstGeom prst="rightArrow">
            <a:avLst/>
          </a:prstGeom>
          <a:solidFill>
            <a:srgbClr val="F2A900"/>
          </a:solidFill>
          <a:ln w="12700">
            <a:solidFill>
              <a:srgbClr val="F2A900"/>
            </a:solidFill>
            <a:prstDash val="solid"/>
          </a:ln>
        </p:spPr>
        <p:txBody>
          <a:bodyPr/>
          <a:lstStyle/>
          <a:p>
            <a:endParaRPr lang="en-NZ"/>
          </a:p>
        </p:txBody>
      </p:sp>
      <p:sp>
        <p:nvSpPr>
          <p:cNvPr id="20" name="Shape 15"/>
          <p:cNvSpPr/>
          <p:nvPr/>
        </p:nvSpPr>
        <p:spPr>
          <a:xfrm>
            <a:off x="548640" y="4663440"/>
            <a:ext cx="11091672" cy="1325880"/>
          </a:xfrm>
          <a:prstGeom prst="roundRect">
            <a:avLst>
              <a:gd name="adj" fmla="val 10000"/>
            </a:avLst>
          </a:prstGeom>
          <a:solidFill>
            <a:srgbClr val="1F3864"/>
          </a:solidFill>
          <a:ln w="12700">
            <a:solidFill>
              <a:srgbClr val="1F3864"/>
            </a:solidFill>
            <a:prstDash val="solid"/>
          </a:ln>
        </p:spPr>
        <p:txBody>
          <a:bodyPr/>
          <a:lstStyle/>
          <a:p>
            <a:endParaRPr lang="en-NZ"/>
          </a:p>
        </p:txBody>
      </p:sp>
      <p:sp>
        <p:nvSpPr>
          <p:cNvPr id="21" name="Shape 16"/>
          <p:cNvSpPr/>
          <p:nvPr/>
        </p:nvSpPr>
        <p:spPr>
          <a:xfrm>
            <a:off x="822960" y="5029200"/>
            <a:ext cx="585216" cy="585216"/>
          </a:xfrm>
          <a:prstGeom prst="ellipse">
            <a:avLst/>
          </a:prstGeom>
          <a:solidFill>
            <a:srgbClr val="F2A900"/>
          </a:solidFill>
          <a:ln w="12700">
            <a:solidFill>
              <a:srgbClr val="F2A900"/>
            </a:solidFill>
            <a:prstDash val="solid"/>
          </a:ln>
        </p:spPr>
        <p:txBody>
          <a:bodyPr/>
          <a:lstStyle/>
          <a:p>
            <a:endParaRPr lang="en-NZ"/>
          </a:p>
        </p:txBody>
      </p:sp>
      <p:pic>
        <p:nvPicPr>
          <p:cNvPr id="22" name="Image 3" descr="preencoded.png"/>
          <p:cNvPicPr>
            <a:picLocks noChangeAspect="1"/>
          </p:cNvPicPr>
          <p:nvPr/>
        </p:nvPicPr>
        <p:blipFill>
          <a:blip r:embed="rId6"/>
          <a:stretch>
            <a:fillRect/>
          </a:stretch>
        </p:blipFill>
        <p:spPr>
          <a:xfrm>
            <a:off x="969264" y="5175504"/>
            <a:ext cx="292608" cy="292608"/>
          </a:xfrm>
          <a:prstGeom prst="rect">
            <a:avLst/>
          </a:prstGeom>
        </p:spPr>
      </p:pic>
      <p:sp>
        <p:nvSpPr>
          <p:cNvPr id="23" name="Text 17"/>
          <p:cNvSpPr txBox="1"/>
          <p:nvPr/>
        </p:nvSpPr>
        <p:spPr>
          <a:xfrm>
            <a:off x="1645920" y="4663440"/>
            <a:ext cx="9811512" cy="1325880"/>
          </a:xfrm>
          <a:prstGeom prst="rect">
            <a:avLst/>
          </a:prstGeom>
          <a:noFill/>
          <a:ln/>
        </p:spPr>
        <p:txBody>
          <a:bodyPr wrap="square" lIns="0" tIns="0" rIns="0" bIns="0" rtlCol="0" anchor="ctr"/>
          <a:lstStyle/>
          <a:p>
            <a:r>
              <a:rPr lang="en-US" sz="1500" b="1" dirty="0">
                <a:solidFill>
                  <a:srgbClr val="F2A900"/>
                </a:solidFill>
                <a:latin typeface="Arial" pitchFamily="34" charset="0"/>
                <a:ea typeface="Arial" pitchFamily="34" charset="-122"/>
                <a:cs typeface="Arial" pitchFamily="34" charset="-120"/>
              </a:rPr>
              <a:t>Example: </a:t>
            </a:r>
            <a:r>
              <a:rPr lang="en-NZ" sz="1500" dirty="0">
                <a:solidFill>
                  <a:srgbClr val="FFFFFF"/>
                </a:solidFill>
                <a:latin typeface="Arial" pitchFamily="34" charset="0"/>
                <a:cs typeface="Arial" pitchFamily="34" charset="-120"/>
              </a:rPr>
              <a:t>The database shows massive excess in Power Tools, but the agent checks the seasonal calendar, sees a peak coming in two months, and reasons: "Do not clear; hold stock for seasonal demand".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Implemented architecture</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One agent with tools · read-only · every figure checked in code before the user sees it</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Navneet</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Solution Architect</a:t>
            </a:r>
            <a:endParaRPr lang="en-US" sz="1200" dirty="0"/>
          </a:p>
        </p:txBody>
      </p:sp>
      <p:sp>
        <p:nvSpPr>
          <p:cNvPr id="8" name="Text 5"/>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8</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1" name="Text 7"/>
          <p:cNvSpPr txBox="1"/>
          <p:nvPr/>
        </p:nvSpPr>
        <p:spPr>
          <a:xfrm>
            <a:off x="8229600" y="1463040"/>
            <a:ext cx="1645920" cy="411480"/>
          </a:xfrm>
          <a:prstGeom prst="rect">
            <a:avLst/>
          </a:prstGeom>
          <a:noFill/>
          <a:ln/>
        </p:spPr>
        <p:txBody>
          <a:bodyPr wrap="square" lIns="0" tIns="0" rIns="0" bIns="0" rtlCol="0" anchor="t"/>
          <a:lstStyle/>
          <a:p>
            <a:pPr marL="0" indent="0">
              <a:buNone/>
            </a:pPr>
            <a:r>
              <a:rPr lang="en-US" sz="1200" b="1" dirty="0">
                <a:solidFill>
                  <a:srgbClr val="1F3864"/>
                </a:solidFill>
                <a:latin typeface="Arial" pitchFamily="34" charset="0"/>
                <a:ea typeface="Arial" pitchFamily="34" charset="-122"/>
                <a:cs typeface="Arial" pitchFamily="34" charset="-120"/>
              </a:rPr>
              <a:t>Chat page</a:t>
            </a:r>
            <a:endParaRPr lang="en-US" sz="1250" dirty="0"/>
          </a:p>
        </p:txBody>
      </p:sp>
      <p:sp>
        <p:nvSpPr>
          <p:cNvPr id="12" name="Text 8"/>
          <p:cNvSpPr txBox="1"/>
          <p:nvPr/>
        </p:nvSpPr>
        <p:spPr>
          <a:xfrm>
            <a:off x="8229600" y="1892808"/>
            <a:ext cx="1645920" cy="548640"/>
          </a:xfrm>
          <a:prstGeom prst="rect">
            <a:avLst/>
          </a:prstGeom>
          <a:noFill/>
          <a:ln/>
        </p:spPr>
        <p:txBody>
          <a:bodyPr wrap="square" lIns="0" tIns="0" rIns="0" bIns="0" rtlCol="0" anchor="t"/>
          <a:lstStyle/>
          <a:p>
            <a:pPr marL="0" indent="0">
              <a:buNone/>
            </a:pPr>
            <a:r>
              <a:rPr lang="en-US" sz="1000" dirty="0">
                <a:solidFill>
                  <a:srgbClr val="222B3A"/>
                </a:solidFill>
                <a:latin typeface="Arial" pitchFamily="34" charset="0"/>
                <a:ea typeface="Arial" pitchFamily="34" charset="-122"/>
                <a:cs typeface="Arial" pitchFamily="34" charset="-120"/>
              </a:rPr>
              <a:t>Role sign-in; text, tables, charts, CSV and PDF</a:t>
            </a:r>
            <a:endParaRPr lang="en-US" sz="1050" dirty="0"/>
          </a:p>
        </p:txBody>
      </p:sp>
      <p:sp>
        <p:nvSpPr>
          <p:cNvPr id="13" name="Text 9"/>
          <p:cNvSpPr txBox="1"/>
          <p:nvPr/>
        </p:nvSpPr>
        <p:spPr>
          <a:xfrm>
            <a:off x="10012680" y="1463040"/>
            <a:ext cx="1645920" cy="411480"/>
          </a:xfrm>
          <a:prstGeom prst="rect">
            <a:avLst/>
          </a:prstGeom>
          <a:noFill/>
          <a:ln/>
        </p:spPr>
        <p:txBody>
          <a:bodyPr wrap="square" lIns="0" tIns="0" rIns="0" bIns="0" rtlCol="0" anchor="t"/>
          <a:lstStyle/>
          <a:p>
            <a:pPr marL="0" indent="0">
              <a:buNone/>
            </a:pPr>
            <a:r>
              <a:rPr lang="en-US" sz="1200" b="1" dirty="0">
                <a:solidFill>
                  <a:srgbClr val="1F3864"/>
                </a:solidFill>
                <a:latin typeface="Arial" pitchFamily="34" charset="0"/>
                <a:ea typeface="Arial" pitchFamily="34" charset="-122"/>
                <a:cs typeface="Arial" pitchFamily="34" charset="-120"/>
              </a:rPr>
              <a:t>Web app :8005</a:t>
            </a:r>
            <a:endParaRPr lang="en-US" sz="1250" dirty="0"/>
          </a:p>
        </p:txBody>
      </p:sp>
      <p:sp>
        <p:nvSpPr>
          <p:cNvPr id="14" name="Text 10"/>
          <p:cNvSpPr txBox="1"/>
          <p:nvPr/>
        </p:nvSpPr>
        <p:spPr>
          <a:xfrm>
            <a:off x="10012680" y="1892808"/>
            <a:ext cx="1645920" cy="548640"/>
          </a:xfrm>
          <a:prstGeom prst="rect">
            <a:avLst/>
          </a:prstGeom>
          <a:noFill/>
          <a:ln/>
        </p:spPr>
        <p:txBody>
          <a:bodyPr wrap="square" lIns="0" tIns="0" rIns="0" bIns="0" rtlCol="0" anchor="t"/>
          <a:lstStyle/>
          <a:p>
            <a:pPr marL="0" indent="0">
              <a:buNone/>
            </a:pPr>
            <a:r>
              <a:rPr lang="en-US" sz="1000" dirty="0">
                <a:solidFill>
                  <a:srgbClr val="222B3A"/>
                </a:solidFill>
                <a:latin typeface="Arial" pitchFamily="34" charset="0"/>
                <a:ea typeface="Arial" pitchFamily="34" charset="-122"/>
                <a:cs typeface="Arial" pitchFamily="34" charset="-120"/>
              </a:rPr>
              <a:t>Checks sign-in; private saved chats</a:t>
            </a:r>
            <a:endParaRPr lang="en-US" sz="1050" dirty="0"/>
          </a:p>
        </p:txBody>
      </p:sp>
      <p:sp>
        <p:nvSpPr>
          <p:cNvPr id="15" name="Text 11"/>
          <p:cNvSpPr txBox="1"/>
          <p:nvPr/>
        </p:nvSpPr>
        <p:spPr>
          <a:xfrm>
            <a:off x="8229600" y="2468880"/>
            <a:ext cx="1645920" cy="411480"/>
          </a:xfrm>
          <a:prstGeom prst="rect">
            <a:avLst/>
          </a:prstGeom>
          <a:noFill/>
          <a:ln/>
        </p:spPr>
        <p:txBody>
          <a:bodyPr wrap="square" lIns="0" tIns="0" rIns="0" bIns="0" rtlCol="0" anchor="t"/>
          <a:lstStyle/>
          <a:p>
            <a:pPr marL="0" indent="0">
              <a:buNone/>
            </a:pPr>
            <a:r>
              <a:rPr lang="en-US" sz="1200" b="1" dirty="0">
                <a:solidFill>
                  <a:srgbClr val="1F3864"/>
                </a:solidFill>
                <a:latin typeface="Arial" pitchFamily="34" charset="0"/>
                <a:ea typeface="Arial" pitchFamily="34" charset="-122"/>
                <a:cs typeface="Arial" pitchFamily="34" charset="-120"/>
              </a:rPr>
              <a:t>Agent service :8006</a:t>
            </a:r>
            <a:endParaRPr lang="en-US" sz="1250" dirty="0"/>
          </a:p>
        </p:txBody>
      </p:sp>
      <p:sp>
        <p:nvSpPr>
          <p:cNvPr id="16" name="Text 12"/>
          <p:cNvSpPr txBox="1"/>
          <p:nvPr/>
        </p:nvSpPr>
        <p:spPr>
          <a:xfrm>
            <a:off x="8229600" y="2898648"/>
            <a:ext cx="1645920" cy="548640"/>
          </a:xfrm>
          <a:prstGeom prst="rect">
            <a:avLst/>
          </a:prstGeom>
          <a:noFill/>
          <a:ln/>
        </p:spPr>
        <p:txBody>
          <a:bodyPr wrap="square" lIns="0" tIns="0" rIns="0" bIns="0" rtlCol="0" anchor="t"/>
          <a:lstStyle/>
          <a:p>
            <a:pPr marL="0" indent="0">
              <a:buNone/>
            </a:pPr>
            <a:r>
              <a:rPr lang="en-US" sz="1000" dirty="0">
                <a:solidFill>
                  <a:srgbClr val="222B3A"/>
                </a:solidFill>
                <a:latin typeface="Arial" pitchFamily="34" charset="0"/>
                <a:ea typeface="Arial" pitchFamily="34" charset="-122"/>
                <a:cs typeface="Arial" pitchFamily="34" charset="-120"/>
              </a:rPr>
              <a:t>Scope gate → tool loop (≤10 rounds) → answer verifier</a:t>
            </a:r>
            <a:endParaRPr lang="en-US" sz="1050" dirty="0"/>
          </a:p>
        </p:txBody>
      </p:sp>
      <p:sp>
        <p:nvSpPr>
          <p:cNvPr id="17" name="Text 13"/>
          <p:cNvSpPr txBox="1"/>
          <p:nvPr/>
        </p:nvSpPr>
        <p:spPr>
          <a:xfrm>
            <a:off x="10012680" y="2468880"/>
            <a:ext cx="1645920" cy="411480"/>
          </a:xfrm>
          <a:prstGeom prst="rect">
            <a:avLst/>
          </a:prstGeom>
          <a:noFill/>
          <a:ln/>
        </p:spPr>
        <p:txBody>
          <a:bodyPr wrap="square" lIns="0" tIns="0" rIns="0" bIns="0" rtlCol="0" anchor="t"/>
          <a:lstStyle/>
          <a:p>
            <a:pPr marL="0" indent="0">
              <a:buNone/>
            </a:pPr>
            <a:r>
              <a:rPr lang="en-US" sz="1200" b="1" dirty="0">
                <a:solidFill>
                  <a:srgbClr val="1F3864"/>
                </a:solidFill>
                <a:latin typeface="Arial" pitchFamily="34" charset="0"/>
                <a:ea typeface="Arial" pitchFamily="34" charset="-122"/>
                <a:cs typeface="Arial" pitchFamily="34" charset="-120"/>
              </a:rPr>
              <a:t>MCP tool servers</a:t>
            </a:r>
            <a:endParaRPr lang="en-US" sz="1250" dirty="0"/>
          </a:p>
        </p:txBody>
      </p:sp>
      <p:sp>
        <p:nvSpPr>
          <p:cNvPr id="18" name="Text 14"/>
          <p:cNvSpPr txBox="1"/>
          <p:nvPr/>
        </p:nvSpPr>
        <p:spPr>
          <a:xfrm>
            <a:off x="10012680" y="2898648"/>
            <a:ext cx="1645920" cy="548640"/>
          </a:xfrm>
          <a:prstGeom prst="rect">
            <a:avLst/>
          </a:prstGeom>
          <a:noFill/>
          <a:ln/>
        </p:spPr>
        <p:txBody>
          <a:bodyPr wrap="square" lIns="0" tIns="0" rIns="0" bIns="0" rtlCol="0" anchor="t"/>
          <a:lstStyle/>
          <a:p>
            <a:pPr marL="0" indent="0">
              <a:buNone/>
            </a:pPr>
            <a:r>
              <a:rPr lang="en-US" sz="1000" dirty="0">
                <a:solidFill>
                  <a:srgbClr val="222B3A"/>
                </a:solidFill>
                <a:latin typeface="Arial" pitchFamily="34" charset="0"/>
                <a:ea typeface="Arial" pitchFamily="34" charset="-122"/>
                <a:cs typeface="Arial" pitchFamily="34" charset="-120"/>
              </a:rPr>
              <a:t>3 servers, 17 tools, querying as that person</a:t>
            </a:r>
            <a:endParaRPr lang="en-US" sz="1050" dirty="0"/>
          </a:p>
        </p:txBody>
      </p:sp>
      <p:sp>
        <p:nvSpPr>
          <p:cNvPr id="19" name="Text 15"/>
          <p:cNvSpPr txBox="1"/>
          <p:nvPr/>
        </p:nvSpPr>
        <p:spPr>
          <a:xfrm>
            <a:off x="8229600" y="3474720"/>
            <a:ext cx="1645920" cy="411480"/>
          </a:xfrm>
          <a:prstGeom prst="rect">
            <a:avLst/>
          </a:prstGeom>
          <a:noFill/>
          <a:ln/>
        </p:spPr>
        <p:txBody>
          <a:bodyPr wrap="square" lIns="0" tIns="0" rIns="0" bIns="0" rtlCol="0" anchor="t"/>
          <a:lstStyle/>
          <a:p>
            <a:pPr marL="0" indent="0">
              <a:buNone/>
            </a:pPr>
            <a:r>
              <a:rPr lang="en-US" sz="1200" b="1" dirty="0">
                <a:solidFill>
                  <a:srgbClr val="1F3864"/>
                </a:solidFill>
                <a:latin typeface="Arial" pitchFamily="34" charset="0"/>
                <a:ea typeface="Arial" pitchFamily="34" charset="-122"/>
                <a:cs typeface="Arial" pitchFamily="34" charset="-120"/>
              </a:rPr>
              <a:t>Azure OpenAI</a:t>
            </a:r>
            <a:endParaRPr lang="en-US" sz="1250" dirty="0"/>
          </a:p>
        </p:txBody>
      </p:sp>
      <p:sp>
        <p:nvSpPr>
          <p:cNvPr id="20" name="Text 16"/>
          <p:cNvSpPr txBox="1"/>
          <p:nvPr/>
        </p:nvSpPr>
        <p:spPr>
          <a:xfrm>
            <a:off x="8229600" y="3904488"/>
            <a:ext cx="1645920" cy="548640"/>
          </a:xfrm>
          <a:prstGeom prst="rect">
            <a:avLst/>
          </a:prstGeom>
          <a:noFill/>
          <a:ln/>
        </p:spPr>
        <p:txBody>
          <a:bodyPr wrap="square" lIns="0" tIns="0" rIns="0" bIns="0" rtlCol="0" anchor="t"/>
          <a:lstStyle/>
          <a:p>
            <a:pPr marL="0" indent="0">
              <a:buNone/>
            </a:pPr>
            <a:r>
              <a:rPr lang="en-US" sz="1000" dirty="0">
                <a:solidFill>
                  <a:srgbClr val="222B3A"/>
                </a:solidFill>
                <a:latin typeface="Arial" pitchFamily="34" charset="0"/>
                <a:ea typeface="Arial" pitchFamily="34" charset="-122"/>
                <a:cs typeface="Arial" pitchFamily="34" charset="-120"/>
              </a:rPr>
              <a:t>gpt-5-mini; text-embedding-3-small</a:t>
            </a:r>
            <a:endParaRPr lang="en-US" sz="1050" dirty="0"/>
          </a:p>
        </p:txBody>
      </p:sp>
      <p:sp>
        <p:nvSpPr>
          <p:cNvPr id="21" name="Text 17"/>
          <p:cNvSpPr txBox="1"/>
          <p:nvPr/>
        </p:nvSpPr>
        <p:spPr>
          <a:xfrm>
            <a:off x="10012680" y="3474720"/>
            <a:ext cx="1645920" cy="411480"/>
          </a:xfrm>
          <a:prstGeom prst="rect">
            <a:avLst/>
          </a:prstGeom>
          <a:noFill/>
          <a:ln/>
        </p:spPr>
        <p:txBody>
          <a:bodyPr wrap="square" lIns="0" tIns="0" rIns="0" bIns="0" rtlCol="0" anchor="t"/>
          <a:lstStyle/>
          <a:p>
            <a:pPr marL="0" indent="0">
              <a:buNone/>
            </a:pPr>
            <a:r>
              <a:rPr lang="en-US" sz="1200" b="1" dirty="0">
                <a:solidFill>
                  <a:srgbClr val="1F3864"/>
                </a:solidFill>
                <a:latin typeface="Arial" pitchFamily="34" charset="0"/>
                <a:ea typeface="Arial" pitchFamily="34" charset="-122"/>
                <a:cs typeface="Arial" pitchFamily="34" charset="-120"/>
              </a:rPr>
              <a:t>PostgreSQL + pgvector</a:t>
            </a:r>
            <a:endParaRPr lang="en-US" sz="1250" dirty="0"/>
          </a:p>
        </p:txBody>
      </p:sp>
      <p:sp>
        <p:nvSpPr>
          <p:cNvPr id="22" name="Text 18"/>
          <p:cNvSpPr txBox="1"/>
          <p:nvPr/>
        </p:nvSpPr>
        <p:spPr>
          <a:xfrm>
            <a:off x="10012680" y="3904488"/>
            <a:ext cx="1645920" cy="548640"/>
          </a:xfrm>
          <a:prstGeom prst="rect">
            <a:avLst/>
          </a:prstGeom>
          <a:noFill/>
          <a:ln/>
        </p:spPr>
        <p:txBody>
          <a:bodyPr wrap="square" lIns="0" tIns="0" rIns="0" bIns="0" rtlCol="0" anchor="t"/>
          <a:lstStyle/>
          <a:p>
            <a:pPr marL="0" indent="0">
              <a:buNone/>
            </a:pPr>
            <a:r>
              <a:rPr lang="en-US" sz="1000" dirty="0">
                <a:solidFill>
                  <a:srgbClr val="222B3A"/>
                </a:solidFill>
                <a:latin typeface="Arial" pitchFamily="34" charset="0"/>
                <a:ea typeface="Arial" pitchFamily="34" charset="-122"/>
                <a:cs typeface="Arial" pitchFamily="34" charset="-120"/>
              </a:rPr>
              <a:t>Row-level security; read-only transactions</a:t>
            </a:r>
            <a:endParaRPr lang="en-US" sz="1050" dirty="0"/>
          </a:p>
        </p:txBody>
      </p:sp>
      <p:pic>
        <p:nvPicPr>
          <p:cNvPr id="26" name="Picture 25">
            <a:extLst>
              <a:ext uri="{FF2B5EF4-FFF2-40B4-BE49-F238E27FC236}">
                <a16:creationId xmlns:a16="http://schemas.microsoft.com/office/drawing/2014/main" id="{294521C9-AB12-11BC-308C-282BD6BBC604}"/>
              </a:ext>
            </a:extLst>
          </p:cNvPr>
          <p:cNvPicPr>
            <a:picLocks noChangeAspect="1"/>
          </p:cNvPicPr>
          <p:nvPr/>
        </p:nvPicPr>
        <p:blipFill>
          <a:blip r:embed="rId4"/>
          <a:stretch>
            <a:fillRect/>
          </a:stretch>
        </p:blipFill>
        <p:spPr>
          <a:xfrm>
            <a:off x="533400" y="1371600"/>
            <a:ext cx="7469623" cy="46488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Services, tools and key design decisions</a:t>
            </a:r>
            <a:endParaRPr lang="en-US" sz="2800" dirty="0"/>
          </a:p>
        </p:txBody>
      </p:sp>
      <p:sp>
        <p:nvSpPr>
          <p:cNvPr id="3" name="Shape 1"/>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 name="Shape 2"/>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5"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6" name="Text 3"/>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Navneet</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Solution Architect</a:t>
            </a:r>
            <a:endParaRPr lang="en-US" sz="1200" dirty="0"/>
          </a:p>
        </p:txBody>
      </p:sp>
      <p:sp>
        <p:nvSpPr>
          <p:cNvPr id="7" name="Text 4"/>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10</a:t>
            </a:r>
            <a:endParaRPr lang="en-US" sz="1000" dirty="0"/>
          </a:p>
        </p:txBody>
      </p:sp>
      <p:sp>
        <p:nvSpPr>
          <p:cNvPr id="8" name="Text 5"/>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9" name="Shape 6"/>
          <p:cNvSpPr/>
          <p:nvPr/>
        </p:nvSpPr>
        <p:spPr>
          <a:xfrm>
            <a:off x="548640" y="1371600"/>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0" name="Shape 7"/>
          <p:cNvSpPr/>
          <p:nvPr/>
        </p:nvSpPr>
        <p:spPr>
          <a:xfrm>
            <a:off x="713232" y="1627632"/>
            <a:ext cx="548640" cy="548640"/>
          </a:xfrm>
          <a:prstGeom prst="ellipse">
            <a:avLst/>
          </a:prstGeom>
          <a:solidFill>
            <a:srgbClr val="2E75B6"/>
          </a:solidFill>
          <a:ln w="12700">
            <a:solidFill>
              <a:srgbClr val="2E75B6"/>
            </a:solidFill>
            <a:prstDash val="solid"/>
          </a:ln>
        </p:spPr>
        <p:txBody>
          <a:bodyPr/>
          <a:lstStyle/>
          <a:p>
            <a:endParaRPr lang="en-NZ"/>
          </a:p>
        </p:txBody>
      </p:sp>
      <p:pic>
        <p:nvPicPr>
          <p:cNvPr id="11" name="Image 1" descr="preencoded.png"/>
          <p:cNvPicPr>
            <a:picLocks noChangeAspect="1"/>
          </p:cNvPicPr>
          <p:nvPr/>
        </p:nvPicPr>
        <p:blipFill>
          <a:blip r:embed="rId4"/>
          <a:stretch>
            <a:fillRect/>
          </a:stretch>
        </p:blipFill>
        <p:spPr>
          <a:xfrm>
            <a:off x="850392" y="1764792"/>
            <a:ext cx="274320" cy="274320"/>
          </a:xfrm>
          <a:prstGeom prst="rect">
            <a:avLst/>
          </a:prstGeom>
        </p:spPr>
      </p:pic>
      <p:sp>
        <p:nvSpPr>
          <p:cNvPr id="12" name="Text 8"/>
          <p:cNvSpPr txBox="1"/>
          <p:nvPr/>
        </p:nvSpPr>
        <p:spPr>
          <a:xfrm>
            <a:off x="1389888" y="1508760"/>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PostgreSQL 17 + pgvector</a:t>
            </a:r>
            <a:endParaRPr lang="en-US" sz="1250" dirty="0"/>
          </a:p>
        </p:txBody>
      </p:sp>
      <p:sp>
        <p:nvSpPr>
          <p:cNvPr id="13" name="Text 9"/>
          <p:cNvSpPr txBox="1"/>
          <p:nvPr/>
        </p:nvSpPr>
        <p:spPr>
          <a:xfrm>
            <a:off x="1389888" y="1874520"/>
            <a:ext cx="2194560" cy="50292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Data, product vectors, row-level security</a:t>
            </a:r>
            <a:endParaRPr lang="en-US" sz="1050" dirty="0"/>
          </a:p>
        </p:txBody>
      </p:sp>
      <p:sp>
        <p:nvSpPr>
          <p:cNvPr id="14" name="Shape 10"/>
          <p:cNvSpPr/>
          <p:nvPr/>
        </p:nvSpPr>
        <p:spPr>
          <a:xfrm>
            <a:off x="3794760" y="1371600"/>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5" name="Shape 11"/>
          <p:cNvSpPr/>
          <p:nvPr/>
        </p:nvSpPr>
        <p:spPr>
          <a:xfrm>
            <a:off x="3959352" y="1627632"/>
            <a:ext cx="548640" cy="548640"/>
          </a:xfrm>
          <a:prstGeom prst="ellipse">
            <a:avLst/>
          </a:prstGeom>
          <a:solidFill>
            <a:srgbClr val="2E75B6"/>
          </a:solidFill>
          <a:ln w="12700">
            <a:solidFill>
              <a:srgbClr val="2E75B6"/>
            </a:solidFill>
            <a:prstDash val="solid"/>
          </a:ln>
        </p:spPr>
        <p:txBody>
          <a:bodyPr/>
          <a:lstStyle/>
          <a:p>
            <a:endParaRPr lang="en-NZ"/>
          </a:p>
        </p:txBody>
      </p:sp>
      <p:pic>
        <p:nvPicPr>
          <p:cNvPr id="16" name="Image 2" descr="preencoded.png"/>
          <p:cNvPicPr>
            <a:picLocks noChangeAspect="1"/>
          </p:cNvPicPr>
          <p:nvPr/>
        </p:nvPicPr>
        <p:blipFill>
          <a:blip r:embed="rId5"/>
          <a:stretch>
            <a:fillRect/>
          </a:stretch>
        </p:blipFill>
        <p:spPr>
          <a:xfrm>
            <a:off x="4096512" y="1764792"/>
            <a:ext cx="274320" cy="274320"/>
          </a:xfrm>
          <a:prstGeom prst="rect">
            <a:avLst/>
          </a:prstGeom>
        </p:spPr>
      </p:pic>
      <p:sp>
        <p:nvSpPr>
          <p:cNvPr id="17" name="Text 12"/>
          <p:cNvSpPr txBox="1"/>
          <p:nvPr/>
        </p:nvSpPr>
        <p:spPr>
          <a:xfrm>
            <a:off x="4636008" y="1737360"/>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Azure OpenAI gpt-5-mini</a:t>
            </a:r>
            <a:endParaRPr lang="en-US" sz="1250" dirty="0"/>
          </a:p>
        </p:txBody>
      </p:sp>
      <p:sp>
        <p:nvSpPr>
          <p:cNvPr id="18" name="Text 13"/>
          <p:cNvSpPr txBox="1"/>
          <p:nvPr/>
        </p:nvSpPr>
        <p:spPr>
          <a:xfrm>
            <a:off x="4636008" y="1874520"/>
            <a:ext cx="2194560" cy="502920"/>
          </a:xfrm>
          <a:prstGeom prst="rect">
            <a:avLst/>
          </a:prstGeom>
          <a:noFill/>
          <a:ln/>
        </p:spPr>
        <p:txBody>
          <a:bodyPr wrap="square" lIns="0" tIns="0" rIns="0" bIns="0" rtlCol="0" anchor="t"/>
          <a:lstStyle/>
          <a:p>
            <a:pPr marL="0" indent="0">
              <a:buNone/>
            </a:pPr>
            <a:endParaRPr lang="en-US" sz="1050" dirty="0"/>
          </a:p>
        </p:txBody>
      </p:sp>
      <p:sp>
        <p:nvSpPr>
          <p:cNvPr id="19" name="Shape 14"/>
          <p:cNvSpPr/>
          <p:nvPr/>
        </p:nvSpPr>
        <p:spPr>
          <a:xfrm>
            <a:off x="548640" y="2587752"/>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0" name="Shape 15"/>
          <p:cNvSpPr/>
          <p:nvPr/>
        </p:nvSpPr>
        <p:spPr>
          <a:xfrm>
            <a:off x="713232" y="2843784"/>
            <a:ext cx="548640" cy="548640"/>
          </a:xfrm>
          <a:prstGeom prst="ellipse">
            <a:avLst/>
          </a:prstGeom>
          <a:solidFill>
            <a:srgbClr val="2E75B6"/>
          </a:solidFill>
          <a:ln w="12700">
            <a:solidFill>
              <a:srgbClr val="2E75B6"/>
            </a:solidFill>
            <a:prstDash val="solid"/>
          </a:ln>
        </p:spPr>
        <p:txBody>
          <a:bodyPr/>
          <a:lstStyle/>
          <a:p>
            <a:endParaRPr lang="en-NZ"/>
          </a:p>
        </p:txBody>
      </p:sp>
      <p:pic>
        <p:nvPicPr>
          <p:cNvPr id="21" name="Image 3" descr="preencoded.png"/>
          <p:cNvPicPr>
            <a:picLocks noChangeAspect="1"/>
          </p:cNvPicPr>
          <p:nvPr/>
        </p:nvPicPr>
        <p:blipFill>
          <a:blip r:embed="rId6"/>
          <a:stretch>
            <a:fillRect/>
          </a:stretch>
        </p:blipFill>
        <p:spPr>
          <a:xfrm>
            <a:off x="850392" y="2980944"/>
            <a:ext cx="274320" cy="274320"/>
          </a:xfrm>
          <a:prstGeom prst="rect">
            <a:avLst/>
          </a:prstGeom>
        </p:spPr>
      </p:pic>
      <p:sp>
        <p:nvSpPr>
          <p:cNvPr id="22" name="Text 16"/>
          <p:cNvSpPr txBox="1"/>
          <p:nvPr/>
        </p:nvSpPr>
        <p:spPr>
          <a:xfrm>
            <a:off x="1389888" y="2724912"/>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text-embedding-3-small</a:t>
            </a:r>
            <a:endParaRPr lang="en-US" sz="1250" dirty="0"/>
          </a:p>
        </p:txBody>
      </p:sp>
      <p:sp>
        <p:nvSpPr>
          <p:cNvPr id="23" name="Text 17"/>
          <p:cNvSpPr txBox="1"/>
          <p:nvPr/>
        </p:nvSpPr>
        <p:spPr>
          <a:xfrm>
            <a:off x="1389888" y="3090672"/>
            <a:ext cx="2194560" cy="50292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Product search by meaning</a:t>
            </a:r>
            <a:endParaRPr lang="en-US" sz="1050" dirty="0"/>
          </a:p>
        </p:txBody>
      </p:sp>
      <p:sp>
        <p:nvSpPr>
          <p:cNvPr id="24" name="Shape 18"/>
          <p:cNvSpPr/>
          <p:nvPr/>
        </p:nvSpPr>
        <p:spPr>
          <a:xfrm>
            <a:off x="3794760" y="2587752"/>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5" name="Shape 19"/>
          <p:cNvSpPr/>
          <p:nvPr/>
        </p:nvSpPr>
        <p:spPr>
          <a:xfrm>
            <a:off x="3959352" y="2843784"/>
            <a:ext cx="548640" cy="548640"/>
          </a:xfrm>
          <a:prstGeom prst="ellipse">
            <a:avLst/>
          </a:prstGeom>
          <a:solidFill>
            <a:srgbClr val="2E75B6"/>
          </a:solidFill>
          <a:ln w="12700">
            <a:solidFill>
              <a:srgbClr val="2E75B6"/>
            </a:solidFill>
            <a:prstDash val="solid"/>
          </a:ln>
        </p:spPr>
        <p:txBody>
          <a:bodyPr/>
          <a:lstStyle/>
          <a:p>
            <a:endParaRPr lang="en-NZ"/>
          </a:p>
        </p:txBody>
      </p:sp>
      <p:pic>
        <p:nvPicPr>
          <p:cNvPr id="26" name="Image 4" descr="preencoded.png"/>
          <p:cNvPicPr>
            <a:picLocks noChangeAspect="1"/>
          </p:cNvPicPr>
          <p:nvPr/>
        </p:nvPicPr>
        <p:blipFill>
          <a:blip r:embed="rId7"/>
          <a:stretch>
            <a:fillRect/>
          </a:stretch>
        </p:blipFill>
        <p:spPr>
          <a:xfrm>
            <a:off x="4096512" y="2980944"/>
            <a:ext cx="274320" cy="274320"/>
          </a:xfrm>
          <a:prstGeom prst="rect">
            <a:avLst/>
          </a:prstGeom>
        </p:spPr>
      </p:pic>
      <p:sp>
        <p:nvSpPr>
          <p:cNvPr id="27" name="Text 20"/>
          <p:cNvSpPr txBox="1"/>
          <p:nvPr/>
        </p:nvSpPr>
        <p:spPr>
          <a:xfrm>
            <a:off x="4636008" y="2724912"/>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Python MCP SDK</a:t>
            </a:r>
            <a:endParaRPr lang="en-US" sz="1250" dirty="0"/>
          </a:p>
        </p:txBody>
      </p:sp>
      <p:sp>
        <p:nvSpPr>
          <p:cNvPr id="28" name="Text 21"/>
          <p:cNvSpPr txBox="1"/>
          <p:nvPr/>
        </p:nvSpPr>
        <p:spPr>
          <a:xfrm>
            <a:off x="4636008" y="3090672"/>
            <a:ext cx="2194560" cy="50292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3 servers, 17 tested SQL tools</a:t>
            </a:r>
            <a:endParaRPr lang="en-US" sz="1050" dirty="0"/>
          </a:p>
        </p:txBody>
      </p:sp>
      <p:sp>
        <p:nvSpPr>
          <p:cNvPr id="29" name="Shape 22"/>
          <p:cNvSpPr/>
          <p:nvPr/>
        </p:nvSpPr>
        <p:spPr>
          <a:xfrm>
            <a:off x="548640" y="3803904"/>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0" name="Shape 23"/>
          <p:cNvSpPr/>
          <p:nvPr/>
        </p:nvSpPr>
        <p:spPr>
          <a:xfrm>
            <a:off x="713232" y="4059936"/>
            <a:ext cx="548640" cy="548640"/>
          </a:xfrm>
          <a:prstGeom prst="ellipse">
            <a:avLst/>
          </a:prstGeom>
          <a:solidFill>
            <a:srgbClr val="2E75B6"/>
          </a:solidFill>
          <a:ln w="12700">
            <a:solidFill>
              <a:srgbClr val="2E75B6"/>
            </a:solidFill>
            <a:prstDash val="solid"/>
          </a:ln>
        </p:spPr>
        <p:txBody>
          <a:bodyPr/>
          <a:lstStyle/>
          <a:p>
            <a:endParaRPr lang="en-NZ"/>
          </a:p>
        </p:txBody>
      </p:sp>
      <p:pic>
        <p:nvPicPr>
          <p:cNvPr id="31" name="Image 5" descr="preencoded.png"/>
          <p:cNvPicPr>
            <a:picLocks noChangeAspect="1"/>
          </p:cNvPicPr>
          <p:nvPr/>
        </p:nvPicPr>
        <p:blipFill>
          <a:blip r:embed="rId8"/>
          <a:stretch>
            <a:fillRect/>
          </a:stretch>
        </p:blipFill>
        <p:spPr>
          <a:xfrm>
            <a:off x="850392" y="4197096"/>
            <a:ext cx="274320" cy="274320"/>
          </a:xfrm>
          <a:prstGeom prst="rect">
            <a:avLst/>
          </a:prstGeom>
        </p:spPr>
      </p:pic>
      <p:sp>
        <p:nvSpPr>
          <p:cNvPr id="32" name="Text 24"/>
          <p:cNvSpPr txBox="1"/>
          <p:nvPr/>
        </p:nvSpPr>
        <p:spPr>
          <a:xfrm>
            <a:off x="1389888" y="3941064"/>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FastAPI + Uvicorn</a:t>
            </a:r>
            <a:endParaRPr lang="en-US" sz="1250" dirty="0"/>
          </a:p>
        </p:txBody>
      </p:sp>
      <p:sp>
        <p:nvSpPr>
          <p:cNvPr id="33" name="Text 25"/>
          <p:cNvSpPr txBox="1"/>
          <p:nvPr/>
        </p:nvSpPr>
        <p:spPr>
          <a:xfrm>
            <a:off x="1389888" y="4306824"/>
            <a:ext cx="2194560" cy="50292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Agent service and web app; streams answers</a:t>
            </a:r>
            <a:endParaRPr lang="en-US" sz="1050" dirty="0"/>
          </a:p>
        </p:txBody>
      </p:sp>
      <p:sp>
        <p:nvSpPr>
          <p:cNvPr id="39" name="Shape 30"/>
          <p:cNvSpPr/>
          <p:nvPr/>
        </p:nvSpPr>
        <p:spPr>
          <a:xfrm>
            <a:off x="548640" y="5020056"/>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40" name="Shape 31"/>
          <p:cNvSpPr/>
          <p:nvPr/>
        </p:nvSpPr>
        <p:spPr>
          <a:xfrm>
            <a:off x="713232" y="5276088"/>
            <a:ext cx="548640" cy="548640"/>
          </a:xfrm>
          <a:prstGeom prst="ellipse">
            <a:avLst/>
          </a:prstGeom>
          <a:solidFill>
            <a:srgbClr val="2E75B6"/>
          </a:solidFill>
          <a:ln w="12700">
            <a:solidFill>
              <a:srgbClr val="2E75B6"/>
            </a:solidFill>
            <a:prstDash val="solid"/>
          </a:ln>
        </p:spPr>
        <p:txBody>
          <a:bodyPr/>
          <a:lstStyle/>
          <a:p>
            <a:endParaRPr lang="en-NZ"/>
          </a:p>
        </p:txBody>
      </p:sp>
      <p:pic>
        <p:nvPicPr>
          <p:cNvPr id="41" name="Image 7" descr="preencoded.png"/>
          <p:cNvPicPr>
            <a:picLocks noChangeAspect="1"/>
          </p:cNvPicPr>
          <p:nvPr/>
        </p:nvPicPr>
        <p:blipFill>
          <a:blip r:embed="rId9"/>
          <a:stretch>
            <a:fillRect/>
          </a:stretch>
        </p:blipFill>
        <p:spPr>
          <a:xfrm>
            <a:off x="850392" y="5413248"/>
            <a:ext cx="274320" cy="274320"/>
          </a:xfrm>
          <a:prstGeom prst="rect">
            <a:avLst/>
          </a:prstGeom>
        </p:spPr>
      </p:pic>
      <p:sp>
        <p:nvSpPr>
          <p:cNvPr id="42" name="Text 32"/>
          <p:cNvSpPr txBox="1"/>
          <p:nvPr/>
        </p:nvSpPr>
        <p:spPr>
          <a:xfrm>
            <a:off x="1389888" y="5157216"/>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Answer verifier</a:t>
            </a:r>
            <a:endParaRPr lang="en-US" sz="1250" dirty="0"/>
          </a:p>
        </p:txBody>
      </p:sp>
      <p:sp>
        <p:nvSpPr>
          <p:cNvPr id="43" name="Text 33"/>
          <p:cNvSpPr txBox="1"/>
          <p:nvPr/>
        </p:nvSpPr>
        <p:spPr>
          <a:xfrm>
            <a:off x="1389888" y="5522976"/>
            <a:ext cx="2194560" cy="50292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Checks figures, codes, scope and arithmetic</a:t>
            </a:r>
            <a:endParaRPr lang="en-US" sz="1050" dirty="0"/>
          </a:p>
        </p:txBody>
      </p:sp>
      <p:sp>
        <p:nvSpPr>
          <p:cNvPr id="44" name="Shape 34"/>
          <p:cNvSpPr/>
          <p:nvPr/>
        </p:nvSpPr>
        <p:spPr>
          <a:xfrm>
            <a:off x="3794760" y="3790072"/>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45" name="Shape 35"/>
          <p:cNvSpPr/>
          <p:nvPr/>
        </p:nvSpPr>
        <p:spPr>
          <a:xfrm>
            <a:off x="3959352" y="4046104"/>
            <a:ext cx="548640" cy="548640"/>
          </a:xfrm>
          <a:prstGeom prst="ellipse">
            <a:avLst/>
          </a:prstGeom>
          <a:solidFill>
            <a:srgbClr val="2E75B6"/>
          </a:solidFill>
          <a:ln w="12700">
            <a:solidFill>
              <a:srgbClr val="2E75B6"/>
            </a:solidFill>
            <a:prstDash val="solid"/>
          </a:ln>
        </p:spPr>
        <p:txBody>
          <a:bodyPr/>
          <a:lstStyle/>
          <a:p>
            <a:endParaRPr lang="en-NZ"/>
          </a:p>
        </p:txBody>
      </p:sp>
      <p:pic>
        <p:nvPicPr>
          <p:cNvPr id="46" name="Image 8" descr="preencoded.png"/>
          <p:cNvPicPr>
            <a:picLocks noChangeAspect="1"/>
          </p:cNvPicPr>
          <p:nvPr/>
        </p:nvPicPr>
        <p:blipFill>
          <a:blip r:embed="rId10"/>
          <a:stretch>
            <a:fillRect/>
          </a:stretch>
        </p:blipFill>
        <p:spPr>
          <a:xfrm>
            <a:off x="4096512" y="4183264"/>
            <a:ext cx="274320" cy="274320"/>
          </a:xfrm>
          <a:prstGeom prst="rect">
            <a:avLst/>
          </a:prstGeom>
        </p:spPr>
      </p:pic>
      <p:sp>
        <p:nvSpPr>
          <p:cNvPr id="47" name="Text 36"/>
          <p:cNvSpPr txBox="1"/>
          <p:nvPr/>
        </p:nvSpPr>
        <p:spPr>
          <a:xfrm>
            <a:off x="4636008" y="3927232"/>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SQLite + vanilla JS</a:t>
            </a:r>
            <a:endParaRPr lang="en-US" sz="1250" dirty="0"/>
          </a:p>
        </p:txBody>
      </p:sp>
      <p:sp>
        <p:nvSpPr>
          <p:cNvPr id="48" name="Text 37"/>
          <p:cNvSpPr txBox="1"/>
          <p:nvPr/>
        </p:nvSpPr>
        <p:spPr>
          <a:xfrm>
            <a:off x="4636008" y="4292992"/>
            <a:ext cx="2194560" cy="50292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Private saved chats; safe Markdown chat page</a:t>
            </a:r>
            <a:endParaRPr lang="en-US" sz="1050" dirty="0"/>
          </a:p>
        </p:txBody>
      </p:sp>
      <p:sp>
        <p:nvSpPr>
          <p:cNvPr id="49" name="Shape 38"/>
          <p:cNvSpPr/>
          <p:nvPr/>
        </p:nvSpPr>
        <p:spPr>
          <a:xfrm>
            <a:off x="7269480" y="1371600"/>
            <a:ext cx="4370832" cy="3063240"/>
          </a:xfrm>
          <a:prstGeom prst="roundRect">
            <a:avLst>
              <a:gd name="adj" fmla="val 2510"/>
            </a:avLst>
          </a:prstGeom>
          <a:solidFill>
            <a:srgbClr val="1F3864"/>
          </a:solidFill>
          <a:ln w="12700">
            <a:solidFill>
              <a:srgbClr val="1F3864"/>
            </a:solidFill>
            <a:prstDash val="solid"/>
          </a:ln>
        </p:spPr>
        <p:txBody>
          <a:bodyPr/>
          <a:lstStyle/>
          <a:p>
            <a:endParaRPr lang="en-NZ"/>
          </a:p>
        </p:txBody>
      </p:sp>
      <p:sp>
        <p:nvSpPr>
          <p:cNvPr id="50" name="Text 39"/>
          <p:cNvSpPr txBox="1"/>
          <p:nvPr/>
        </p:nvSpPr>
        <p:spPr>
          <a:xfrm>
            <a:off x="7543800" y="1508760"/>
            <a:ext cx="3822192" cy="320040"/>
          </a:xfrm>
          <a:prstGeom prst="rect">
            <a:avLst/>
          </a:prstGeom>
          <a:noFill/>
          <a:ln/>
        </p:spPr>
        <p:txBody>
          <a:bodyPr wrap="square" lIns="0" tIns="0" rIns="0" bIns="0" rtlCol="0" anchor="t"/>
          <a:lstStyle/>
          <a:p>
            <a:pPr marL="0" indent="0">
              <a:buNone/>
            </a:pPr>
            <a:r>
              <a:rPr lang="en-US" sz="1200" b="1" kern="0" spc="100" dirty="0">
                <a:solidFill>
                  <a:srgbClr val="F2A900"/>
                </a:solidFill>
                <a:latin typeface="Arial" pitchFamily="34" charset="0"/>
                <a:ea typeface="Arial" pitchFamily="34" charset="-122"/>
                <a:cs typeface="Arial" pitchFamily="34" charset="-120"/>
              </a:rPr>
              <a:t>KEY DESIGN DECISIONS</a:t>
            </a:r>
            <a:endParaRPr lang="en-US" sz="1200" dirty="0"/>
          </a:p>
        </p:txBody>
      </p:sp>
      <p:sp>
        <p:nvSpPr>
          <p:cNvPr id="51" name="Text 40"/>
          <p:cNvSpPr txBox="1"/>
          <p:nvPr/>
        </p:nvSpPr>
        <p:spPr>
          <a:xfrm>
            <a:off x="7543800" y="1874519"/>
            <a:ext cx="3867912" cy="25146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One agent with tools, not a multi-agent fleet</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Rules enforced in code, not prompts</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Access control inside the database</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All arithmetic through a calculate tool</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Data access through the MCP open standard</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Tools take store names, so ids cannot be guessed</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Read-only by design</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Small, low-latency model</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How one question is answered</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Every stage has its own control</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Ranjith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Implementation Lead</a:t>
            </a:r>
            <a:endParaRPr lang="en-US" sz="1200" dirty="0"/>
          </a:p>
        </p:txBody>
      </p:sp>
      <p:sp>
        <p:nvSpPr>
          <p:cNvPr id="8" name="Text 5"/>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11</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0" name="Shape 7"/>
          <p:cNvSpPr/>
          <p:nvPr/>
        </p:nvSpPr>
        <p:spPr>
          <a:xfrm>
            <a:off x="548640" y="137160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1" name="Shape 8"/>
          <p:cNvSpPr/>
          <p:nvPr/>
        </p:nvSpPr>
        <p:spPr>
          <a:xfrm>
            <a:off x="777240" y="1536192"/>
            <a:ext cx="502920" cy="502920"/>
          </a:xfrm>
          <a:prstGeom prst="ellipse">
            <a:avLst/>
          </a:prstGeom>
          <a:solidFill>
            <a:srgbClr val="2E75B6"/>
          </a:solidFill>
          <a:ln w="12700">
            <a:solidFill>
              <a:srgbClr val="2E75B6"/>
            </a:solidFill>
            <a:prstDash val="solid"/>
          </a:ln>
        </p:spPr>
        <p:txBody>
          <a:bodyPr/>
          <a:lstStyle/>
          <a:p>
            <a:endParaRPr lang="en-NZ"/>
          </a:p>
        </p:txBody>
      </p:sp>
      <p:pic>
        <p:nvPicPr>
          <p:cNvPr id="12" name="Image 1" descr="preencoded.png"/>
          <p:cNvPicPr>
            <a:picLocks noChangeAspect="1"/>
          </p:cNvPicPr>
          <p:nvPr/>
        </p:nvPicPr>
        <p:blipFill>
          <a:blip r:embed="rId4"/>
          <a:stretch>
            <a:fillRect/>
          </a:stretch>
        </p:blipFill>
        <p:spPr>
          <a:xfrm>
            <a:off x="902970" y="1661922"/>
            <a:ext cx="251460" cy="251460"/>
          </a:xfrm>
          <a:prstGeom prst="rect">
            <a:avLst/>
          </a:prstGeom>
        </p:spPr>
      </p:pic>
      <p:sp>
        <p:nvSpPr>
          <p:cNvPr id="13" name="Text 9"/>
          <p:cNvSpPr txBox="1"/>
          <p:nvPr/>
        </p:nvSpPr>
        <p:spPr>
          <a:xfrm>
            <a:off x="2377440" y="153619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01</a:t>
            </a:r>
            <a:endParaRPr lang="en-US" sz="2200" dirty="0"/>
          </a:p>
        </p:txBody>
      </p:sp>
      <p:sp>
        <p:nvSpPr>
          <p:cNvPr id="14" name="Text 10"/>
          <p:cNvSpPr txBox="1"/>
          <p:nvPr/>
        </p:nvSpPr>
        <p:spPr>
          <a:xfrm>
            <a:off x="777240" y="2103120"/>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Sign in</a:t>
            </a:r>
            <a:endParaRPr lang="en-US" sz="1500" dirty="0"/>
          </a:p>
        </p:txBody>
      </p:sp>
      <p:sp>
        <p:nvSpPr>
          <p:cNvPr id="15" name="Text 11"/>
          <p:cNvSpPr txBox="1"/>
          <p:nvPr/>
        </p:nvSpPr>
        <p:spPr>
          <a:xfrm>
            <a:off x="777240" y="239572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Role and access code; chat saved privately</a:t>
            </a:r>
            <a:endParaRPr lang="en-US" sz="1150" dirty="0"/>
          </a:p>
        </p:txBody>
      </p:sp>
      <p:sp>
        <p:nvSpPr>
          <p:cNvPr id="16" name="Shape 12"/>
          <p:cNvSpPr/>
          <p:nvPr/>
        </p:nvSpPr>
        <p:spPr>
          <a:xfrm>
            <a:off x="3172968" y="1938528"/>
            <a:ext cx="182880" cy="292608"/>
          </a:xfrm>
          <a:prstGeom prst="rightArrow">
            <a:avLst/>
          </a:prstGeom>
          <a:solidFill>
            <a:srgbClr val="F2A900"/>
          </a:solidFill>
          <a:ln w="12700">
            <a:solidFill>
              <a:srgbClr val="F2A900"/>
            </a:solidFill>
            <a:prstDash val="solid"/>
          </a:ln>
        </p:spPr>
        <p:txBody>
          <a:bodyPr/>
          <a:lstStyle/>
          <a:p>
            <a:endParaRPr lang="en-NZ"/>
          </a:p>
        </p:txBody>
      </p:sp>
      <p:sp>
        <p:nvSpPr>
          <p:cNvPr id="17" name="Shape 13"/>
          <p:cNvSpPr/>
          <p:nvPr/>
        </p:nvSpPr>
        <p:spPr>
          <a:xfrm>
            <a:off x="3374136" y="137160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8" name="Shape 14"/>
          <p:cNvSpPr/>
          <p:nvPr/>
        </p:nvSpPr>
        <p:spPr>
          <a:xfrm>
            <a:off x="3602736" y="1536192"/>
            <a:ext cx="502920" cy="502920"/>
          </a:xfrm>
          <a:prstGeom prst="ellipse">
            <a:avLst/>
          </a:prstGeom>
          <a:solidFill>
            <a:srgbClr val="1F3864"/>
          </a:solidFill>
          <a:ln w="12700">
            <a:solidFill>
              <a:srgbClr val="1F3864"/>
            </a:solidFill>
            <a:prstDash val="solid"/>
          </a:ln>
        </p:spPr>
        <p:txBody>
          <a:bodyPr/>
          <a:lstStyle/>
          <a:p>
            <a:endParaRPr lang="en-NZ"/>
          </a:p>
        </p:txBody>
      </p:sp>
      <p:pic>
        <p:nvPicPr>
          <p:cNvPr id="19" name="Image 2" descr="preencoded.png"/>
          <p:cNvPicPr>
            <a:picLocks noChangeAspect="1"/>
          </p:cNvPicPr>
          <p:nvPr/>
        </p:nvPicPr>
        <p:blipFill>
          <a:blip r:embed="rId5"/>
          <a:stretch>
            <a:fillRect/>
          </a:stretch>
        </p:blipFill>
        <p:spPr>
          <a:xfrm>
            <a:off x="3728465" y="1661922"/>
            <a:ext cx="251460" cy="251460"/>
          </a:xfrm>
          <a:prstGeom prst="rect">
            <a:avLst/>
          </a:prstGeom>
        </p:spPr>
      </p:pic>
      <p:sp>
        <p:nvSpPr>
          <p:cNvPr id="20" name="Text 15"/>
          <p:cNvSpPr txBox="1"/>
          <p:nvPr/>
        </p:nvSpPr>
        <p:spPr>
          <a:xfrm>
            <a:off x="5202936" y="153619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02</a:t>
            </a:r>
            <a:endParaRPr lang="en-US" sz="2200" dirty="0"/>
          </a:p>
        </p:txBody>
      </p:sp>
      <p:sp>
        <p:nvSpPr>
          <p:cNvPr id="21" name="Text 16"/>
          <p:cNvSpPr txBox="1"/>
          <p:nvPr/>
        </p:nvSpPr>
        <p:spPr>
          <a:xfrm>
            <a:off x="3602736" y="2103120"/>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Identity</a:t>
            </a:r>
            <a:endParaRPr lang="en-US" sz="1500" dirty="0"/>
          </a:p>
        </p:txBody>
      </p:sp>
      <p:sp>
        <p:nvSpPr>
          <p:cNvPr id="22" name="Text 17"/>
          <p:cNvSpPr txBox="1"/>
          <p:nvPr/>
        </p:nvSpPr>
        <p:spPr>
          <a:xfrm>
            <a:off x="3602736" y="239572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Access list → stores; runs as that person</a:t>
            </a:r>
            <a:endParaRPr lang="en-US" sz="1150" dirty="0"/>
          </a:p>
        </p:txBody>
      </p:sp>
      <p:sp>
        <p:nvSpPr>
          <p:cNvPr id="23" name="Shape 18"/>
          <p:cNvSpPr/>
          <p:nvPr/>
        </p:nvSpPr>
        <p:spPr>
          <a:xfrm>
            <a:off x="5998464" y="1938528"/>
            <a:ext cx="182880" cy="292608"/>
          </a:xfrm>
          <a:prstGeom prst="rightArrow">
            <a:avLst/>
          </a:prstGeom>
          <a:solidFill>
            <a:srgbClr val="F2A900"/>
          </a:solidFill>
          <a:ln w="12700">
            <a:solidFill>
              <a:srgbClr val="F2A900"/>
            </a:solidFill>
            <a:prstDash val="solid"/>
          </a:ln>
        </p:spPr>
        <p:txBody>
          <a:bodyPr/>
          <a:lstStyle/>
          <a:p>
            <a:endParaRPr lang="en-NZ"/>
          </a:p>
        </p:txBody>
      </p:sp>
      <p:sp>
        <p:nvSpPr>
          <p:cNvPr id="24" name="Shape 19"/>
          <p:cNvSpPr/>
          <p:nvPr/>
        </p:nvSpPr>
        <p:spPr>
          <a:xfrm>
            <a:off x="6199632" y="137160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5" name="Shape 20"/>
          <p:cNvSpPr/>
          <p:nvPr/>
        </p:nvSpPr>
        <p:spPr>
          <a:xfrm>
            <a:off x="6428232" y="1536192"/>
            <a:ext cx="502920" cy="502920"/>
          </a:xfrm>
          <a:prstGeom prst="ellipse">
            <a:avLst/>
          </a:prstGeom>
          <a:solidFill>
            <a:srgbClr val="1F3864"/>
          </a:solidFill>
          <a:ln w="12700">
            <a:solidFill>
              <a:srgbClr val="1F3864"/>
            </a:solidFill>
            <a:prstDash val="solid"/>
          </a:ln>
        </p:spPr>
        <p:txBody>
          <a:bodyPr/>
          <a:lstStyle/>
          <a:p>
            <a:endParaRPr lang="en-NZ"/>
          </a:p>
        </p:txBody>
      </p:sp>
      <p:pic>
        <p:nvPicPr>
          <p:cNvPr id="26" name="Image 3" descr="preencoded.png"/>
          <p:cNvPicPr>
            <a:picLocks noChangeAspect="1"/>
          </p:cNvPicPr>
          <p:nvPr/>
        </p:nvPicPr>
        <p:blipFill>
          <a:blip r:embed="rId6"/>
          <a:stretch>
            <a:fillRect/>
          </a:stretch>
        </p:blipFill>
        <p:spPr>
          <a:xfrm>
            <a:off x="6553962" y="1661922"/>
            <a:ext cx="251460" cy="251460"/>
          </a:xfrm>
          <a:prstGeom prst="rect">
            <a:avLst/>
          </a:prstGeom>
        </p:spPr>
      </p:pic>
      <p:sp>
        <p:nvSpPr>
          <p:cNvPr id="27" name="Text 21"/>
          <p:cNvSpPr txBox="1"/>
          <p:nvPr/>
        </p:nvSpPr>
        <p:spPr>
          <a:xfrm>
            <a:off x="8028432" y="153619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03</a:t>
            </a:r>
            <a:endParaRPr lang="en-US" sz="2200" dirty="0"/>
          </a:p>
        </p:txBody>
      </p:sp>
      <p:sp>
        <p:nvSpPr>
          <p:cNvPr id="28" name="Text 22"/>
          <p:cNvSpPr txBox="1"/>
          <p:nvPr/>
        </p:nvSpPr>
        <p:spPr>
          <a:xfrm>
            <a:off x="6428232" y="2103120"/>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Scope gate</a:t>
            </a:r>
            <a:endParaRPr lang="en-US" sz="1500" dirty="0"/>
          </a:p>
        </p:txBody>
      </p:sp>
      <p:sp>
        <p:nvSpPr>
          <p:cNvPr id="29" name="Text 23"/>
          <p:cNvSpPr txBox="1"/>
          <p:nvPr/>
        </p:nvSpPr>
        <p:spPr>
          <a:xfrm>
            <a:off x="6428232" y="239572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Unrelated questions declined first</a:t>
            </a:r>
            <a:endParaRPr lang="en-US" sz="1150" dirty="0"/>
          </a:p>
        </p:txBody>
      </p:sp>
      <p:sp>
        <p:nvSpPr>
          <p:cNvPr id="30" name="Shape 24"/>
          <p:cNvSpPr/>
          <p:nvPr/>
        </p:nvSpPr>
        <p:spPr>
          <a:xfrm>
            <a:off x="8823960" y="1938528"/>
            <a:ext cx="182880" cy="292608"/>
          </a:xfrm>
          <a:prstGeom prst="rightArrow">
            <a:avLst/>
          </a:prstGeom>
          <a:solidFill>
            <a:srgbClr val="F2A900"/>
          </a:solidFill>
          <a:ln w="12700">
            <a:solidFill>
              <a:srgbClr val="F2A900"/>
            </a:solidFill>
            <a:prstDash val="solid"/>
          </a:ln>
        </p:spPr>
        <p:txBody>
          <a:bodyPr/>
          <a:lstStyle/>
          <a:p>
            <a:endParaRPr lang="en-NZ"/>
          </a:p>
        </p:txBody>
      </p:sp>
      <p:sp>
        <p:nvSpPr>
          <p:cNvPr id="31" name="Shape 25"/>
          <p:cNvSpPr/>
          <p:nvPr/>
        </p:nvSpPr>
        <p:spPr>
          <a:xfrm>
            <a:off x="9025128" y="137160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2" name="Shape 26"/>
          <p:cNvSpPr/>
          <p:nvPr/>
        </p:nvSpPr>
        <p:spPr>
          <a:xfrm>
            <a:off x="9253728" y="1536192"/>
            <a:ext cx="502920" cy="502920"/>
          </a:xfrm>
          <a:prstGeom prst="ellipse">
            <a:avLst/>
          </a:prstGeom>
          <a:solidFill>
            <a:srgbClr val="2E75B6"/>
          </a:solidFill>
          <a:ln w="12700">
            <a:solidFill>
              <a:srgbClr val="2E75B6"/>
            </a:solidFill>
            <a:prstDash val="solid"/>
          </a:ln>
        </p:spPr>
        <p:txBody>
          <a:bodyPr/>
          <a:lstStyle/>
          <a:p>
            <a:endParaRPr lang="en-NZ"/>
          </a:p>
        </p:txBody>
      </p:sp>
      <p:pic>
        <p:nvPicPr>
          <p:cNvPr id="33" name="Image 4" descr="preencoded.png"/>
          <p:cNvPicPr>
            <a:picLocks noChangeAspect="1"/>
          </p:cNvPicPr>
          <p:nvPr/>
        </p:nvPicPr>
        <p:blipFill>
          <a:blip r:embed="rId7"/>
          <a:stretch>
            <a:fillRect/>
          </a:stretch>
        </p:blipFill>
        <p:spPr>
          <a:xfrm>
            <a:off x="9379457" y="1661922"/>
            <a:ext cx="251460" cy="251460"/>
          </a:xfrm>
          <a:prstGeom prst="rect">
            <a:avLst/>
          </a:prstGeom>
        </p:spPr>
      </p:pic>
      <p:sp>
        <p:nvSpPr>
          <p:cNvPr id="34" name="Text 27"/>
          <p:cNvSpPr txBox="1"/>
          <p:nvPr/>
        </p:nvSpPr>
        <p:spPr>
          <a:xfrm>
            <a:off x="10853928" y="153619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04</a:t>
            </a:r>
            <a:endParaRPr lang="en-US" sz="2200" dirty="0"/>
          </a:p>
        </p:txBody>
      </p:sp>
      <p:sp>
        <p:nvSpPr>
          <p:cNvPr id="35" name="Text 28"/>
          <p:cNvSpPr txBox="1"/>
          <p:nvPr/>
        </p:nvSpPr>
        <p:spPr>
          <a:xfrm>
            <a:off x="9253728" y="2103120"/>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Tool loop</a:t>
            </a:r>
            <a:endParaRPr lang="en-US" sz="1500" dirty="0"/>
          </a:p>
        </p:txBody>
      </p:sp>
      <p:sp>
        <p:nvSpPr>
          <p:cNvPr id="36" name="Text 29"/>
          <p:cNvSpPr txBox="1"/>
          <p:nvPr/>
        </p:nvSpPr>
        <p:spPr>
          <a:xfrm>
            <a:off x="9253728" y="239572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Model picks tools, ≤10 rounds; read-only SQL</a:t>
            </a:r>
            <a:endParaRPr lang="en-US" sz="1150" dirty="0"/>
          </a:p>
        </p:txBody>
      </p:sp>
      <p:sp>
        <p:nvSpPr>
          <p:cNvPr id="37" name="Shape 30"/>
          <p:cNvSpPr/>
          <p:nvPr/>
        </p:nvSpPr>
        <p:spPr>
          <a:xfrm>
            <a:off x="9025128" y="301752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8" name="Shape 31"/>
          <p:cNvSpPr/>
          <p:nvPr/>
        </p:nvSpPr>
        <p:spPr>
          <a:xfrm>
            <a:off x="9253728" y="3182112"/>
            <a:ext cx="502920" cy="502920"/>
          </a:xfrm>
          <a:prstGeom prst="ellipse">
            <a:avLst/>
          </a:prstGeom>
          <a:solidFill>
            <a:srgbClr val="2E75B6"/>
          </a:solidFill>
          <a:ln w="12700">
            <a:solidFill>
              <a:srgbClr val="2E75B6"/>
            </a:solidFill>
            <a:prstDash val="solid"/>
          </a:ln>
        </p:spPr>
        <p:txBody>
          <a:bodyPr/>
          <a:lstStyle/>
          <a:p>
            <a:endParaRPr lang="en-NZ"/>
          </a:p>
        </p:txBody>
      </p:sp>
      <p:pic>
        <p:nvPicPr>
          <p:cNvPr id="39" name="Image 5" descr="preencoded.png"/>
          <p:cNvPicPr>
            <a:picLocks noChangeAspect="1"/>
          </p:cNvPicPr>
          <p:nvPr/>
        </p:nvPicPr>
        <p:blipFill>
          <a:blip r:embed="rId8"/>
          <a:stretch>
            <a:fillRect/>
          </a:stretch>
        </p:blipFill>
        <p:spPr>
          <a:xfrm>
            <a:off x="9379457" y="3307842"/>
            <a:ext cx="251460" cy="251460"/>
          </a:xfrm>
          <a:prstGeom prst="rect">
            <a:avLst/>
          </a:prstGeom>
        </p:spPr>
      </p:pic>
      <p:sp>
        <p:nvSpPr>
          <p:cNvPr id="40" name="Text 32"/>
          <p:cNvSpPr txBox="1"/>
          <p:nvPr/>
        </p:nvSpPr>
        <p:spPr>
          <a:xfrm>
            <a:off x="10853928" y="318211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05</a:t>
            </a:r>
            <a:endParaRPr lang="en-US" sz="2200" dirty="0"/>
          </a:p>
        </p:txBody>
      </p:sp>
      <p:sp>
        <p:nvSpPr>
          <p:cNvPr id="41" name="Text 33"/>
          <p:cNvSpPr txBox="1"/>
          <p:nvPr/>
        </p:nvSpPr>
        <p:spPr>
          <a:xfrm>
            <a:off x="9253728" y="3749039"/>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Draft</a:t>
            </a:r>
            <a:endParaRPr lang="en-US" sz="1500" dirty="0"/>
          </a:p>
        </p:txBody>
      </p:sp>
      <p:sp>
        <p:nvSpPr>
          <p:cNvPr id="42" name="Text 34"/>
          <p:cNvSpPr txBox="1"/>
          <p:nvPr/>
        </p:nvSpPr>
        <p:spPr>
          <a:xfrm>
            <a:off x="9253728" y="404164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Starts with a Scope line: stores, metric, dates</a:t>
            </a:r>
            <a:endParaRPr lang="en-US" sz="1150" dirty="0"/>
          </a:p>
        </p:txBody>
      </p:sp>
      <p:sp>
        <p:nvSpPr>
          <p:cNvPr id="43" name="Shape 35"/>
          <p:cNvSpPr/>
          <p:nvPr/>
        </p:nvSpPr>
        <p:spPr>
          <a:xfrm>
            <a:off x="8823960" y="3584448"/>
            <a:ext cx="182880" cy="292608"/>
          </a:xfrm>
          <a:prstGeom prst="leftArrow">
            <a:avLst/>
          </a:prstGeom>
          <a:solidFill>
            <a:srgbClr val="F2A900"/>
          </a:solidFill>
          <a:ln w="12700">
            <a:solidFill>
              <a:srgbClr val="F2A900"/>
            </a:solidFill>
            <a:prstDash val="solid"/>
          </a:ln>
        </p:spPr>
        <p:txBody>
          <a:bodyPr/>
          <a:lstStyle/>
          <a:p>
            <a:endParaRPr lang="en-NZ"/>
          </a:p>
        </p:txBody>
      </p:sp>
      <p:sp>
        <p:nvSpPr>
          <p:cNvPr id="44" name="Shape 36"/>
          <p:cNvSpPr/>
          <p:nvPr/>
        </p:nvSpPr>
        <p:spPr>
          <a:xfrm>
            <a:off x="6199632" y="301752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45" name="Shape 37"/>
          <p:cNvSpPr/>
          <p:nvPr/>
        </p:nvSpPr>
        <p:spPr>
          <a:xfrm>
            <a:off x="6428232" y="3182112"/>
            <a:ext cx="502920" cy="502920"/>
          </a:xfrm>
          <a:prstGeom prst="ellipse">
            <a:avLst/>
          </a:prstGeom>
          <a:solidFill>
            <a:srgbClr val="C55A11"/>
          </a:solidFill>
          <a:ln w="12700">
            <a:solidFill>
              <a:srgbClr val="C55A11"/>
            </a:solidFill>
            <a:prstDash val="solid"/>
          </a:ln>
        </p:spPr>
        <p:txBody>
          <a:bodyPr/>
          <a:lstStyle/>
          <a:p>
            <a:endParaRPr lang="en-NZ"/>
          </a:p>
        </p:txBody>
      </p:sp>
      <p:pic>
        <p:nvPicPr>
          <p:cNvPr id="46" name="Image 6" descr="preencoded.png"/>
          <p:cNvPicPr>
            <a:picLocks noChangeAspect="1"/>
          </p:cNvPicPr>
          <p:nvPr/>
        </p:nvPicPr>
        <p:blipFill>
          <a:blip r:embed="rId9"/>
          <a:stretch>
            <a:fillRect/>
          </a:stretch>
        </p:blipFill>
        <p:spPr>
          <a:xfrm>
            <a:off x="6553962" y="3307842"/>
            <a:ext cx="251460" cy="251460"/>
          </a:xfrm>
          <a:prstGeom prst="rect">
            <a:avLst/>
          </a:prstGeom>
        </p:spPr>
      </p:pic>
      <p:sp>
        <p:nvSpPr>
          <p:cNvPr id="47" name="Text 38"/>
          <p:cNvSpPr txBox="1"/>
          <p:nvPr/>
        </p:nvSpPr>
        <p:spPr>
          <a:xfrm>
            <a:off x="8028432" y="318211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06</a:t>
            </a:r>
            <a:endParaRPr lang="en-US" sz="2200" dirty="0"/>
          </a:p>
        </p:txBody>
      </p:sp>
      <p:sp>
        <p:nvSpPr>
          <p:cNvPr id="48" name="Text 39"/>
          <p:cNvSpPr txBox="1"/>
          <p:nvPr/>
        </p:nvSpPr>
        <p:spPr>
          <a:xfrm>
            <a:off x="6428232" y="3749039"/>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Verify</a:t>
            </a:r>
            <a:endParaRPr lang="en-US" sz="1500" dirty="0"/>
          </a:p>
        </p:txBody>
      </p:sp>
      <p:sp>
        <p:nvSpPr>
          <p:cNvPr id="49" name="Text 40"/>
          <p:cNvSpPr txBox="1"/>
          <p:nvPr/>
        </p:nvSpPr>
        <p:spPr>
          <a:xfrm>
            <a:off x="6428232" y="404164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Figures, codes, scope, maths; ≤2 rewrites</a:t>
            </a:r>
            <a:endParaRPr lang="en-US" sz="1150" dirty="0"/>
          </a:p>
        </p:txBody>
      </p:sp>
      <p:sp>
        <p:nvSpPr>
          <p:cNvPr id="50" name="Shape 41"/>
          <p:cNvSpPr/>
          <p:nvPr/>
        </p:nvSpPr>
        <p:spPr>
          <a:xfrm>
            <a:off x="5998464" y="3584448"/>
            <a:ext cx="182880" cy="292608"/>
          </a:xfrm>
          <a:prstGeom prst="leftArrow">
            <a:avLst/>
          </a:prstGeom>
          <a:solidFill>
            <a:srgbClr val="F2A900"/>
          </a:solidFill>
          <a:ln w="12700">
            <a:solidFill>
              <a:srgbClr val="F2A900"/>
            </a:solidFill>
            <a:prstDash val="solid"/>
          </a:ln>
        </p:spPr>
        <p:txBody>
          <a:bodyPr/>
          <a:lstStyle/>
          <a:p>
            <a:endParaRPr lang="en-NZ"/>
          </a:p>
        </p:txBody>
      </p:sp>
      <p:sp>
        <p:nvSpPr>
          <p:cNvPr id="51" name="Shape 42"/>
          <p:cNvSpPr/>
          <p:nvPr/>
        </p:nvSpPr>
        <p:spPr>
          <a:xfrm>
            <a:off x="3374136" y="301752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52" name="Shape 43"/>
          <p:cNvSpPr/>
          <p:nvPr/>
        </p:nvSpPr>
        <p:spPr>
          <a:xfrm>
            <a:off x="3602736" y="3182112"/>
            <a:ext cx="502920" cy="502920"/>
          </a:xfrm>
          <a:prstGeom prst="ellipse">
            <a:avLst/>
          </a:prstGeom>
          <a:solidFill>
            <a:srgbClr val="2E75B6"/>
          </a:solidFill>
          <a:ln w="12700">
            <a:solidFill>
              <a:srgbClr val="2E75B6"/>
            </a:solidFill>
            <a:prstDash val="solid"/>
          </a:ln>
        </p:spPr>
        <p:txBody>
          <a:bodyPr/>
          <a:lstStyle/>
          <a:p>
            <a:endParaRPr lang="en-NZ"/>
          </a:p>
        </p:txBody>
      </p:sp>
      <p:pic>
        <p:nvPicPr>
          <p:cNvPr id="53" name="Image 7" descr="preencoded.png"/>
          <p:cNvPicPr>
            <a:picLocks noChangeAspect="1"/>
          </p:cNvPicPr>
          <p:nvPr/>
        </p:nvPicPr>
        <p:blipFill>
          <a:blip r:embed="rId10"/>
          <a:stretch>
            <a:fillRect/>
          </a:stretch>
        </p:blipFill>
        <p:spPr>
          <a:xfrm>
            <a:off x="3728465" y="3307842"/>
            <a:ext cx="251460" cy="251460"/>
          </a:xfrm>
          <a:prstGeom prst="rect">
            <a:avLst/>
          </a:prstGeom>
        </p:spPr>
      </p:pic>
      <p:sp>
        <p:nvSpPr>
          <p:cNvPr id="54" name="Text 44"/>
          <p:cNvSpPr txBox="1"/>
          <p:nvPr/>
        </p:nvSpPr>
        <p:spPr>
          <a:xfrm>
            <a:off x="5202936" y="318211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07</a:t>
            </a:r>
            <a:endParaRPr lang="en-US" sz="2200" dirty="0"/>
          </a:p>
        </p:txBody>
      </p:sp>
      <p:sp>
        <p:nvSpPr>
          <p:cNvPr id="55" name="Text 45"/>
          <p:cNvSpPr txBox="1"/>
          <p:nvPr/>
        </p:nvSpPr>
        <p:spPr>
          <a:xfrm>
            <a:off x="3602736" y="3749039"/>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Deliver</a:t>
            </a:r>
            <a:endParaRPr lang="en-US" sz="1500" dirty="0"/>
          </a:p>
        </p:txBody>
      </p:sp>
      <p:sp>
        <p:nvSpPr>
          <p:cNvPr id="56" name="Text 46"/>
          <p:cNvSpPr txBox="1"/>
          <p:nvPr/>
        </p:nvSpPr>
        <p:spPr>
          <a:xfrm>
            <a:off x="3602736" y="404164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Text, tables, charts, CSV / PDF; drafts only</a:t>
            </a:r>
            <a:endParaRPr lang="en-US" sz="1150" dirty="0"/>
          </a:p>
        </p:txBody>
      </p:sp>
      <p:sp>
        <p:nvSpPr>
          <p:cNvPr id="57" name="Shape 47"/>
          <p:cNvSpPr/>
          <p:nvPr/>
        </p:nvSpPr>
        <p:spPr>
          <a:xfrm>
            <a:off x="3172968" y="3584448"/>
            <a:ext cx="182880" cy="292608"/>
          </a:xfrm>
          <a:prstGeom prst="leftArrow">
            <a:avLst/>
          </a:prstGeom>
          <a:solidFill>
            <a:srgbClr val="F2A900"/>
          </a:solidFill>
          <a:ln w="12700">
            <a:solidFill>
              <a:srgbClr val="F2A900"/>
            </a:solidFill>
            <a:prstDash val="solid"/>
          </a:ln>
        </p:spPr>
        <p:txBody>
          <a:bodyPr/>
          <a:lstStyle/>
          <a:p>
            <a:endParaRPr lang="en-NZ"/>
          </a:p>
        </p:txBody>
      </p:sp>
      <p:sp>
        <p:nvSpPr>
          <p:cNvPr id="58" name="Shape 48"/>
          <p:cNvSpPr/>
          <p:nvPr/>
        </p:nvSpPr>
        <p:spPr>
          <a:xfrm>
            <a:off x="548640" y="301752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59" name="Shape 49"/>
          <p:cNvSpPr/>
          <p:nvPr/>
        </p:nvSpPr>
        <p:spPr>
          <a:xfrm>
            <a:off x="777240" y="3182112"/>
            <a:ext cx="502920" cy="502920"/>
          </a:xfrm>
          <a:prstGeom prst="ellipse">
            <a:avLst/>
          </a:prstGeom>
          <a:solidFill>
            <a:srgbClr val="2E75B6"/>
          </a:solidFill>
          <a:ln w="12700">
            <a:solidFill>
              <a:srgbClr val="2E75B6"/>
            </a:solidFill>
            <a:prstDash val="solid"/>
          </a:ln>
        </p:spPr>
        <p:txBody>
          <a:bodyPr/>
          <a:lstStyle/>
          <a:p>
            <a:endParaRPr lang="en-NZ"/>
          </a:p>
        </p:txBody>
      </p:sp>
      <p:pic>
        <p:nvPicPr>
          <p:cNvPr id="60" name="Image 8" descr="preencoded.png"/>
          <p:cNvPicPr>
            <a:picLocks noChangeAspect="1"/>
          </p:cNvPicPr>
          <p:nvPr/>
        </p:nvPicPr>
        <p:blipFill>
          <a:blip r:embed="rId11"/>
          <a:stretch>
            <a:fillRect/>
          </a:stretch>
        </p:blipFill>
        <p:spPr>
          <a:xfrm>
            <a:off x="902970" y="3307842"/>
            <a:ext cx="251460" cy="251460"/>
          </a:xfrm>
          <a:prstGeom prst="rect">
            <a:avLst/>
          </a:prstGeom>
        </p:spPr>
      </p:pic>
      <p:sp>
        <p:nvSpPr>
          <p:cNvPr id="61" name="Text 50"/>
          <p:cNvSpPr txBox="1"/>
          <p:nvPr/>
        </p:nvSpPr>
        <p:spPr>
          <a:xfrm>
            <a:off x="2377440" y="318211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08</a:t>
            </a:r>
            <a:endParaRPr lang="en-US" sz="2200" dirty="0"/>
          </a:p>
        </p:txBody>
      </p:sp>
      <p:sp>
        <p:nvSpPr>
          <p:cNvPr id="62" name="Text 51"/>
          <p:cNvSpPr txBox="1"/>
          <p:nvPr/>
        </p:nvSpPr>
        <p:spPr>
          <a:xfrm>
            <a:off x="777240" y="3749039"/>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Audit</a:t>
            </a:r>
            <a:endParaRPr lang="en-US" sz="1500" dirty="0"/>
          </a:p>
        </p:txBody>
      </p:sp>
      <p:sp>
        <p:nvSpPr>
          <p:cNvPr id="63" name="Text 52"/>
          <p:cNvSpPr txBox="1"/>
          <p:nvPr/>
        </p:nvSpPr>
        <p:spPr>
          <a:xfrm>
            <a:off x="777240" y="404164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Question, answer, tools and checks logged</a:t>
            </a:r>
            <a:endParaRPr lang="en-US" sz="1150" dirty="0"/>
          </a:p>
        </p:txBody>
      </p:sp>
      <p:sp>
        <p:nvSpPr>
          <p:cNvPr id="64" name="Shape 53"/>
          <p:cNvSpPr/>
          <p:nvPr/>
        </p:nvSpPr>
        <p:spPr>
          <a:xfrm>
            <a:off x="10181844" y="2807208"/>
            <a:ext cx="274320" cy="201168"/>
          </a:xfrm>
          <a:prstGeom prst="downArrow">
            <a:avLst/>
          </a:prstGeom>
          <a:solidFill>
            <a:srgbClr val="F2A900"/>
          </a:solidFill>
          <a:ln w="12700">
            <a:solidFill>
              <a:srgbClr val="F2A900"/>
            </a:solidFill>
            <a:prstDash val="solid"/>
          </a:ln>
        </p:spPr>
        <p:txBody>
          <a:bodyPr/>
          <a:lstStyle/>
          <a:p>
            <a:endParaRPr lang="en-NZ"/>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Evaluation results</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Final run 25/10/2026 · rerun after every change</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Ranjith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Implementation Lead</a:t>
            </a:r>
            <a:endParaRPr lang="en-US" sz="1200" dirty="0"/>
          </a:p>
        </p:txBody>
      </p:sp>
      <p:sp>
        <p:nvSpPr>
          <p:cNvPr id="8" name="Text 5"/>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12</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graphicFrame>
        <p:nvGraphicFramePr>
          <p:cNvPr id="10" name="Chart 0"/>
          <p:cNvGraphicFramePr/>
          <p:nvPr>
            <p:extLst>
              <p:ext uri="{D42A27DB-BD31-4B8C-83A1-F6EECF244321}">
                <p14:modId xmlns:p14="http://schemas.microsoft.com/office/powerpoint/2010/main" val="3882169217"/>
              </p:ext>
            </p:extLst>
          </p:nvPr>
        </p:nvGraphicFramePr>
        <p:xfrm>
          <a:off x="548640" y="1371600"/>
          <a:ext cx="420624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txBox="1"/>
          <p:nvPr/>
        </p:nvSpPr>
        <p:spPr>
          <a:xfrm>
            <a:off x="548640" y="2788920"/>
            <a:ext cx="4206240" cy="640080"/>
          </a:xfrm>
          <a:prstGeom prst="rect">
            <a:avLst/>
          </a:prstGeom>
          <a:noFill/>
          <a:ln/>
        </p:spPr>
        <p:txBody>
          <a:bodyPr wrap="square" lIns="0" tIns="0" rIns="0" bIns="0" rtlCol="0" anchor="t"/>
          <a:lstStyle/>
          <a:p>
            <a:pPr marL="0" indent="0" algn="ctr">
              <a:buNone/>
            </a:pPr>
            <a:r>
              <a:rPr lang="en-US" sz="3400" b="1" dirty="0">
                <a:solidFill>
                  <a:srgbClr val="1F3864"/>
                </a:solidFill>
                <a:latin typeface="Arial" pitchFamily="34" charset="0"/>
                <a:ea typeface="Arial" pitchFamily="34" charset="-122"/>
                <a:cs typeface="Arial" pitchFamily="34" charset="-120"/>
              </a:rPr>
              <a:t>73 / 75</a:t>
            </a:r>
            <a:endParaRPr lang="en-US" sz="3400" dirty="0"/>
          </a:p>
        </p:txBody>
      </p:sp>
      <p:sp>
        <p:nvSpPr>
          <p:cNvPr id="12" name="Text 8"/>
          <p:cNvSpPr txBox="1"/>
          <p:nvPr/>
        </p:nvSpPr>
        <p:spPr>
          <a:xfrm>
            <a:off x="548640" y="3383280"/>
            <a:ext cx="4206240" cy="365760"/>
          </a:xfrm>
          <a:prstGeom prst="rect">
            <a:avLst/>
          </a:prstGeom>
          <a:noFill/>
          <a:ln/>
        </p:spPr>
        <p:txBody>
          <a:bodyPr wrap="square" lIns="0" tIns="0" rIns="0" bIns="0" rtlCol="0" anchor="t"/>
          <a:lstStyle/>
          <a:p>
            <a:pPr marL="0" indent="0" algn="ctr">
              <a:buNone/>
            </a:pPr>
            <a:r>
              <a:rPr lang="en-US" sz="1400" dirty="0">
                <a:solidFill>
                  <a:srgbClr val="5F6B7A"/>
                </a:solidFill>
                <a:latin typeface="Arial" pitchFamily="34" charset="0"/>
                <a:ea typeface="Arial" pitchFamily="34" charset="-122"/>
                <a:cs typeface="Arial" pitchFamily="34" charset="-120"/>
              </a:rPr>
              <a:t>97.3% passed</a:t>
            </a:r>
            <a:endParaRPr lang="en-US" sz="1400" dirty="0"/>
          </a:p>
        </p:txBody>
      </p:sp>
      <p:sp>
        <p:nvSpPr>
          <p:cNvPr id="13" name="Shape 9"/>
          <p:cNvSpPr/>
          <p:nvPr/>
        </p:nvSpPr>
        <p:spPr>
          <a:xfrm>
            <a:off x="5074920" y="1371600"/>
            <a:ext cx="2057400" cy="1371600"/>
          </a:xfrm>
          <a:prstGeom prst="roundRect">
            <a:avLst>
              <a:gd name="adj" fmla="val 6667"/>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4" name="Text 10"/>
          <p:cNvSpPr txBox="1"/>
          <p:nvPr/>
        </p:nvSpPr>
        <p:spPr>
          <a:xfrm>
            <a:off x="5257800" y="1463040"/>
            <a:ext cx="1737360" cy="502920"/>
          </a:xfrm>
          <a:prstGeom prst="rect">
            <a:avLst/>
          </a:prstGeom>
          <a:noFill/>
          <a:ln/>
        </p:spPr>
        <p:txBody>
          <a:bodyPr wrap="square" lIns="0" tIns="0" rIns="0" bIns="0" rtlCol="0" anchor="t"/>
          <a:lstStyle/>
          <a:p>
            <a:pPr marL="0" indent="0">
              <a:buNone/>
            </a:pPr>
            <a:r>
              <a:rPr lang="en-US" sz="2600" b="1" dirty="0">
                <a:solidFill>
                  <a:srgbClr val="548235"/>
                </a:solidFill>
                <a:latin typeface="Arial" pitchFamily="34" charset="0"/>
                <a:ea typeface="Arial" pitchFamily="34" charset="-122"/>
                <a:cs typeface="Arial" pitchFamily="34" charset="-120"/>
              </a:rPr>
              <a:t>0</a:t>
            </a:r>
            <a:endParaRPr lang="en-US" sz="2800" dirty="0"/>
          </a:p>
        </p:txBody>
      </p:sp>
      <p:sp>
        <p:nvSpPr>
          <p:cNvPr id="15" name="Text 11"/>
          <p:cNvSpPr txBox="1"/>
          <p:nvPr/>
        </p:nvSpPr>
        <p:spPr>
          <a:xfrm>
            <a:off x="5257800" y="1975104"/>
            <a:ext cx="1783080" cy="411480"/>
          </a:xfrm>
          <a:prstGeom prst="rect">
            <a:avLst/>
          </a:prstGeom>
          <a:noFill/>
          <a:ln/>
        </p:spPr>
        <p:txBody>
          <a:bodyPr wrap="square" lIns="0" tIns="0" rIns="0" bIns="0" rtlCol="0" anchor="t"/>
          <a:lstStyle/>
          <a:p>
            <a:pPr marL="0" indent="0">
              <a:buNone/>
            </a:pPr>
            <a:r>
              <a:rPr lang="en-US" sz="1150" b="1" dirty="0">
                <a:solidFill>
                  <a:srgbClr val="222B3A"/>
                </a:solidFill>
                <a:latin typeface="Arial" pitchFamily="34" charset="0"/>
                <a:ea typeface="Arial" pitchFamily="34" charset="-122"/>
                <a:cs typeface="Arial" pitchFamily="34" charset="-120"/>
              </a:rPr>
              <a:t>invented products or SKUs</a:t>
            </a:r>
            <a:endParaRPr lang="en-US" sz="1200" dirty="0"/>
          </a:p>
        </p:txBody>
      </p:sp>
      <p:sp>
        <p:nvSpPr>
          <p:cNvPr id="16" name="Text 12"/>
          <p:cNvSpPr txBox="1"/>
          <p:nvPr/>
        </p:nvSpPr>
        <p:spPr>
          <a:xfrm>
            <a:off x="5257800" y="2377440"/>
            <a:ext cx="1783080" cy="32004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29-answer grounding audit</a:t>
            </a:r>
            <a:endParaRPr lang="en-US" sz="1000" dirty="0"/>
          </a:p>
        </p:txBody>
      </p:sp>
      <p:sp>
        <p:nvSpPr>
          <p:cNvPr id="17" name="Shape 13"/>
          <p:cNvSpPr/>
          <p:nvPr/>
        </p:nvSpPr>
        <p:spPr>
          <a:xfrm>
            <a:off x="7296912" y="1371600"/>
            <a:ext cx="2057400" cy="1371600"/>
          </a:xfrm>
          <a:prstGeom prst="roundRect">
            <a:avLst>
              <a:gd name="adj" fmla="val 6667"/>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8" name="Text 14"/>
          <p:cNvSpPr txBox="1"/>
          <p:nvPr/>
        </p:nvSpPr>
        <p:spPr>
          <a:xfrm>
            <a:off x="7479792" y="1463040"/>
            <a:ext cx="1737360" cy="502920"/>
          </a:xfrm>
          <a:prstGeom prst="rect">
            <a:avLst/>
          </a:prstGeom>
          <a:noFill/>
          <a:ln/>
        </p:spPr>
        <p:txBody>
          <a:bodyPr wrap="square" lIns="0" tIns="0" rIns="0" bIns="0" rtlCol="0" anchor="t"/>
          <a:lstStyle/>
          <a:p>
            <a:pPr marL="0" indent="0">
              <a:buNone/>
            </a:pPr>
            <a:r>
              <a:rPr lang="en-US" sz="2600" b="1" dirty="0">
                <a:solidFill>
                  <a:srgbClr val="548235"/>
                </a:solidFill>
                <a:latin typeface="Arial" pitchFamily="34" charset="0"/>
                <a:ea typeface="Arial" pitchFamily="34" charset="-122"/>
                <a:cs typeface="Arial" pitchFamily="34" charset="-120"/>
              </a:rPr>
              <a:t>0</a:t>
            </a:r>
            <a:endParaRPr lang="en-US" sz="2800" dirty="0"/>
          </a:p>
        </p:txBody>
      </p:sp>
      <p:sp>
        <p:nvSpPr>
          <p:cNvPr id="19" name="Text 15"/>
          <p:cNvSpPr txBox="1"/>
          <p:nvPr/>
        </p:nvSpPr>
        <p:spPr>
          <a:xfrm>
            <a:off x="7479792" y="1975104"/>
            <a:ext cx="1783080" cy="411480"/>
          </a:xfrm>
          <a:prstGeom prst="rect">
            <a:avLst/>
          </a:prstGeom>
          <a:noFill/>
          <a:ln/>
        </p:spPr>
        <p:txBody>
          <a:bodyPr wrap="square" lIns="0" tIns="0" rIns="0" bIns="0" rtlCol="0" anchor="t"/>
          <a:lstStyle/>
          <a:p>
            <a:pPr marL="0" indent="0">
              <a:buNone/>
            </a:pPr>
            <a:r>
              <a:rPr lang="en-US" sz="1150" b="1" dirty="0">
                <a:solidFill>
                  <a:srgbClr val="222B3A"/>
                </a:solidFill>
                <a:latin typeface="Arial" pitchFamily="34" charset="0"/>
                <a:ea typeface="Arial" pitchFamily="34" charset="-122"/>
                <a:cs typeface="Arial" pitchFamily="34" charset="-120"/>
              </a:rPr>
              <a:t>unsupported large figures</a:t>
            </a:r>
            <a:endParaRPr lang="en-US" sz="1200" dirty="0"/>
          </a:p>
        </p:txBody>
      </p:sp>
      <p:sp>
        <p:nvSpPr>
          <p:cNvPr id="20" name="Text 16"/>
          <p:cNvSpPr txBox="1"/>
          <p:nvPr/>
        </p:nvSpPr>
        <p:spPr>
          <a:xfrm>
            <a:off x="7479792" y="2377440"/>
            <a:ext cx="1783080" cy="32004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same audit</a:t>
            </a:r>
            <a:endParaRPr lang="en-US" sz="1000" dirty="0"/>
          </a:p>
        </p:txBody>
      </p:sp>
      <p:sp>
        <p:nvSpPr>
          <p:cNvPr id="21" name="Shape 17"/>
          <p:cNvSpPr/>
          <p:nvPr/>
        </p:nvSpPr>
        <p:spPr>
          <a:xfrm>
            <a:off x="9518904" y="1371600"/>
            <a:ext cx="2057400" cy="1371600"/>
          </a:xfrm>
          <a:prstGeom prst="roundRect">
            <a:avLst>
              <a:gd name="adj" fmla="val 6667"/>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2" name="Text 18"/>
          <p:cNvSpPr txBox="1"/>
          <p:nvPr/>
        </p:nvSpPr>
        <p:spPr>
          <a:xfrm>
            <a:off x="9701784" y="1463040"/>
            <a:ext cx="1737360" cy="502920"/>
          </a:xfrm>
          <a:prstGeom prst="rect">
            <a:avLst/>
          </a:prstGeom>
          <a:noFill/>
          <a:ln/>
        </p:spPr>
        <p:txBody>
          <a:bodyPr wrap="square" lIns="0" tIns="0" rIns="0" bIns="0" rtlCol="0" anchor="t"/>
          <a:lstStyle/>
          <a:p>
            <a:pPr marL="0" indent="0">
              <a:buNone/>
            </a:pPr>
            <a:r>
              <a:rPr lang="en-US" sz="2600" b="1" dirty="0">
                <a:solidFill>
                  <a:srgbClr val="1F3864"/>
                </a:solidFill>
                <a:latin typeface="Arial" pitchFamily="34" charset="0"/>
                <a:ea typeface="Arial" pitchFamily="34" charset="-122"/>
                <a:cs typeface="Arial" pitchFamily="34" charset="-120"/>
              </a:rPr>
              <a:t>~10.5 s</a:t>
            </a:r>
            <a:endParaRPr lang="en-US" sz="2800" dirty="0"/>
          </a:p>
        </p:txBody>
      </p:sp>
      <p:sp>
        <p:nvSpPr>
          <p:cNvPr id="23" name="Text 19"/>
          <p:cNvSpPr txBox="1"/>
          <p:nvPr/>
        </p:nvSpPr>
        <p:spPr>
          <a:xfrm>
            <a:off x="9701784" y="1975104"/>
            <a:ext cx="1783080" cy="411480"/>
          </a:xfrm>
          <a:prstGeom prst="rect">
            <a:avLst/>
          </a:prstGeom>
          <a:noFill/>
          <a:ln/>
        </p:spPr>
        <p:txBody>
          <a:bodyPr wrap="square" lIns="0" tIns="0" rIns="0" bIns="0" rtlCol="0" anchor="t"/>
          <a:lstStyle/>
          <a:p>
            <a:pPr marL="0" indent="0">
              <a:buNone/>
            </a:pPr>
            <a:r>
              <a:rPr lang="en-US" sz="1150" b="1" dirty="0">
                <a:solidFill>
                  <a:srgbClr val="222B3A"/>
                </a:solidFill>
                <a:latin typeface="Arial" pitchFamily="34" charset="0"/>
                <a:ea typeface="Arial" pitchFamily="34" charset="-122"/>
                <a:cs typeface="Arial" pitchFamily="34" charset="-120"/>
              </a:rPr>
              <a:t>median time per answer</a:t>
            </a:r>
            <a:endParaRPr lang="en-US" sz="1200" dirty="0"/>
          </a:p>
        </p:txBody>
      </p:sp>
      <p:sp>
        <p:nvSpPr>
          <p:cNvPr id="24" name="Text 20"/>
          <p:cNvSpPr txBox="1"/>
          <p:nvPr/>
        </p:nvSpPr>
        <p:spPr>
          <a:xfrm>
            <a:off x="9701784" y="2377440"/>
            <a:ext cx="1783080" cy="32004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gpt-5-mini, low reasoning effort</a:t>
            </a:r>
            <a:endParaRPr lang="en-US" sz="1000" dirty="0"/>
          </a:p>
        </p:txBody>
      </p:sp>
      <p:sp>
        <p:nvSpPr>
          <p:cNvPr id="25" name="Shape 21"/>
          <p:cNvSpPr/>
          <p:nvPr/>
        </p:nvSpPr>
        <p:spPr>
          <a:xfrm>
            <a:off x="5074920" y="2880360"/>
            <a:ext cx="2057400" cy="1371600"/>
          </a:xfrm>
          <a:prstGeom prst="roundRect">
            <a:avLst>
              <a:gd name="adj" fmla="val 6667"/>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6" name="Text 22"/>
          <p:cNvSpPr txBox="1"/>
          <p:nvPr/>
        </p:nvSpPr>
        <p:spPr>
          <a:xfrm>
            <a:off x="5257800" y="2971800"/>
            <a:ext cx="1737360" cy="502920"/>
          </a:xfrm>
          <a:prstGeom prst="rect">
            <a:avLst/>
          </a:prstGeom>
          <a:noFill/>
          <a:ln/>
        </p:spPr>
        <p:txBody>
          <a:bodyPr wrap="square" lIns="0" tIns="0" rIns="0" bIns="0" rtlCol="0" anchor="t"/>
          <a:lstStyle/>
          <a:p>
            <a:pPr marL="0" indent="0">
              <a:buNone/>
            </a:pPr>
            <a:r>
              <a:rPr lang="en-US" sz="2600" b="1" dirty="0">
                <a:solidFill>
                  <a:srgbClr val="1F3864"/>
                </a:solidFill>
                <a:latin typeface="Arial" pitchFamily="34" charset="0"/>
                <a:ea typeface="Arial" pitchFamily="34" charset="-122"/>
                <a:cs typeface="Arial" pitchFamily="34" charset="-120"/>
              </a:rPr>
              <a:t>~$0.007</a:t>
            </a:r>
            <a:endParaRPr lang="en-US" sz="2800" dirty="0"/>
          </a:p>
        </p:txBody>
      </p:sp>
      <p:sp>
        <p:nvSpPr>
          <p:cNvPr id="27" name="Text 23"/>
          <p:cNvSpPr txBox="1"/>
          <p:nvPr/>
        </p:nvSpPr>
        <p:spPr>
          <a:xfrm>
            <a:off x="5257800" y="3483864"/>
            <a:ext cx="1783080" cy="411480"/>
          </a:xfrm>
          <a:prstGeom prst="rect">
            <a:avLst/>
          </a:prstGeom>
          <a:noFill/>
          <a:ln/>
        </p:spPr>
        <p:txBody>
          <a:bodyPr wrap="square" lIns="0" tIns="0" rIns="0" bIns="0" rtlCol="0" anchor="t"/>
          <a:lstStyle/>
          <a:p>
            <a:pPr marL="0" indent="0">
              <a:buNone/>
            </a:pPr>
            <a:r>
              <a:rPr lang="en-US" sz="1150" b="1" dirty="0">
                <a:solidFill>
                  <a:srgbClr val="222B3A"/>
                </a:solidFill>
                <a:latin typeface="Arial" pitchFamily="34" charset="0"/>
                <a:ea typeface="Arial" pitchFamily="34" charset="-122"/>
                <a:cs typeface="Arial" pitchFamily="34" charset="-120"/>
              </a:rPr>
              <a:t>cost per question</a:t>
            </a:r>
            <a:endParaRPr lang="en-US" sz="1200" dirty="0"/>
          </a:p>
        </p:txBody>
      </p:sp>
      <p:sp>
        <p:nvSpPr>
          <p:cNvPr id="28" name="Text 24"/>
          <p:cNvSpPr txBox="1"/>
          <p:nvPr/>
        </p:nvSpPr>
        <p:spPr>
          <a:xfrm>
            <a:off x="5257800" y="3886200"/>
            <a:ext cx="1783080" cy="32004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under one US cent</a:t>
            </a:r>
            <a:endParaRPr lang="en-US" sz="1000" dirty="0"/>
          </a:p>
        </p:txBody>
      </p:sp>
      <p:sp>
        <p:nvSpPr>
          <p:cNvPr id="29" name="Shape 25"/>
          <p:cNvSpPr/>
          <p:nvPr/>
        </p:nvSpPr>
        <p:spPr>
          <a:xfrm>
            <a:off x="7296912" y="2880360"/>
            <a:ext cx="2057400" cy="1371600"/>
          </a:xfrm>
          <a:prstGeom prst="roundRect">
            <a:avLst>
              <a:gd name="adj" fmla="val 6667"/>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0" name="Text 26"/>
          <p:cNvSpPr txBox="1"/>
          <p:nvPr/>
        </p:nvSpPr>
        <p:spPr>
          <a:xfrm>
            <a:off x="7479792" y="2971800"/>
            <a:ext cx="1737360" cy="502920"/>
          </a:xfrm>
          <a:prstGeom prst="rect">
            <a:avLst/>
          </a:prstGeom>
          <a:noFill/>
          <a:ln/>
        </p:spPr>
        <p:txBody>
          <a:bodyPr wrap="square" lIns="0" tIns="0" rIns="0" bIns="0" rtlCol="0" anchor="t"/>
          <a:lstStyle/>
          <a:p>
            <a:pPr marL="0" indent="0">
              <a:buNone/>
            </a:pPr>
            <a:r>
              <a:rPr lang="en-US" sz="2600" b="1" dirty="0">
                <a:solidFill>
                  <a:srgbClr val="1F3864"/>
                </a:solidFill>
                <a:latin typeface="Arial" pitchFamily="34" charset="0"/>
                <a:ea typeface="Arial" pitchFamily="34" charset="-122"/>
                <a:cs typeface="Arial" pitchFamily="34" charset="-120"/>
              </a:rPr>
              <a:t>38</a:t>
            </a:r>
            <a:endParaRPr lang="en-US" sz="2800" dirty="0"/>
          </a:p>
        </p:txBody>
      </p:sp>
      <p:sp>
        <p:nvSpPr>
          <p:cNvPr id="31" name="Text 27"/>
          <p:cNvSpPr txBox="1"/>
          <p:nvPr/>
        </p:nvSpPr>
        <p:spPr>
          <a:xfrm>
            <a:off x="7479792" y="3483864"/>
            <a:ext cx="1783080" cy="411480"/>
          </a:xfrm>
          <a:prstGeom prst="rect">
            <a:avLst/>
          </a:prstGeom>
          <a:noFill/>
          <a:ln/>
        </p:spPr>
        <p:txBody>
          <a:bodyPr wrap="square" lIns="0" tIns="0" rIns="0" bIns="0" rtlCol="0" anchor="t"/>
          <a:lstStyle/>
          <a:p>
            <a:pPr marL="0" indent="0">
              <a:buNone/>
            </a:pPr>
            <a:r>
              <a:rPr lang="en-US" sz="1150" b="1" dirty="0">
                <a:solidFill>
                  <a:srgbClr val="222B3A"/>
                </a:solidFill>
                <a:latin typeface="Arial" pitchFamily="34" charset="0"/>
                <a:ea typeface="Arial" pitchFamily="34" charset="-122"/>
                <a:cs typeface="Arial" pitchFamily="34" charset="-120"/>
              </a:rPr>
              <a:t>unrelated messages</a:t>
            </a:r>
            <a:endParaRPr lang="en-US" sz="1200" dirty="0"/>
          </a:p>
        </p:txBody>
      </p:sp>
      <p:sp>
        <p:nvSpPr>
          <p:cNvPr id="32" name="Text 28"/>
          <p:cNvSpPr txBox="1"/>
          <p:nvPr/>
        </p:nvSpPr>
        <p:spPr>
          <a:xfrm>
            <a:off x="7479792" y="3886200"/>
            <a:ext cx="1783080" cy="32004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used to check the scope gate</a:t>
            </a:r>
            <a:endParaRPr lang="en-US" sz="1000" dirty="0"/>
          </a:p>
        </p:txBody>
      </p:sp>
      <p:sp>
        <p:nvSpPr>
          <p:cNvPr id="33" name="Shape 29"/>
          <p:cNvSpPr/>
          <p:nvPr/>
        </p:nvSpPr>
        <p:spPr>
          <a:xfrm>
            <a:off x="9518904" y="2880360"/>
            <a:ext cx="2057400" cy="1371600"/>
          </a:xfrm>
          <a:prstGeom prst="roundRect">
            <a:avLst>
              <a:gd name="adj" fmla="val 6667"/>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4" name="Text 30"/>
          <p:cNvSpPr txBox="1"/>
          <p:nvPr/>
        </p:nvSpPr>
        <p:spPr>
          <a:xfrm>
            <a:off x="9701784" y="2971800"/>
            <a:ext cx="1737360" cy="502920"/>
          </a:xfrm>
          <a:prstGeom prst="rect">
            <a:avLst/>
          </a:prstGeom>
          <a:noFill/>
          <a:ln/>
        </p:spPr>
        <p:txBody>
          <a:bodyPr wrap="square" lIns="0" tIns="0" rIns="0" bIns="0" rtlCol="0" anchor="t"/>
          <a:lstStyle/>
          <a:p>
            <a:pPr marL="0" indent="0">
              <a:buNone/>
            </a:pPr>
            <a:r>
              <a:rPr lang="en-US" sz="2600" b="1" dirty="0">
                <a:solidFill>
                  <a:srgbClr val="1F3864"/>
                </a:solidFill>
                <a:latin typeface="Arial" pitchFamily="34" charset="0"/>
                <a:ea typeface="Arial" pitchFamily="34" charset="-122"/>
                <a:cs typeface="Arial" pitchFamily="34" charset="-120"/>
              </a:rPr>
              <a:t>75</a:t>
            </a:r>
            <a:endParaRPr lang="en-US" sz="2800" dirty="0"/>
          </a:p>
        </p:txBody>
      </p:sp>
      <p:sp>
        <p:nvSpPr>
          <p:cNvPr id="35" name="Text 31"/>
          <p:cNvSpPr txBox="1"/>
          <p:nvPr/>
        </p:nvSpPr>
        <p:spPr>
          <a:xfrm>
            <a:off x="9701784" y="3483864"/>
            <a:ext cx="1783080" cy="411480"/>
          </a:xfrm>
          <a:prstGeom prst="rect">
            <a:avLst/>
          </a:prstGeom>
          <a:noFill/>
          <a:ln/>
        </p:spPr>
        <p:txBody>
          <a:bodyPr wrap="square" lIns="0" tIns="0" rIns="0" bIns="0" rtlCol="0" anchor="t"/>
          <a:lstStyle/>
          <a:p>
            <a:pPr marL="0" indent="0">
              <a:buNone/>
            </a:pPr>
            <a:r>
              <a:rPr lang="en-US" sz="1150" b="1" dirty="0">
                <a:solidFill>
                  <a:srgbClr val="222B3A"/>
                </a:solidFill>
                <a:latin typeface="Arial" pitchFamily="34" charset="0"/>
                <a:ea typeface="Arial" pitchFamily="34" charset="-122"/>
                <a:cs typeface="Arial" pitchFamily="34" charset="-120"/>
              </a:rPr>
              <a:t>evaluation cases</a:t>
            </a:r>
            <a:endParaRPr lang="en-US" sz="1200" dirty="0"/>
          </a:p>
        </p:txBody>
      </p:sp>
      <p:sp>
        <p:nvSpPr>
          <p:cNvPr id="36" name="Text 32"/>
          <p:cNvSpPr txBox="1"/>
          <p:nvPr/>
        </p:nvSpPr>
        <p:spPr>
          <a:xfrm>
            <a:off x="9701784" y="3886200"/>
            <a:ext cx="1783080" cy="32004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plus grounding audit, repeat-run check</a:t>
            </a:r>
            <a:endParaRPr lang="en-US" sz="1000" dirty="0"/>
          </a:p>
        </p:txBody>
      </p:sp>
      <p:sp>
        <p:nvSpPr>
          <p:cNvPr id="37" name="Shape 33"/>
          <p:cNvSpPr/>
          <p:nvPr/>
        </p:nvSpPr>
        <p:spPr>
          <a:xfrm>
            <a:off x="5074920" y="4572000"/>
            <a:ext cx="3657600" cy="1463040"/>
          </a:xfrm>
          <a:prstGeom prst="roundRect">
            <a:avLst>
              <a:gd name="adj" fmla="val 12000"/>
            </a:avLst>
          </a:prstGeom>
          <a:solidFill>
            <a:srgbClr val="DEEAF6"/>
          </a:solidFill>
          <a:ln w="12700">
            <a:solidFill>
              <a:srgbClr val="DEEAF6"/>
            </a:solidFill>
            <a:prstDash val="solid"/>
          </a:ln>
        </p:spPr>
        <p:txBody>
          <a:bodyPr/>
          <a:lstStyle/>
          <a:p>
            <a:endParaRPr lang="en-NZ"/>
          </a:p>
        </p:txBody>
      </p:sp>
      <p:sp>
        <p:nvSpPr>
          <p:cNvPr id="38" name="Text 34"/>
          <p:cNvSpPr txBox="1"/>
          <p:nvPr/>
        </p:nvSpPr>
        <p:spPr>
          <a:xfrm>
            <a:off x="5257800" y="4572000"/>
            <a:ext cx="3291840" cy="146304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Defect found by testing and fixed: </a:t>
            </a:r>
            <a:r>
              <a:rPr lang="en-US" sz="1200" dirty="0">
                <a:solidFill>
                  <a:srgbClr val="222B3A"/>
                </a:solidFill>
                <a:latin typeface="Arial" pitchFamily="34" charset="0"/>
                <a:ea typeface="Arial" pitchFamily="34" charset="-122"/>
                <a:cs typeface="Arial" pitchFamily="34" charset="-120"/>
              </a:rPr>
              <a:t>on 25/10/2026 the agent returned customer names, emails and phones when asked. It now refuses, rejects those columns and strips them (case T8).</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B8DF2-CC06-89A6-EA89-3E2C3DB37791}"/>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8A6C12BB-F4C5-7D0C-A309-5F87A58E57F4}"/>
              </a:ext>
            </a:extLst>
          </p:cNvPr>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a:extLst>
              <a:ext uri="{FF2B5EF4-FFF2-40B4-BE49-F238E27FC236}">
                <a16:creationId xmlns:a16="http://schemas.microsoft.com/office/drawing/2014/main" id="{96BB7AD4-01CF-98E6-8304-638A43130A62}"/>
              </a:ext>
            </a:extLst>
          </p:cNvPr>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a:extLst>
              <a:ext uri="{FF2B5EF4-FFF2-40B4-BE49-F238E27FC236}">
                <a16:creationId xmlns:a16="http://schemas.microsoft.com/office/drawing/2014/main" id="{C7650C8B-3391-2E97-392F-A5DD27B43A12}"/>
              </a:ext>
            </a:extLst>
          </p:cNvPr>
          <p:cNvPicPr>
            <a:picLocks noChangeAspect="1"/>
          </p:cNvPicPr>
          <p:nvPr/>
        </p:nvPicPr>
        <p:blipFill>
          <a:blip r:embed="rId3"/>
          <a:stretch>
            <a:fillRect/>
          </a:stretch>
        </p:blipFill>
        <p:spPr>
          <a:xfrm>
            <a:off x="9358884" y="589788"/>
            <a:ext cx="228600" cy="228600"/>
          </a:xfrm>
          <a:prstGeom prst="rect">
            <a:avLst/>
          </a:prstGeom>
        </p:spPr>
      </p:pic>
      <p:sp>
        <p:nvSpPr>
          <p:cNvPr id="7" name="Text 4">
            <a:extLst>
              <a:ext uri="{FF2B5EF4-FFF2-40B4-BE49-F238E27FC236}">
                <a16:creationId xmlns:a16="http://schemas.microsoft.com/office/drawing/2014/main" id="{0A5834E7-35F2-80E3-542C-2903D5A9C0CA}"/>
              </a:ext>
            </a:extLst>
          </p:cNvPr>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Ranjith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Implementation Lead</a:t>
            </a:r>
            <a:endParaRPr lang="en-US" sz="1200" dirty="0"/>
          </a:p>
        </p:txBody>
      </p:sp>
      <p:sp>
        <p:nvSpPr>
          <p:cNvPr id="8" name="Text 5">
            <a:extLst>
              <a:ext uri="{FF2B5EF4-FFF2-40B4-BE49-F238E27FC236}">
                <a16:creationId xmlns:a16="http://schemas.microsoft.com/office/drawing/2014/main" id="{A7A3B5C0-2021-83DD-C29B-DB9D0F23C9C1}"/>
              </a:ext>
            </a:extLst>
          </p:cNvPr>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12</a:t>
            </a:r>
            <a:endParaRPr lang="en-US" sz="1000" dirty="0"/>
          </a:p>
        </p:txBody>
      </p:sp>
      <p:sp>
        <p:nvSpPr>
          <p:cNvPr id="9" name="Text 6">
            <a:extLst>
              <a:ext uri="{FF2B5EF4-FFF2-40B4-BE49-F238E27FC236}">
                <a16:creationId xmlns:a16="http://schemas.microsoft.com/office/drawing/2014/main" id="{5AA2885F-44C2-29EC-B5B7-D0143A464C7E}"/>
              </a:ext>
            </a:extLst>
          </p:cNvPr>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pic>
        <p:nvPicPr>
          <p:cNvPr id="40" name="Picture 39">
            <a:extLst>
              <a:ext uri="{FF2B5EF4-FFF2-40B4-BE49-F238E27FC236}">
                <a16:creationId xmlns:a16="http://schemas.microsoft.com/office/drawing/2014/main" id="{2530AF5C-3C93-CBBC-67D1-1935337C0624}"/>
              </a:ext>
            </a:extLst>
          </p:cNvPr>
          <p:cNvPicPr>
            <a:picLocks noChangeAspect="1"/>
          </p:cNvPicPr>
          <p:nvPr/>
        </p:nvPicPr>
        <p:blipFill>
          <a:blip r:embed="rId4"/>
          <a:stretch>
            <a:fillRect/>
          </a:stretch>
        </p:blipFill>
        <p:spPr>
          <a:xfrm>
            <a:off x="548640" y="1046987"/>
            <a:ext cx="10788301" cy="5070591"/>
          </a:xfrm>
          <a:prstGeom prst="rect">
            <a:avLst/>
          </a:prstGeom>
        </p:spPr>
      </p:pic>
      <p:sp>
        <p:nvSpPr>
          <p:cNvPr id="42" name="Text 0">
            <a:extLst>
              <a:ext uri="{FF2B5EF4-FFF2-40B4-BE49-F238E27FC236}">
                <a16:creationId xmlns:a16="http://schemas.microsoft.com/office/drawing/2014/main" id="{FFFBB21B-8550-8025-1B36-A45B18D2209F}"/>
              </a:ext>
            </a:extLst>
          </p:cNvPr>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Agent Portal – Super user</a:t>
            </a:r>
            <a:endParaRPr lang="en-US" sz="2800" dirty="0"/>
          </a:p>
        </p:txBody>
      </p:sp>
    </p:spTree>
    <p:extLst>
      <p:ext uri="{BB962C8B-B14F-4D97-AF65-F5344CB8AC3E}">
        <p14:creationId xmlns:p14="http://schemas.microsoft.com/office/powerpoint/2010/main" val="545497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E5A4C-3CD5-1E08-A1A5-6604A42F1F51}"/>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E8862464-BA5B-E3A0-7E69-9D55A0422A23}"/>
              </a:ext>
            </a:extLst>
          </p:cNvPr>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a:extLst>
              <a:ext uri="{FF2B5EF4-FFF2-40B4-BE49-F238E27FC236}">
                <a16:creationId xmlns:a16="http://schemas.microsoft.com/office/drawing/2014/main" id="{58D5778E-E382-4B0A-99B7-5F47B031B677}"/>
              </a:ext>
            </a:extLst>
          </p:cNvPr>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a:extLst>
              <a:ext uri="{FF2B5EF4-FFF2-40B4-BE49-F238E27FC236}">
                <a16:creationId xmlns:a16="http://schemas.microsoft.com/office/drawing/2014/main" id="{5C0356FF-C9F3-C0E5-3150-24813D29A7F2}"/>
              </a:ext>
            </a:extLst>
          </p:cNvPr>
          <p:cNvPicPr>
            <a:picLocks noChangeAspect="1"/>
          </p:cNvPicPr>
          <p:nvPr/>
        </p:nvPicPr>
        <p:blipFill>
          <a:blip r:embed="rId3"/>
          <a:stretch>
            <a:fillRect/>
          </a:stretch>
        </p:blipFill>
        <p:spPr>
          <a:xfrm>
            <a:off x="9358884" y="589788"/>
            <a:ext cx="228600" cy="228600"/>
          </a:xfrm>
          <a:prstGeom prst="rect">
            <a:avLst/>
          </a:prstGeom>
        </p:spPr>
      </p:pic>
      <p:sp>
        <p:nvSpPr>
          <p:cNvPr id="7" name="Text 4">
            <a:extLst>
              <a:ext uri="{FF2B5EF4-FFF2-40B4-BE49-F238E27FC236}">
                <a16:creationId xmlns:a16="http://schemas.microsoft.com/office/drawing/2014/main" id="{81D21AD2-11CE-A821-A061-C7A27E4A9375}"/>
              </a:ext>
            </a:extLst>
          </p:cNvPr>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Ranjith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Implementation Lead</a:t>
            </a:r>
            <a:endParaRPr lang="en-US" sz="1200" dirty="0"/>
          </a:p>
        </p:txBody>
      </p:sp>
      <p:sp>
        <p:nvSpPr>
          <p:cNvPr id="8" name="Text 5">
            <a:extLst>
              <a:ext uri="{FF2B5EF4-FFF2-40B4-BE49-F238E27FC236}">
                <a16:creationId xmlns:a16="http://schemas.microsoft.com/office/drawing/2014/main" id="{32212B15-6CC2-6E89-B303-82E34F8328C9}"/>
              </a:ext>
            </a:extLst>
          </p:cNvPr>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12</a:t>
            </a:r>
            <a:endParaRPr lang="en-US" sz="1000" dirty="0"/>
          </a:p>
        </p:txBody>
      </p:sp>
      <p:sp>
        <p:nvSpPr>
          <p:cNvPr id="9" name="Text 6">
            <a:extLst>
              <a:ext uri="{FF2B5EF4-FFF2-40B4-BE49-F238E27FC236}">
                <a16:creationId xmlns:a16="http://schemas.microsoft.com/office/drawing/2014/main" id="{9DF92ABD-BD63-E67C-6E67-75EF6A0BFD86}"/>
              </a:ext>
            </a:extLst>
          </p:cNvPr>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pic>
        <p:nvPicPr>
          <p:cNvPr id="40" name="Picture 39">
            <a:extLst>
              <a:ext uri="{FF2B5EF4-FFF2-40B4-BE49-F238E27FC236}">
                <a16:creationId xmlns:a16="http://schemas.microsoft.com/office/drawing/2014/main" id="{89B8A59B-B6E4-3A12-4793-B93189B26589}"/>
              </a:ext>
            </a:extLst>
          </p:cNvPr>
          <p:cNvPicPr>
            <a:picLocks noChangeAspect="1"/>
          </p:cNvPicPr>
          <p:nvPr/>
        </p:nvPicPr>
        <p:blipFill>
          <a:blip r:embed="rId4"/>
          <a:stretch>
            <a:fillRect/>
          </a:stretch>
        </p:blipFill>
        <p:spPr>
          <a:xfrm>
            <a:off x="548640" y="1046987"/>
            <a:ext cx="10788301" cy="5070591"/>
          </a:xfrm>
          <a:prstGeom prst="rect">
            <a:avLst/>
          </a:prstGeom>
        </p:spPr>
      </p:pic>
    </p:spTree>
    <p:extLst>
      <p:ext uri="{BB962C8B-B14F-4D97-AF65-F5344CB8AC3E}">
        <p14:creationId xmlns:p14="http://schemas.microsoft.com/office/powerpoint/2010/main" val="3081556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Governance: defence in depth</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No single control is relied on · every rule is enforced in code and tested</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Ankur</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AI Governance Lead</a:t>
            </a:r>
            <a:endParaRPr lang="en-US" sz="1200" dirty="0"/>
          </a:p>
        </p:txBody>
      </p:sp>
      <p:sp>
        <p:nvSpPr>
          <p:cNvPr id="8" name="Text 5"/>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14</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0" name="Shape 7"/>
          <p:cNvSpPr/>
          <p:nvPr/>
        </p:nvSpPr>
        <p:spPr>
          <a:xfrm>
            <a:off x="548640" y="13716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1" name="Shape 8"/>
          <p:cNvSpPr/>
          <p:nvPr/>
        </p:nvSpPr>
        <p:spPr>
          <a:xfrm>
            <a:off x="777240" y="15087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12" name="Image 1" descr="preencoded.png"/>
          <p:cNvPicPr>
            <a:picLocks noChangeAspect="1"/>
          </p:cNvPicPr>
          <p:nvPr/>
        </p:nvPicPr>
        <p:blipFill>
          <a:blip r:embed="rId4"/>
          <a:stretch>
            <a:fillRect/>
          </a:stretch>
        </p:blipFill>
        <p:spPr>
          <a:xfrm>
            <a:off x="902970" y="1634489"/>
            <a:ext cx="251460" cy="251460"/>
          </a:xfrm>
          <a:prstGeom prst="rect">
            <a:avLst/>
          </a:prstGeom>
        </p:spPr>
      </p:pic>
      <p:sp>
        <p:nvSpPr>
          <p:cNvPr id="13" name="Text 9"/>
          <p:cNvSpPr txBox="1"/>
          <p:nvPr/>
        </p:nvSpPr>
        <p:spPr>
          <a:xfrm>
            <a:off x="2560320" y="14813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1</a:t>
            </a:r>
            <a:endParaRPr lang="en-US" sz="2200" dirty="0"/>
          </a:p>
        </p:txBody>
      </p:sp>
      <p:sp>
        <p:nvSpPr>
          <p:cNvPr id="14" name="Text 10"/>
          <p:cNvSpPr txBox="1"/>
          <p:nvPr/>
        </p:nvSpPr>
        <p:spPr>
          <a:xfrm>
            <a:off x="777240" y="20848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Row-level security</a:t>
            </a:r>
            <a:endParaRPr lang="en-US" sz="1400" dirty="0"/>
          </a:p>
        </p:txBody>
      </p:sp>
      <p:sp>
        <p:nvSpPr>
          <p:cNvPr id="15" name="Text 11"/>
          <p:cNvSpPr txBox="1"/>
          <p:nvPr/>
        </p:nvSpPr>
        <p:spPr>
          <a:xfrm>
            <a:off x="777240" y="23591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Who sees what</a:t>
            </a:r>
            <a:endParaRPr lang="en-US" sz="1200" dirty="0"/>
          </a:p>
        </p:txBody>
      </p:sp>
      <p:sp>
        <p:nvSpPr>
          <p:cNvPr id="16" name="Text 12"/>
          <p:cNvSpPr txBox="1"/>
          <p:nvPr/>
        </p:nvSpPr>
        <p:spPr>
          <a:xfrm>
            <a:off x="777240" y="25786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Cases A1–A6, V1</a:t>
            </a:r>
            <a:endParaRPr lang="en-US" sz="1050" dirty="0"/>
          </a:p>
        </p:txBody>
      </p:sp>
      <p:sp>
        <p:nvSpPr>
          <p:cNvPr id="17" name="Shape 13"/>
          <p:cNvSpPr/>
          <p:nvPr/>
        </p:nvSpPr>
        <p:spPr>
          <a:xfrm>
            <a:off x="3383280" y="13716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8" name="Shape 14"/>
          <p:cNvSpPr/>
          <p:nvPr/>
        </p:nvSpPr>
        <p:spPr>
          <a:xfrm>
            <a:off x="3611880" y="15087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19" name="Image 2" descr="preencoded.png"/>
          <p:cNvPicPr>
            <a:picLocks noChangeAspect="1"/>
          </p:cNvPicPr>
          <p:nvPr/>
        </p:nvPicPr>
        <p:blipFill>
          <a:blip r:embed="rId5"/>
          <a:stretch>
            <a:fillRect/>
          </a:stretch>
        </p:blipFill>
        <p:spPr>
          <a:xfrm>
            <a:off x="3737610" y="1634489"/>
            <a:ext cx="251460" cy="251460"/>
          </a:xfrm>
          <a:prstGeom prst="rect">
            <a:avLst/>
          </a:prstGeom>
        </p:spPr>
      </p:pic>
      <p:sp>
        <p:nvSpPr>
          <p:cNvPr id="20" name="Text 15"/>
          <p:cNvSpPr txBox="1"/>
          <p:nvPr/>
        </p:nvSpPr>
        <p:spPr>
          <a:xfrm>
            <a:off x="5394960" y="14813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2</a:t>
            </a:r>
            <a:endParaRPr lang="en-US" sz="2200" dirty="0"/>
          </a:p>
        </p:txBody>
      </p:sp>
      <p:sp>
        <p:nvSpPr>
          <p:cNvPr id="21" name="Text 16"/>
          <p:cNvSpPr txBox="1"/>
          <p:nvPr/>
        </p:nvSpPr>
        <p:spPr>
          <a:xfrm>
            <a:off x="3611880" y="20848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Scope gate</a:t>
            </a:r>
            <a:endParaRPr lang="en-US" sz="1400" dirty="0"/>
          </a:p>
        </p:txBody>
      </p:sp>
      <p:sp>
        <p:nvSpPr>
          <p:cNvPr id="22" name="Text 17"/>
          <p:cNvSpPr txBox="1"/>
          <p:nvPr/>
        </p:nvSpPr>
        <p:spPr>
          <a:xfrm>
            <a:off x="3611880" y="23591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What is asked</a:t>
            </a:r>
            <a:endParaRPr lang="en-US" sz="1200" dirty="0"/>
          </a:p>
        </p:txBody>
      </p:sp>
      <p:sp>
        <p:nvSpPr>
          <p:cNvPr id="23" name="Text 18"/>
          <p:cNvSpPr txBox="1"/>
          <p:nvPr/>
        </p:nvSpPr>
        <p:spPr>
          <a:xfrm>
            <a:off x="3611880" y="25786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38-message gate check</a:t>
            </a:r>
            <a:endParaRPr lang="en-US" sz="1050" dirty="0"/>
          </a:p>
        </p:txBody>
      </p:sp>
      <p:sp>
        <p:nvSpPr>
          <p:cNvPr id="24" name="Shape 19"/>
          <p:cNvSpPr/>
          <p:nvPr/>
        </p:nvSpPr>
        <p:spPr>
          <a:xfrm>
            <a:off x="6217920" y="13716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5" name="Shape 20"/>
          <p:cNvSpPr/>
          <p:nvPr/>
        </p:nvSpPr>
        <p:spPr>
          <a:xfrm>
            <a:off x="6446520" y="15087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26" name="Image 3" descr="preencoded.png"/>
          <p:cNvPicPr>
            <a:picLocks noChangeAspect="1"/>
          </p:cNvPicPr>
          <p:nvPr/>
        </p:nvPicPr>
        <p:blipFill>
          <a:blip r:embed="rId6"/>
          <a:stretch>
            <a:fillRect/>
          </a:stretch>
        </p:blipFill>
        <p:spPr>
          <a:xfrm>
            <a:off x="6572250" y="1634489"/>
            <a:ext cx="251460" cy="251460"/>
          </a:xfrm>
          <a:prstGeom prst="rect">
            <a:avLst/>
          </a:prstGeom>
        </p:spPr>
      </p:pic>
      <p:sp>
        <p:nvSpPr>
          <p:cNvPr id="27" name="Text 21"/>
          <p:cNvSpPr txBox="1"/>
          <p:nvPr/>
        </p:nvSpPr>
        <p:spPr>
          <a:xfrm>
            <a:off x="8229600" y="14813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3</a:t>
            </a:r>
            <a:endParaRPr lang="en-US" sz="2200" dirty="0"/>
          </a:p>
        </p:txBody>
      </p:sp>
      <p:sp>
        <p:nvSpPr>
          <p:cNvPr id="28" name="Text 22"/>
          <p:cNvSpPr txBox="1"/>
          <p:nvPr/>
        </p:nvSpPr>
        <p:spPr>
          <a:xfrm>
            <a:off x="6446520" y="20848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Read-only transaction</a:t>
            </a:r>
            <a:endParaRPr lang="en-US" sz="1400" dirty="0"/>
          </a:p>
        </p:txBody>
      </p:sp>
      <p:sp>
        <p:nvSpPr>
          <p:cNvPr id="29" name="Text 23"/>
          <p:cNvSpPr txBox="1"/>
          <p:nvPr/>
        </p:nvSpPr>
        <p:spPr>
          <a:xfrm>
            <a:off x="6446520" y="23591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What can change</a:t>
            </a:r>
            <a:endParaRPr lang="en-US" sz="1200" dirty="0"/>
          </a:p>
        </p:txBody>
      </p:sp>
      <p:sp>
        <p:nvSpPr>
          <p:cNvPr id="30" name="Text 24"/>
          <p:cNvSpPr txBox="1"/>
          <p:nvPr/>
        </p:nvSpPr>
        <p:spPr>
          <a:xfrm>
            <a:off x="6446520" y="25786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V3, O1, O8, T6</a:t>
            </a:r>
            <a:endParaRPr lang="en-US" sz="1050" dirty="0"/>
          </a:p>
        </p:txBody>
      </p:sp>
      <p:sp>
        <p:nvSpPr>
          <p:cNvPr id="31" name="Shape 25"/>
          <p:cNvSpPr/>
          <p:nvPr/>
        </p:nvSpPr>
        <p:spPr>
          <a:xfrm>
            <a:off x="9052560" y="13716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2" name="Shape 26"/>
          <p:cNvSpPr/>
          <p:nvPr/>
        </p:nvSpPr>
        <p:spPr>
          <a:xfrm>
            <a:off x="9281160" y="15087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33" name="Image 4" descr="preencoded.png"/>
          <p:cNvPicPr>
            <a:picLocks noChangeAspect="1"/>
          </p:cNvPicPr>
          <p:nvPr/>
        </p:nvPicPr>
        <p:blipFill>
          <a:blip r:embed="rId7"/>
          <a:stretch>
            <a:fillRect/>
          </a:stretch>
        </p:blipFill>
        <p:spPr>
          <a:xfrm>
            <a:off x="9406890" y="1634489"/>
            <a:ext cx="251460" cy="251460"/>
          </a:xfrm>
          <a:prstGeom prst="rect">
            <a:avLst/>
          </a:prstGeom>
        </p:spPr>
      </p:pic>
      <p:sp>
        <p:nvSpPr>
          <p:cNvPr id="34" name="Text 27"/>
          <p:cNvSpPr txBox="1"/>
          <p:nvPr/>
        </p:nvSpPr>
        <p:spPr>
          <a:xfrm>
            <a:off x="11064240" y="14813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4</a:t>
            </a:r>
            <a:endParaRPr lang="en-US" sz="2200" dirty="0"/>
          </a:p>
        </p:txBody>
      </p:sp>
      <p:sp>
        <p:nvSpPr>
          <p:cNvPr id="35" name="Text 28"/>
          <p:cNvSpPr txBox="1"/>
          <p:nvPr/>
        </p:nvSpPr>
        <p:spPr>
          <a:xfrm>
            <a:off x="9281160" y="20848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Answer verifier</a:t>
            </a:r>
            <a:endParaRPr lang="en-US" sz="1400" dirty="0"/>
          </a:p>
        </p:txBody>
      </p:sp>
      <p:sp>
        <p:nvSpPr>
          <p:cNvPr id="36" name="Text 29"/>
          <p:cNvSpPr txBox="1"/>
          <p:nvPr/>
        </p:nvSpPr>
        <p:spPr>
          <a:xfrm>
            <a:off x="9281160" y="23591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What is claimed</a:t>
            </a:r>
            <a:endParaRPr lang="en-US" sz="1200" dirty="0"/>
          </a:p>
        </p:txBody>
      </p:sp>
      <p:sp>
        <p:nvSpPr>
          <p:cNvPr id="37" name="Text 30"/>
          <p:cNvSpPr txBox="1"/>
          <p:nvPr/>
        </p:nvSpPr>
        <p:spPr>
          <a:xfrm>
            <a:off x="9281160" y="25786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29-answer audit; H1–H3</a:t>
            </a:r>
            <a:endParaRPr lang="en-US" sz="1050" dirty="0"/>
          </a:p>
        </p:txBody>
      </p:sp>
      <p:sp>
        <p:nvSpPr>
          <p:cNvPr id="38" name="Shape 31"/>
          <p:cNvSpPr/>
          <p:nvPr/>
        </p:nvSpPr>
        <p:spPr>
          <a:xfrm>
            <a:off x="548640" y="29718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9" name="Shape 32"/>
          <p:cNvSpPr/>
          <p:nvPr/>
        </p:nvSpPr>
        <p:spPr>
          <a:xfrm>
            <a:off x="777240" y="31089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40" name="Image 5" descr="preencoded.png"/>
          <p:cNvPicPr>
            <a:picLocks noChangeAspect="1"/>
          </p:cNvPicPr>
          <p:nvPr/>
        </p:nvPicPr>
        <p:blipFill>
          <a:blip r:embed="rId8"/>
          <a:stretch>
            <a:fillRect/>
          </a:stretch>
        </p:blipFill>
        <p:spPr>
          <a:xfrm>
            <a:off x="902970" y="3234690"/>
            <a:ext cx="251460" cy="251460"/>
          </a:xfrm>
          <a:prstGeom prst="rect">
            <a:avLst/>
          </a:prstGeom>
        </p:spPr>
      </p:pic>
      <p:sp>
        <p:nvSpPr>
          <p:cNvPr id="41" name="Text 33"/>
          <p:cNvSpPr txBox="1"/>
          <p:nvPr/>
        </p:nvSpPr>
        <p:spPr>
          <a:xfrm>
            <a:off x="2560320" y="30815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5</a:t>
            </a:r>
            <a:endParaRPr lang="en-US" sz="2200" dirty="0"/>
          </a:p>
        </p:txBody>
      </p:sp>
      <p:sp>
        <p:nvSpPr>
          <p:cNvPr id="42" name="Text 34"/>
          <p:cNvSpPr txBox="1"/>
          <p:nvPr/>
        </p:nvSpPr>
        <p:spPr>
          <a:xfrm>
            <a:off x="777240" y="36850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Privacy guard</a:t>
            </a:r>
            <a:endParaRPr lang="en-US" sz="1400" dirty="0"/>
          </a:p>
        </p:txBody>
      </p:sp>
      <p:sp>
        <p:nvSpPr>
          <p:cNvPr id="43" name="Text 35"/>
          <p:cNvSpPr txBox="1"/>
          <p:nvPr/>
        </p:nvSpPr>
        <p:spPr>
          <a:xfrm>
            <a:off x="777240" y="39593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No customer personal details</a:t>
            </a:r>
            <a:endParaRPr lang="en-US" sz="1200" dirty="0"/>
          </a:p>
        </p:txBody>
      </p:sp>
      <p:sp>
        <p:nvSpPr>
          <p:cNvPr id="44" name="Text 36"/>
          <p:cNvSpPr txBox="1"/>
          <p:nvPr/>
        </p:nvSpPr>
        <p:spPr>
          <a:xfrm>
            <a:off x="777240" y="41788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Tool test; T8</a:t>
            </a:r>
            <a:endParaRPr lang="en-US" sz="1050" dirty="0"/>
          </a:p>
        </p:txBody>
      </p:sp>
      <p:sp>
        <p:nvSpPr>
          <p:cNvPr id="45" name="Shape 37"/>
          <p:cNvSpPr/>
          <p:nvPr/>
        </p:nvSpPr>
        <p:spPr>
          <a:xfrm>
            <a:off x="3383280" y="29718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46" name="Shape 38"/>
          <p:cNvSpPr/>
          <p:nvPr/>
        </p:nvSpPr>
        <p:spPr>
          <a:xfrm>
            <a:off x="3611880" y="31089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47" name="Image 6" descr="preencoded.png"/>
          <p:cNvPicPr>
            <a:picLocks noChangeAspect="1"/>
          </p:cNvPicPr>
          <p:nvPr/>
        </p:nvPicPr>
        <p:blipFill>
          <a:blip r:embed="rId9"/>
          <a:stretch>
            <a:fillRect/>
          </a:stretch>
        </p:blipFill>
        <p:spPr>
          <a:xfrm>
            <a:off x="3737610" y="3234690"/>
            <a:ext cx="251460" cy="251460"/>
          </a:xfrm>
          <a:prstGeom prst="rect">
            <a:avLst/>
          </a:prstGeom>
        </p:spPr>
      </p:pic>
      <p:sp>
        <p:nvSpPr>
          <p:cNvPr id="48" name="Text 39"/>
          <p:cNvSpPr txBox="1"/>
          <p:nvPr/>
        </p:nvSpPr>
        <p:spPr>
          <a:xfrm>
            <a:off x="5394960" y="30815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6</a:t>
            </a:r>
            <a:endParaRPr lang="en-US" sz="2200" dirty="0"/>
          </a:p>
        </p:txBody>
      </p:sp>
      <p:sp>
        <p:nvSpPr>
          <p:cNvPr id="49" name="Text 40"/>
          <p:cNvSpPr txBox="1"/>
          <p:nvPr/>
        </p:nvSpPr>
        <p:spPr>
          <a:xfrm>
            <a:off x="3611880" y="36850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Audit log</a:t>
            </a:r>
            <a:endParaRPr lang="en-US" sz="1400" dirty="0"/>
          </a:p>
        </p:txBody>
      </p:sp>
      <p:sp>
        <p:nvSpPr>
          <p:cNvPr id="50" name="Text 41"/>
          <p:cNvSpPr txBox="1"/>
          <p:nvPr/>
        </p:nvSpPr>
        <p:spPr>
          <a:xfrm>
            <a:off x="3611880" y="39593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What happened</a:t>
            </a:r>
            <a:endParaRPr lang="en-US" sz="1200" dirty="0"/>
          </a:p>
        </p:txBody>
      </p:sp>
      <p:sp>
        <p:nvSpPr>
          <p:cNvPr id="51" name="Text 42"/>
          <p:cNvSpPr txBox="1"/>
          <p:nvPr/>
        </p:nvSpPr>
        <p:spPr>
          <a:xfrm>
            <a:off x="3611880" y="41788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Reviewed in audit</a:t>
            </a:r>
            <a:endParaRPr lang="en-US" sz="1050" dirty="0"/>
          </a:p>
        </p:txBody>
      </p:sp>
      <p:sp>
        <p:nvSpPr>
          <p:cNvPr id="52" name="Shape 43"/>
          <p:cNvSpPr/>
          <p:nvPr/>
        </p:nvSpPr>
        <p:spPr>
          <a:xfrm>
            <a:off x="6217920" y="29718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53" name="Shape 44"/>
          <p:cNvSpPr/>
          <p:nvPr/>
        </p:nvSpPr>
        <p:spPr>
          <a:xfrm>
            <a:off x="6446520" y="31089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54" name="Image 7" descr="preencoded.png"/>
          <p:cNvPicPr>
            <a:picLocks noChangeAspect="1"/>
          </p:cNvPicPr>
          <p:nvPr/>
        </p:nvPicPr>
        <p:blipFill>
          <a:blip r:embed="rId3"/>
          <a:stretch>
            <a:fillRect/>
          </a:stretch>
        </p:blipFill>
        <p:spPr>
          <a:xfrm>
            <a:off x="6572250" y="3234690"/>
            <a:ext cx="251460" cy="251460"/>
          </a:xfrm>
          <a:prstGeom prst="rect">
            <a:avLst/>
          </a:prstGeom>
        </p:spPr>
      </p:pic>
      <p:sp>
        <p:nvSpPr>
          <p:cNvPr id="55" name="Text 45"/>
          <p:cNvSpPr txBox="1"/>
          <p:nvPr/>
        </p:nvSpPr>
        <p:spPr>
          <a:xfrm>
            <a:off x="8229600" y="30815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7</a:t>
            </a:r>
            <a:endParaRPr lang="en-US" sz="2200" dirty="0"/>
          </a:p>
        </p:txBody>
      </p:sp>
      <p:sp>
        <p:nvSpPr>
          <p:cNvPr id="56" name="Text 46"/>
          <p:cNvSpPr txBox="1"/>
          <p:nvPr/>
        </p:nvSpPr>
        <p:spPr>
          <a:xfrm>
            <a:off x="6446520" y="36850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Azure content filter</a:t>
            </a:r>
            <a:endParaRPr lang="en-US" sz="1400" dirty="0"/>
          </a:p>
        </p:txBody>
      </p:sp>
      <p:sp>
        <p:nvSpPr>
          <p:cNvPr id="57" name="Text 47"/>
          <p:cNvSpPr txBox="1"/>
          <p:nvPr/>
        </p:nvSpPr>
        <p:spPr>
          <a:xfrm>
            <a:off x="6446520" y="39593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What is generated</a:t>
            </a:r>
            <a:endParaRPr lang="en-US" sz="1200" dirty="0"/>
          </a:p>
        </p:txBody>
      </p:sp>
      <p:sp>
        <p:nvSpPr>
          <p:cNvPr id="58" name="Text 48"/>
          <p:cNvSpPr txBox="1"/>
          <p:nvPr/>
        </p:nvSpPr>
        <p:spPr>
          <a:xfrm>
            <a:off x="6446520" y="41788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Always on</a:t>
            </a:r>
            <a:endParaRPr lang="en-US" sz="1050" dirty="0"/>
          </a:p>
        </p:txBody>
      </p:sp>
      <p:sp>
        <p:nvSpPr>
          <p:cNvPr id="59" name="Shape 49"/>
          <p:cNvSpPr/>
          <p:nvPr/>
        </p:nvSpPr>
        <p:spPr>
          <a:xfrm>
            <a:off x="9052560" y="2971800"/>
            <a:ext cx="2651760" cy="1508760"/>
          </a:xfrm>
          <a:prstGeom prst="roundRect">
            <a:avLst>
              <a:gd name="adj" fmla="val 5455"/>
            </a:avLst>
          </a:prstGeom>
          <a:solidFill>
            <a:srgbClr val="F2A900"/>
          </a:solidFill>
          <a:ln w="12700">
            <a:solidFill>
              <a:srgbClr val="F2A900"/>
            </a:solidFill>
            <a:prstDash val="solid"/>
          </a:ln>
        </p:spPr>
        <p:txBody>
          <a:bodyPr/>
          <a:lstStyle/>
          <a:p>
            <a:endParaRPr lang="en-NZ"/>
          </a:p>
        </p:txBody>
      </p:sp>
      <p:sp>
        <p:nvSpPr>
          <p:cNvPr id="60" name="Shape 50"/>
          <p:cNvSpPr/>
          <p:nvPr/>
        </p:nvSpPr>
        <p:spPr>
          <a:xfrm>
            <a:off x="9281160" y="31089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61" name="Image 8" descr="preencoded.png"/>
          <p:cNvPicPr>
            <a:picLocks noChangeAspect="1"/>
          </p:cNvPicPr>
          <p:nvPr/>
        </p:nvPicPr>
        <p:blipFill>
          <a:blip r:embed="rId10"/>
          <a:stretch>
            <a:fillRect/>
          </a:stretch>
        </p:blipFill>
        <p:spPr>
          <a:xfrm>
            <a:off x="9406890" y="3234690"/>
            <a:ext cx="251460" cy="251460"/>
          </a:xfrm>
          <a:prstGeom prst="rect">
            <a:avLst/>
          </a:prstGeom>
        </p:spPr>
      </p:pic>
      <p:sp>
        <p:nvSpPr>
          <p:cNvPr id="62" name="Text 51"/>
          <p:cNvSpPr txBox="1"/>
          <p:nvPr/>
        </p:nvSpPr>
        <p:spPr>
          <a:xfrm>
            <a:off x="9281160" y="36850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Human approval</a:t>
            </a:r>
            <a:endParaRPr lang="en-US" sz="1400" dirty="0"/>
          </a:p>
        </p:txBody>
      </p:sp>
      <p:sp>
        <p:nvSpPr>
          <p:cNvPr id="63" name="Text 52"/>
          <p:cNvSpPr txBox="1"/>
          <p:nvPr/>
        </p:nvSpPr>
        <p:spPr>
          <a:xfrm>
            <a:off x="9281160" y="3959352"/>
            <a:ext cx="2286000" cy="457200"/>
          </a:xfrm>
          <a:prstGeom prst="rect">
            <a:avLst/>
          </a:prstGeom>
          <a:noFill/>
          <a:ln/>
        </p:spPr>
        <p:txBody>
          <a:bodyPr wrap="square" lIns="0" tIns="0" rIns="0" bIns="0" rtlCol="0" anchor="t"/>
          <a:lstStyle/>
          <a:p>
            <a:pPr marL="0" indent="0">
              <a:buNone/>
            </a:pPr>
            <a:r>
              <a:rPr lang="en-US" sz="1050" dirty="0">
                <a:solidFill>
                  <a:srgbClr val="1F3864"/>
                </a:solidFill>
                <a:latin typeface="Arial" pitchFamily="34" charset="0"/>
                <a:ea typeface="Arial" pitchFamily="34" charset="-122"/>
                <a:cs typeface="Arial" pitchFamily="34" charset="-120"/>
              </a:rPr>
              <a:t>The agent only drafts. A manager stays accountable for every decision.</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Risk management</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Main risks found during the project, rated Low / Medium / High</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Ankur</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AI Governance Lead</a:t>
            </a:r>
            <a:endParaRPr lang="en-US" sz="1200" dirty="0"/>
          </a:p>
        </p:txBody>
      </p:sp>
      <p:sp>
        <p:nvSpPr>
          <p:cNvPr id="8" name="Text 5"/>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15</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0" name="Text 7"/>
          <p:cNvSpPr txBox="1"/>
          <p:nvPr/>
        </p:nvSpPr>
        <p:spPr>
          <a:xfrm>
            <a:off x="685800" y="1463040"/>
            <a:ext cx="2286000" cy="274320"/>
          </a:xfrm>
          <a:prstGeom prst="rect">
            <a:avLst/>
          </a:prstGeom>
          <a:noFill/>
          <a:ln/>
        </p:spPr>
        <p:txBody>
          <a:bodyPr wrap="square" lIns="0" tIns="0" rIns="0" bIns="0" rtlCol="0" anchor="t"/>
          <a:lstStyle/>
          <a:p>
            <a:pPr marL="0" indent="0">
              <a:buNone/>
            </a:pPr>
            <a:r>
              <a:rPr lang="en-US" sz="1000" b="1" kern="0" spc="100" dirty="0">
                <a:solidFill>
                  <a:srgbClr val="2E75B6"/>
                </a:solidFill>
                <a:latin typeface="Arial" pitchFamily="34" charset="0"/>
                <a:ea typeface="Arial" pitchFamily="34" charset="-122"/>
                <a:cs typeface="Arial" pitchFamily="34" charset="-120"/>
              </a:rPr>
              <a:t>RISK</a:t>
            </a:r>
            <a:endParaRPr lang="en-US" sz="1000" dirty="0"/>
          </a:p>
        </p:txBody>
      </p:sp>
      <p:sp>
        <p:nvSpPr>
          <p:cNvPr id="11" name="Text 8"/>
          <p:cNvSpPr txBox="1"/>
          <p:nvPr/>
        </p:nvSpPr>
        <p:spPr>
          <a:xfrm>
            <a:off x="3520440" y="1463040"/>
            <a:ext cx="2286000" cy="274320"/>
          </a:xfrm>
          <a:prstGeom prst="rect">
            <a:avLst/>
          </a:prstGeom>
          <a:noFill/>
          <a:ln/>
        </p:spPr>
        <p:txBody>
          <a:bodyPr wrap="square" lIns="0" tIns="0" rIns="0" bIns="0" rtlCol="0" anchor="t"/>
          <a:lstStyle/>
          <a:p>
            <a:pPr marL="0" indent="0">
              <a:buNone/>
            </a:pPr>
            <a:r>
              <a:rPr lang="en-US" sz="1000" b="1" kern="0" spc="100" dirty="0">
                <a:solidFill>
                  <a:srgbClr val="2E75B6"/>
                </a:solidFill>
                <a:latin typeface="Arial" pitchFamily="34" charset="0"/>
                <a:ea typeface="Arial" pitchFamily="34" charset="-122"/>
                <a:cs typeface="Arial" pitchFamily="34" charset="-120"/>
              </a:rPr>
              <a:t>LIKELIHOOD</a:t>
            </a:r>
            <a:endParaRPr lang="en-US" sz="1000" dirty="0"/>
          </a:p>
        </p:txBody>
      </p:sp>
      <p:sp>
        <p:nvSpPr>
          <p:cNvPr id="12" name="Text 9"/>
          <p:cNvSpPr txBox="1"/>
          <p:nvPr/>
        </p:nvSpPr>
        <p:spPr>
          <a:xfrm>
            <a:off x="4526280" y="1463040"/>
            <a:ext cx="2286000" cy="274320"/>
          </a:xfrm>
          <a:prstGeom prst="rect">
            <a:avLst/>
          </a:prstGeom>
          <a:noFill/>
          <a:ln/>
        </p:spPr>
        <p:txBody>
          <a:bodyPr wrap="square" lIns="0" tIns="0" rIns="0" bIns="0" rtlCol="0" anchor="t"/>
          <a:lstStyle/>
          <a:p>
            <a:pPr marL="0" indent="0">
              <a:buNone/>
            </a:pPr>
            <a:r>
              <a:rPr lang="en-US" sz="1000" b="1" kern="0" spc="100" dirty="0">
                <a:solidFill>
                  <a:srgbClr val="2E75B6"/>
                </a:solidFill>
                <a:latin typeface="Arial" pitchFamily="34" charset="0"/>
                <a:ea typeface="Arial" pitchFamily="34" charset="-122"/>
                <a:cs typeface="Arial" pitchFamily="34" charset="-120"/>
              </a:rPr>
              <a:t>IMPACT</a:t>
            </a:r>
            <a:endParaRPr lang="en-US" sz="1000" dirty="0"/>
          </a:p>
        </p:txBody>
      </p:sp>
      <p:sp>
        <p:nvSpPr>
          <p:cNvPr id="13" name="Text 10"/>
          <p:cNvSpPr txBox="1"/>
          <p:nvPr/>
        </p:nvSpPr>
        <p:spPr>
          <a:xfrm>
            <a:off x="5577840" y="1463040"/>
            <a:ext cx="2286000" cy="274320"/>
          </a:xfrm>
          <a:prstGeom prst="rect">
            <a:avLst/>
          </a:prstGeom>
          <a:noFill/>
          <a:ln/>
        </p:spPr>
        <p:txBody>
          <a:bodyPr wrap="square" lIns="0" tIns="0" rIns="0" bIns="0" rtlCol="0" anchor="t"/>
          <a:lstStyle/>
          <a:p>
            <a:pPr marL="0" indent="0">
              <a:buNone/>
            </a:pPr>
            <a:r>
              <a:rPr lang="en-US" sz="1000" b="1" kern="0" spc="100" dirty="0">
                <a:solidFill>
                  <a:srgbClr val="2E75B6"/>
                </a:solidFill>
                <a:latin typeface="Arial" pitchFamily="34" charset="0"/>
                <a:ea typeface="Arial" pitchFamily="34" charset="-122"/>
                <a:cs typeface="Arial" pitchFamily="34" charset="-120"/>
              </a:rPr>
              <a:t>MITIGATION</a:t>
            </a:r>
            <a:endParaRPr lang="en-US" sz="1000" dirty="0"/>
          </a:p>
        </p:txBody>
      </p:sp>
      <p:sp>
        <p:nvSpPr>
          <p:cNvPr id="14" name="Shape 11"/>
          <p:cNvSpPr/>
          <p:nvPr/>
        </p:nvSpPr>
        <p:spPr>
          <a:xfrm>
            <a:off x="548640" y="1810512"/>
            <a:ext cx="8183879" cy="566928"/>
          </a:xfrm>
          <a:prstGeom prst="roundRect">
            <a:avLst>
              <a:gd name="adj" fmla="val 19355"/>
            </a:avLst>
          </a:prstGeom>
          <a:solidFill>
            <a:srgbClr val="F3F7FC"/>
          </a:solidFill>
          <a:ln w="12700">
            <a:solidFill>
              <a:srgbClr val="F3F7FC"/>
            </a:solidFill>
            <a:prstDash val="solid"/>
          </a:ln>
        </p:spPr>
        <p:txBody>
          <a:bodyPr/>
          <a:lstStyle/>
          <a:p>
            <a:endParaRPr lang="en-NZ"/>
          </a:p>
        </p:txBody>
      </p:sp>
      <p:sp>
        <p:nvSpPr>
          <p:cNvPr id="15" name="Text 12"/>
          <p:cNvSpPr txBox="1"/>
          <p:nvPr/>
        </p:nvSpPr>
        <p:spPr>
          <a:xfrm>
            <a:off x="685800" y="1810512"/>
            <a:ext cx="274320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Hallucinated figure or product</a:t>
            </a:r>
            <a:endParaRPr lang="en-US" sz="1250" dirty="0"/>
          </a:p>
        </p:txBody>
      </p:sp>
      <p:sp>
        <p:nvSpPr>
          <p:cNvPr id="16" name="Shape 13"/>
          <p:cNvSpPr/>
          <p:nvPr/>
        </p:nvSpPr>
        <p:spPr>
          <a:xfrm>
            <a:off x="3520440" y="194767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17" name="Text 14"/>
          <p:cNvSpPr txBox="1"/>
          <p:nvPr/>
        </p:nvSpPr>
        <p:spPr>
          <a:xfrm>
            <a:off x="3520440" y="194767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18" name="Shape 15"/>
          <p:cNvSpPr/>
          <p:nvPr/>
        </p:nvSpPr>
        <p:spPr>
          <a:xfrm>
            <a:off x="4526280" y="1947672"/>
            <a:ext cx="914400" cy="292608"/>
          </a:xfrm>
          <a:prstGeom prst="roundRect">
            <a:avLst>
              <a:gd name="adj" fmla="val 50000"/>
            </a:avLst>
          </a:prstGeom>
          <a:solidFill>
            <a:srgbClr val="FBE4E4"/>
          </a:solidFill>
          <a:ln w="12700">
            <a:solidFill>
              <a:srgbClr val="FBE4E4"/>
            </a:solidFill>
            <a:prstDash val="solid"/>
          </a:ln>
        </p:spPr>
        <p:txBody>
          <a:bodyPr/>
          <a:lstStyle/>
          <a:p>
            <a:endParaRPr lang="en-NZ"/>
          </a:p>
        </p:txBody>
      </p:sp>
      <p:sp>
        <p:nvSpPr>
          <p:cNvPr id="19" name="Text 16"/>
          <p:cNvSpPr txBox="1"/>
          <p:nvPr/>
        </p:nvSpPr>
        <p:spPr>
          <a:xfrm>
            <a:off x="4526280" y="1947672"/>
            <a:ext cx="914400" cy="292608"/>
          </a:xfrm>
          <a:prstGeom prst="rect">
            <a:avLst/>
          </a:prstGeom>
          <a:noFill/>
          <a:ln/>
        </p:spPr>
        <p:txBody>
          <a:bodyPr wrap="square" lIns="0" tIns="0" rIns="0" bIns="0" rtlCol="0" anchor="ctr"/>
          <a:lstStyle/>
          <a:p>
            <a:pPr marL="0" indent="0" algn="ctr">
              <a:buNone/>
            </a:pPr>
            <a:r>
              <a:rPr lang="en-US" sz="950" b="1" dirty="0">
                <a:solidFill>
                  <a:srgbClr val="9C1C1C"/>
                </a:solidFill>
                <a:latin typeface="Arial" pitchFamily="34" charset="0"/>
                <a:ea typeface="Arial" pitchFamily="34" charset="-122"/>
                <a:cs typeface="Arial" pitchFamily="34" charset="-120"/>
              </a:rPr>
              <a:t>HIGH</a:t>
            </a:r>
            <a:endParaRPr lang="en-US" sz="950" dirty="0"/>
          </a:p>
        </p:txBody>
      </p:sp>
      <p:sp>
        <p:nvSpPr>
          <p:cNvPr id="20" name="Text 17"/>
          <p:cNvSpPr txBox="1"/>
          <p:nvPr/>
        </p:nvSpPr>
        <p:spPr>
          <a:xfrm>
            <a:off x="5577840" y="1810512"/>
            <a:ext cx="3063240" cy="566928"/>
          </a:xfrm>
          <a:prstGeom prst="rect">
            <a:avLst/>
          </a:prstGeom>
          <a:noFill/>
          <a:ln/>
        </p:spPr>
        <p:txBody>
          <a:bodyPr wrap="square" lIns="0" tIns="0" rIns="0" bIns="0" rtlCol="0" anchor="ctr"/>
          <a:lstStyle/>
          <a:p>
            <a:pPr marL="0" indent="0">
              <a:buNone/>
            </a:pPr>
            <a:r>
              <a:rPr lang="en-US" sz="1050" dirty="0">
                <a:solidFill>
                  <a:srgbClr val="222B3A"/>
                </a:solidFill>
                <a:latin typeface="Arial" pitchFamily="34" charset="0"/>
                <a:ea typeface="Arial" pitchFamily="34" charset="-122"/>
                <a:cs typeface="Arial" pitchFamily="34" charset="-120"/>
              </a:rPr>
              <a:t>Every figure and code checked; calculate tool; audit and 75 cases rerun</a:t>
            </a:r>
            <a:endParaRPr lang="en-US" sz="1150" dirty="0"/>
          </a:p>
        </p:txBody>
      </p:sp>
      <p:sp>
        <p:nvSpPr>
          <p:cNvPr id="21" name="Shape 18"/>
          <p:cNvSpPr/>
          <p:nvPr/>
        </p:nvSpPr>
        <p:spPr>
          <a:xfrm>
            <a:off x="548640" y="2450592"/>
            <a:ext cx="8183879" cy="566928"/>
          </a:xfrm>
          <a:prstGeom prst="roundRect">
            <a:avLst>
              <a:gd name="adj" fmla="val 19355"/>
            </a:avLst>
          </a:prstGeom>
          <a:solidFill>
            <a:srgbClr val="FFFFFF"/>
          </a:solidFill>
          <a:ln w="12700">
            <a:solidFill>
              <a:srgbClr val="FFFFFF"/>
            </a:solidFill>
            <a:prstDash val="solid"/>
          </a:ln>
        </p:spPr>
        <p:txBody>
          <a:bodyPr/>
          <a:lstStyle/>
          <a:p>
            <a:endParaRPr lang="en-NZ"/>
          </a:p>
        </p:txBody>
      </p:sp>
      <p:sp>
        <p:nvSpPr>
          <p:cNvPr id="22" name="Text 19"/>
          <p:cNvSpPr txBox="1"/>
          <p:nvPr/>
        </p:nvSpPr>
        <p:spPr>
          <a:xfrm>
            <a:off x="685800" y="2450592"/>
            <a:ext cx="274320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Person sees stores they should not</a:t>
            </a:r>
            <a:endParaRPr lang="en-US" sz="1250" dirty="0"/>
          </a:p>
        </p:txBody>
      </p:sp>
      <p:sp>
        <p:nvSpPr>
          <p:cNvPr id="23" name="Shape 20"/>
          <p:cNvSpPr/>
          <p:nvPr/>
        </p:nvSpPr>
        <p:spPr>
          <a:xfrm>
            <a:off x="3520440" y="2587752"/>
            <a:ext cx="914400" cy="292608"/>
          </a:xfrm>
          <a:prstGeom prst="roundRect">
            <a:avLst>
              <a:gd name="adj" fmla="val 50000"/>
            </a:avLst>
          </a:prstGeom>
          <a:solidFill>
            <a:srgbClr val="E2F0D9"/>
          </a:solidFill>
          <a:ln w="12700">
            <a:solidFill>
              <a:srgbClr val="E2F0D9"/>
            </a:solidFill>
            <a:prstDash val="solid"/>
          </a:ln>
        </p:spPr>
        <p:txBody>
          <a:bodyPr/>
          <a:lstStyle/>
          <a:p>
            <a:endParaRPr lang="en-NZ"/>
          </a:p>
        </p:txBody>
      </p:sp>
      <p:sp>
        <p:nvSpPr>
          <p:cNvPr id="24" name="Text 21"/>
          <p:cNvSpPr txBox="1"/>
          <p:nvPr/>
        </p:nvSpPr>
        <p:spPr>
          <a:xfrm>
            <a:off x="3520440" y="2587752"/>
            <a:ext cx="914400" cy="292608"/>
          </a:xfrm>
          <a:prstGeom prst="rect">
            <a:avLst/>
          </a:prstGeom>
          <a:noFill/>
          <a:ln/>
        </p:spPr>
        <p:txBody>
          <a:bodyPr wrap="square" lIns="0" tIns="0" rIns="0" bIns="0" rtlCol="0" anchor="ctr"/>
          <a:lstStyle/>
          <a:p>
            <a:pPr marL="0" indent="0" algn="ctr">
              <a:buNone/>
            </a:pPr>
            <a:r>
              <a:rPr lang="en-US" sz="950" b="1" dirty="0">
                <a:solidFill>
                  <a:srgbClr val="375623"/>
                </a:solidFill>
                <a:latin typeface="Arial" pitchFamily="34" charset="0"/>
                <a:ea typeface="Arial" pitchFamily="34" charset="-122"/>
                <a:cs typeface="Arial" pitchFamily="34" charset="-120"/>
              </a:rPr>
              <a:t>LOW</a:t>
            </a:r>
            <a:endParaRPr lang="en-US" sz="950" dirty="0"/>
          </a:p>
        </p:txBody>
      </p:sp>
      <p:sp>
        <p:nvSpPr>
          <p:cNvPr id="25" name="Shape 22"/>
          <p:cNvSpPr/>
          <p:nvPr/>
        </p:nvSpPr>
        <p:spPr>
          <a:xfrm>
            <a:off x="4526280" y="2587752"/>
            <a:ext cx="914400" cy="292608"/>
          </a:xfrm>
          <a:prstGeom prst="roundRect">
            <a:avLst>
              <a:gd name="adj" fmla="val 50000"/>
            </a:avLst>
          </a:prstGeom>
          <a:solidFill>
            <a:srgbClr val="FBE4E4"/>
          </a:solidFill>
          <a:ln w="12700">
            <a:solidFill>
              <a:srgbClr val="FBE4E4"/>
            </a:solidFill>
            <a:prstDash val="solid"/>
          </a:ln>
        </p:spPr>
        <p:txBody>
          <a:bodyPr/>
          <a:lstStyle/>
          <a:p>
            <a:endParaRPr lang="en-NZ"/>
          </a:p>
        </p:txBody>
      </p:sp>
      <p:sp>
        <p:nvSpPr>
          <p:cNvPr id="26" name="Text 23"/>
          <p:cNvSpPr txBox="1"/>
          <p:nvPr/>
        </p:nvSpPr>
        <p:spPr>
          <a:xfrm>
            <a:off x="4526280" y="2587752"/>
            <a:ext cx="914400" cy="292608"/>
          </a:xfrm>
          <a:prstGeom prst="rect">
            <a:avLst/>
          </a:prstGeom>
          <a:noFill/>
          <a:ln/>
        </p:spPr>
        <p:txBody>
          <a:bodyPr wrap="square" lIns="0" tIns="0" rIns="0" bIns="0" rtlCol="0" anchor="ctr"/>
          <a:lstStyle/>
          <a:p>
            <a:pPr marL="0" indent="0" algn="ctr">
              <a:buNone/>
            </a:pPr>
            <a:r>
              <a:rPr lang="en-US" sz="950" b="1" dirty="0">
                <a:solidFill>
                  <a:srgbClr val="9C1C1C"/>
                </a:solidFill>
                <a:latin typeface="Arial" pitchFamily="34" charset="0"/>
                <a:ea typeface="Arial" pitchFamily="34" charset="-122"/>
                <a:cs typeface="Arial" pitchFamily="34" charset="-120"/>
              </a:rPr>
              <a:t>HIGH</a:t>
            </a:r>
            <a:endParaRPr lang="en-US" sz="950" dirty="0"/>
          </a:p>
        </p:txBody>
      </p:sp>
      <p:sp>
        <p:nvSpPr>
          <p:cNvPr id="27" name="Text 24"/>
          <p:cNvSpPr txBox="1"/>
          <p:nvPr/>
        </p:nvSpPr>
        <p:spPr>
          <a:xfrm>
            <a:off x="5577840" y="2450592"/>
            <a:ext cx="3063240" cy="566928"/>
          </a:xfrm>
          <a:prstGeom prst="rect">
            <a:avLst/>
          </a:prstGeom>
          <a:noFill/>
          <a:ln/>
        </p:spPr>
        <p:txBody>
          <a:bodyPr wrap="square" lIns="0" tIns="0" rIns="0" bIns="0" rtlCol="0" anchor="ctr"/>
          <a:lstStyle/>
          <a:p>
            <a:pPr marL="0" indent="0">
              <a:buNone/>
            </a:pPr>
            <a:r>
              <a:rPr lang="en-US" sz="1050" dirty="0">
                <a:solidFill>
                  <a:srgbClr val="222B3A"/>
                </a:solidFill>
                <a:latin typeface="Arial" pitchFamily="34" charset="0"/>
                <a:ea typeface="Arial" pitchFamily="34" charset="-122"/>
                <a:cs typeface="Arial" pitchFamily="34" charset="-120"/>
              </a:rPr>
              <a:t>Row-level security, one identity per person; A1–A6, V1</a:t>
            </a:r>
            <a:endParaRPr lang="en-US" sz="1150" dirty="0"/>
          </a:p>
        </p:txBody>
      </p:sp>
      <p:sp>
        <p:nvSpPr>
          <p:cNvPr id="28" name="Shape 25"/>
          <p:cNvSpPr/>
          <p:nvPr/>
        </p:nvSpPr>
        <p:spPr>
          <a:xfrm>
            <a:off x="548640" y="3090672"/>
            <a:ext cx="8183879" cy="566928"/>
          </a:xfrm>
          <a:prstGeom prst="roundRect">
            <a:avLst>
              <a:gd name="adj" fmla="val 19355"/>
            </a:avLst>
          </a:prstGeom>
          <a:solidFill>
            <a:srgbClr val="F3F7FC"/>
          </a:solidFill>
          <a:ln w="12700">
            <a:solidFill>
              <a:srgbClr val="F3F7FC"/>
            </a:solidFill>
            <a:prstDash val="solid"/>
          </a:ln>
        </p:spPr>
        <p:txBody>
          <a:bodyPr/>
          <a:lstStyle/>
          <a:p>
            <a:endParaRPr lang="en-NZ"/>
          </a:p>
        </p:txBody>
      </p:sp>
      <p:sp>
        <p:nvSpPr>
          <p:cNvPr id="29" name="Text 26"/>
          <p:cNvSpPr txBox="1"/>
          <p:nvPr/>
        </p:nvSpPr>
        <p:spPr>
          <a:xfrm>
            <a:off x="685800" y="3090672"/>
            <a:ext cx="274320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Prompt injection or request to change data</a:t>
            </a:r>
            <a:endParaRPr lang="en-US" sz="1250" dirty="0"/>
          </a:p>
        </p:txBody>
      </p:sp>
      <p:sp>
        <p:nvSpPr>
          <p:cNvPr id="30" name="Shape 27"/>
          <p:cNvSpPr/>
          <p:nvPr/>
        </p:nvSpPr>
        <p:spPr>
          <a:xfrm>
            <a:off x="3520440" y="322783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31" name="Text 28"/>
          <p:cNvSpPr txBox="1"/>
          <p:nvPr/>
        </p:nvSpPr>
        <p:spPr>
          <a:xfrm>
            <a:off x="3520440" y="322783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32" name="Shape 29"/>
          <p:cNvSpPr/>
          <p:nvPr/>
        </p:nvSpPr>
        <p:spPr>
          <a:xfrm>
            <a:off x="4526280" y="3227832"/>
            <a:ext cx="914400" cy="292608"/>
          </a:xfrm>
          <a:prstGeom prst="roundRect">
            <a:avLst>
              <a:gd name="adj" fmla="val 50000"/>
            </a:avLst>
          </a:prstGeom>
          <a:solidFill>
            <a:srgbClr val="FBE4E4"/>
          </a:solidFill>
          <a:ln w="12700">
            <a:solidFill>
              <a:srgbClr val="FBE4E4"/>
            </a:solidFill>
            <a:prstDash val="solid"/>
          </a:ln>
        </p:spPr>
        <p:txBody>
          <a:bodyPr/>
          <a:lstStyle/>
          <a:p>
            <a:endParaRPr lang="en-NZ"/>
          </a:p>
        </p:txBody>
      </p:sp>
      <p:sp>
        <p:nvSpPr>
          <p:cNvPr id="33" name="Text 30"/>
          <p:cNvSpPr txBox="1"/>
          <p:nvPr/>
        </p:nvSpPr>
        <p:spPr>
          <a:xfrm>
            <a:off x="4526280" y="3227832"/>
            <a:ext cx="914400" cy="292608"/>
          </a:xfrm>
          <a:prstGeom prst="rect">
            <a:avLst/>
          </a:prstGeom>
          <a:noFill/>
          <a:ln/>
        </p:spPr>
        <p:txBody>
          <a:bodyPr wrap="square" lIns="0" tIns="0" rIns="0" bIns="0" rtlCol="0" anchor="ctr"/>
          <a:lstStyle/>
          <a:p>
            <a:pPr marL="0" indent="0" algn="ctr">
              <a:buNone/>
            </a:pPr>
            <a:r>
              <a:rPr lang="en-US" sz="950" b="1" dirty="0">
                <a:solidFill>
                  <a:srgbClr val="9C1C1C"/>
                </a:solidFill>
                <a:latin typeface="Arial" pitchFamily="34" charset="0"/>
                <a:ea typeface="Arial" pitchFamily="34" charset="-122"/>
                <a:cs typeface="Arial" pitchFamily="34" charset="-120"/>
              </a:rPr>
              <a:t>HIGH</a:t>
            </a:r>
            <a:endParaRPr lang="en-US" sz="950" dirty="0"/>
          </a:p>
        </p:txBody>
      </p:sp>
      <p:sp>
        <p:nvSpPr>
          <p:cNvPr id="34" name="Text 31"/>
          <p:cNvSpPr txBox="1"/>
          <p:nvPr/>
        </p:nvSpPr>
        <p:spPr>
          <a:xfrm>
            <a:off x="5577840" y="3090672"/>
            <a:ext cx="3063240" cy="566928"/>
          </a:xfrm>
          <a:prstGeom prst="rect">
            <a:avLst/>
          </a:prstGeom>
          <a:noFill/>
          <a:ln/>
        </p:spPr>
        <p:txBody>
          <a:bodyPr wrap="square" lIns="0" tIns="0" rIns="0" bIns="0" rtlCol="0" anchor="ctr"/>
          <a:lstStyle/>
          <a:p>
            <a:pPr marL="0" indent="0">
              <a:buNone/>
            </a:pPr>
            <a:r>
              <a:rPr lang="en-US" sz="1050" dirty="0">
                <a:solidFill>
                  <a:srgbClr val="222B3A"/>
                </a:solidFill>
                <a:latin typeface="Arial" pitchFamily="34" charset="0"/>
                <a:ea typeface="Arial" pitchFamily="34" charset="-122"/>
                <a:cs typeface="Arial" pitchFamily="34" charset="-120"/>
              </a:rPr>
              <a:t>Read-only SQL; tool output treated as data; content filter; scope gate</a:t>
            </a:r>
            <a:endParaRPr lang="en-US" sz="1150" dirty="0"/>
          </a:p>
        </p:txBody>
      </p:sp>
      <p:sp>
        <p:nvSpPr>
          <p:cNvPr id="35" name="Shape 32"/>
          <p:cNvSpPr/>
          <p:nvPr/>
        </p:nvSpPr>
        <p:spPr>
          <a:xfrm>
            <a:off x="548640" y="3730752"/>
            <a:ext cx="8183879" cy="566928"/>
          </a:xfrm>
          <a:prstGeom prst="roundRect">
            <a:avLst>
              <a:gd name="adj" fmla="val 19355"/>
            </a:avLst>
          </a:prstGeom>
          <a:solidFill>
            <a:srgbClr val="FFFFFF"/>
          </a:solidFill>
          <a:ln w="12700">
            <a:solidFill>
              <a:srgbClr val="FFFFFF"/>
            </a:solidFill>
            <a:prstDash val="solid"/>
          </a:ln>
        </p:spPr>
        <p:txBody>
          <a:bodyPr/>
          <a:lstStyle/>
          <a:p>
            <a:endParaRPr lang="en-NZ"/>
          </a:p>
        </p:txBody>
      </p:sp>
      <p:sp>
        <p:nvSpPr>
          <p:cNvPr id="36" name="Text 33"/>
          <p:cNvSpPr txBox="1"/>
          <p:nvPr/>
        </p:nvSpPr>
        <p:spPr>
          <a:xfrm>
            <a:off x="685800" y="3730752"/>
            <a:ext cx="274320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Customer personal details exposed</a:t>
            </a:r>
            <a:endParaRPr lang="en-US" sz="1250" dirty="0"/>
          </a:p>
        </p:txBody>
      </p:sp>
      <p:sp>
        <p:nvSpPr>
          <p:cNvPr id="37" name="Shape 34"/>
          <p:cNvSpPr/>
          <p:nvPr/>
        </p:nvSpPr>
        <p:spPr>
          <a:xfrm>
            <a:off x="3520440" y="386791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38" name="Text 35"/>
          <p:cNvSpPr txBox="1"/>
          <p:nvPr/>
        </p:nvSpPr>
        <p:spPr>
          <a:xfrm>
            <a:off x="3520440" y="386791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39" name="Shape 36"/>
          <p:cNvSpPr/>
          <p:nvPr/>
        </p:nvSpPr>
        <p:spPr>
          <a:xfrm>
            <a:off x="4526280" y="3867912"/>
            <a:ext cx="914400" cy="292608"/>
          </a:xfrm>
          <a:prstGeom prst="roundRect">
            <a:avLst>
              <a:gd name="adj" fmla="val 50000"/>
            </a:avLst>
          </a:prstGeom>
          <a:solidFill>
            <a:srgbClr val="FBE4E4"/>
          </a:solidFill>
          <a:ln w="12700">
            <a:solidFill>
              <a:srgbClr val="FBE4E4"/>
            </a:solidFill>
            <a:prstDash val="solid"/>
          </a:ln>
        </p:spPr>
        <p:txBody>
          <a:bodyPr/>
          <a:lstStyle/>
          <a:p>
            <a:endParaRPr lang="en-NZ"/>
          </a:p>
        </p:txBody>
      </p:sp>
      <p:sp>
        <p:nvSpPr>
          <p:cNvPr id="40" name="Text 37"/>
          <p:cNvSpPr txBox="1"/>
          <p:nvPr/>
        </p:nvSpPr>
        <p:spPr>
          <a:xfrm>
            <a:off x="4526280" y="3867912"/>
            <a:ext cx="914400" cy="292608"/>
          </a:xfrm>
          <a:prstGeom prst="rect">
            <a:avLst/>
          </a:prstGeom>
          <a:noFill/>
          <a:ln/>
        </p:spPr>
        <p:txBody>
          <a:bodyPr wrap="square" lIns="0" tIns="0" rIns="0" bIns="0" rtlCol="0" anchor="ctr"/>
          <a:lstStyle/>
          <a:p>
            <a:pPr marL="0" indent="0" algn="ctr">
              <a:buNone/>
            </a:pPr>
            <a:r>
              <a:rPr lang="en-US" sz="950" b="1" dirty="0">
                <a:solidFill>
                  <a:srgbClr val="9C1C1C"/>
                </a:solidFill>
                <a:latin typeface="Arial" pitchFamily="34" charset="0"/>
                <a:ea typeface="Arial" pitchFamily="34" charset="-122"/>
                <a:cs typeface="Arial" pitchFamily="34" charset="-120"/>
              </a:rPr>
              <a:t>HIGH</a:t>
            </a:r>
            <a:endParaRPr lang="en-US" sz="950" dirty="0"/>
          </a:p>
        </p:txBody>
      </p:sp>
      <p:sp>
        <p:nvSpPr>
          <p:cNvPr id="41" name="Text 38"/>
          <p:cNvSpPr txBox="1"/>
          <p:nvPr/>
        </p:nvSpPr>
        <p:spPr>
          <a:xfrm>
            <a:off x="5577840" y="3730752"/>
            <a:ext cx="3063240" cy="566928"/>
          </a:xfrm>
          <a:prstGeom prst="rect">
            <a:avLst/>
          </a:prstGeom>
          <a:noFill/>
          <a:ln/>
        </p:spPr>
        <p:txBody>
          <a:bodyPr wrap="square" lIns="0" tIns="0" rIns="0" bIns="0" rtlCol="0" anchor="ctr"/>
          <a:lstStyle/>
          <a:p>
            <a:pPr marL="0" indent="0">
              <a:buNone/>
            </a:pPr>
            <a:r>
              <a:rPr lang="en-US" sz="1050" dirty="0">
                <a:solidFill>
                  <a:srgbClr val="222B3A"/>
                </a:solidFill>
                <a:latin typeface="Arial" pitchFamily="34" charset="0"/>
                <a:ea typeface="Arial" pitchFamily="34" charset="-122"/>
                <a:cs typeface="Arial" pitchFamily="34" charset="-120"/>
              </a:rPr>
              <a:t>Columns refused and removed; prompt rule; test and case T8</a:t>
            </a:r>
            <a:endParaRPr lang="en-US" sz="1150" dirty="0"/>
          </a:p>
        </p:txBody>
      </p:sp>
      <p:sp>
        <p:nvSpPr>
          <p:cNvPr id="42" name="Shape 39"/>
          <p:cNvSpPr/>
          <p:nvPr/>
        </p:nvSpPr>
        <p:spPr>
          <a:xfrm>
            <a:off x="548640" y="4370832"/>
            <a:ext cx="8183879" cy="566928"/>
          </a:xfrm>
          <a:prstGeom prst="roundRect">
            <a:avLst>
              <a:gd name="adj" fmla="val 19355"/>
            </a:avLst>
          </a:prstGeom>
          <a:solidFill>
            <a:srgbClr val="F3F7FC"/>
          </a:solidFill>
          <a:ln w="12700">
            <a:solidFill>
              <a:srgbClr val="F3F7FC"/>
            </a:solidFill>
            <a:prstDash val="solid"/>
          </a:ln>
        </p:spPr>
        <p:txBody>
          <a:bodyPr/>
          <a:lstStyle/>
          <a:p>
            <a:endParaRPr lang="en-NZ"/>
          </a:p>
        </p:txBody>
      </p:sp>
      <p:sp>
        <p:nvSpPr>
          <p:cNvPr id="43" name="Text 40"/>
          <p:cNvSpPr txBox="1"/>
          <p:nvPr/>
        </p:nvSpPr>
        <p:spPr>
          <a:xfrm>
            <a:off x="685800" y="4370832"/>
            <a:ext cx="274320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Synthetic or incomplete data misleads</a:t>
            </a:r>
            <a:endParaRPr lang="en-US" sz="1250" dirty="0"/>
          </a:p>
        </p:txBody>
      </p:sp>
      <p:sp>
        <p:nvSpPr>
          <p:cNvPr id="44" name="Shape 41"/>
          <p:cNvSpPr/>
          <p:nvPr/>
        </p:nvSpPr>
        <p:spPr>
          <a:xfrm>
            <a:off x="3520440" y="4507992"/>
            <a:ext cx="914400" cy="292608"/>
          </a:xfrm>
          <a:prstGeom prst="roundRect">
            <a:avLst>
              <a:gd name="adj" fmla="val 50000"/>
            </a:avLst>
          </a:prstGeom>
          <a:solidFill>
            <a:srgbClr val="FBE4E4"/>
          </a:solidFill>
          <a:ln w="12700">
            <a:solidFill>
              <a:srgbClr val="FBE4E4"/>
            </a:solidFill>
            <a:prstDash val="solid"/>
          </a:ln>
        </p:spPr>
        <p:txBody>
          <a:bodyPr/>
          <a:lstStyle/>
          <a:p>
            <a:endParaRPr lang="en-NZ"/>
          </a:p>
        </p:txBody>
      </p:sp>
      <p:sp>
        <p:nvSpPr>
          <p:cNvPr id="45" name="Text 42"/>
          <p:cNvSpPr txBox="1"/>
          <p:nvPr/>
        </p:nvSpPr>
        <p:spPr>
          <a:xfrm>
            <a:off x="3520440" y="4507992"/>
            <a:ext cx="914400" cy="292608"/>
          </a:xfrm>
          <a:prstGeom prst="rect">
            <a:avLst/>
          </a:prstGeom>
          <a:noFill/>
          <a:ln/>
        </p:spPr>
        <p:txBody>
          <a:bodyPr wrap="square" lIns="0" tIns="0" rIns="0" bIns="0" rtlCol="0" anchor="ctr"/>
          <a:lstStyle/>
          <a:p>
            <a:pPr marL="0" indent="0" algn="ctr">
              <a:buNone/>
            </a:pPr>
            <a:r>
              <a:rPr lang="en-US" sz="950" b="1" dirty="0">
                <a:solidFill>
                  <a:srgbClr val="9C1C1C"/>
                </a:solidFill>
                <a:latin typeface="Arial" pitchFamily="34" charset="0"/>
                <a:ea typeface="Arial" pitchFamily="34" charset="-122"/>
                <a:cs typeface="Arial" pitchFamily="34" charset="-120"/>
              </a:rPr>
              <a:t>HIGH</a:t>
            </a:r>
            <a:endParaRPr lang="en-US" sz="950" dirty="0"/>
          </a:p>
        </p:txBody>
      </p:sp>
      <p:sp>
        <p:nvSpPr>
          <p:cNvPr id="46" name="Shape 43"/>
          <p:cNvSpPr/>
          <p:nvPr/>
        </p:nvSpPr>
        <p:spPr>
          <a:xfrm>
            <a:off x="4526280" y="450799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47" name="Text 44"/>
          <p:cNvSpPr txBox="1"/>
          <p:nvPr/>
        </p:nvSpPr>
        <p:spPr>
          <a:xfrm>
            <a:off x="4526280" y="450799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48" name="Text 45"/>
          <p:cNvSpPr txBox="1"/>
          <p:nvPr/>
        </p:nvSpPr>
        <p:spPr>
          <a:xfrm>
            <a:off x="5577840" y="4370832"/>
            <a:ext cx="3063240" cy="566928"/>
          </a:xfrm>
          <a:prstGeom prst="rect">
            <a:avLst/>
          </a:prstGeom>
          <a:noFill/>
          <a:ln/>
        </p:spPr>
        <p:txBody>
          <a:bodyPr wrap="square" lIns="0" tIns="0" rIns="0" bIns="0" rtlCol="0" anchor="ctr"/>
          <a:lstStyle/>
          <a:p>
            <a:pPr marL="0" indent="0">
              <a:buNone/>
            </a:pPr>
            <a:r>
              <a:rPr lang="en-US" sz="1050" dirty="0">
                <a:solidFill>
                  <a:srgbClr val="222B3A"/>
                </a:solidFill>
                <a:latin typeface="Arial" pitchFamily="34" charset="0"/>
                <a:ea typeface="Arial" pitchFamily="34" charset="-122"/>
                <a:cs typeface="Arial" pitchFamily="34" charset="-120"/>
              </a:rPr>
              <a:t>Limits stated; "within this dataset"; cost as upper bound; no forecasts</a:t>
            </a:r>
            <a:endParaRPr lang="en-US" sz="1150" dirty="0"/>
          </a:p>
        </p:txBody>
      </p:sp>
      <p:sp>
        <p:nvSpPr>
          <p:cNvPr id="49" name="Shape 46"/>
          <p:cNvSpPr/>
          <p:nvPr/>
        </p:nvSpPr>
        <p:spPr>
          <a:xfrm>
            <a:off x="548640" y="5010912"/>
            <a:ext cx="8183879" cy="566928"/>
          </a:xfrm>
          <a:prstGeom prst="roundRect">
            <a:avLst>
              <a:gd name="adj" fmla="val 19355"/>
            </a:avLst>
          </a:prstGeom>
          <a:solidFill>
            <a:srgbClr val="FFFFFF"/>
          </a:solidFill>
          <a:ln w="12700">
            <a:solidFill>
              <a:srgbClr val="FFFFFF"/>
            </a:solidFill>
            <a:prstDash val="solid"/>
          </a:ln>
        </p:spPr>
        <p:txBody>
          <a:bodyPr/>
          <a:lstStyle/>
          <a:p>
            <a:endParaRPr lang="en-NZ"/>
          </a:p>
        </p:txBody>
      </p:sp>
      <p:sp>
        <p:nvSpPr>
          <p:cNvPr id="50" name="Text 47"/>
          <p:cNvSpPr txBox="1"/>
          <p:nvPr/>
        </p:nvSpPr>
        <p:spPr>
          <a:xfrm>
            <a:off x="685800" y="5010912"/>
            <a:ext cx="274320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Inconsistent answers or wrong self-explanation</a:t>
            </a:r>
            <a:endParaRPr lang="en-US" sz="1250" dirty="0"/>
          </a:p>
        </p:txBody>
      </p:sp>
      <p:sp>
        <p:nvSpPr>
          <p:cNvPr id="51" name="Shape 48"/>
          <p:cNvSpPr/>
          <p:nvPr/>
        </p:nvSpPr>
        <p:spPr>
          <a:xfrm>
            <a:off x="3520440" y="5148072"/>
            <a:ext cx="914400" cy="292608"/>
          </a:xfrm>
          <a:prstGeom prst="roundRect">
            <a:avLst>
              <a:gd name="adj" fmla="val 50000"/>
            </a:avLst>
          </a:prstGeom>
          <a:solidFill>
            <a:srgbClr val="FBE4E4"/>
          </a:solidFill>
          <a:ln w="12700">
            <a:solidFill>
              <a:srgbClr val="FBE4E4"/>
            </a:solidFill>
            <a:prstDash val="solid"/>
          </a:ln>
        </p:spPr>
        <p:txBody>
          <a:bodyPr/>
          <a:lstStyle/>
          <a:p>
            <a:endParaRPr lang="en-NZ"/>
          </a:p>
        </p:txBody>
      </p:sp>
      <p:sp>
        <p:nvSpPr>
          <p:cNvPr id="52" name="Text 49"/>
          <p:cNvSpPr txBox="1"/>
          <p:nvPr/>
        </p:nvSpPr>
        <p:spPr>
          <a:xfrm>
            <a:off x="3520440" y="5148072"/>
            <a:ext cx="914400" cy="292608"/>
          </a:xfrm>
          <a:prstGeom prst="rect">
            <a:avLst/>
          </a:prstGeom>
          <a:noFill/>
          <a:ln/>
        </p:spPr>
        <p:txBody>
          <a:bodyPr wrap="square" lIns="0" tIns="0" rIns="0" bIns="0" rtlCol="0" anchor="ctr"/>
          <a:lstStyle/>
          <a:p>
            <a:pPr marL="0" indent="0" algn="ctr">
              <a:buNone/>
            </a:pPr>
            <a:r>
              <a:rPr lang="en-US" sz="950" b="1" dirty="0">
                <a:solidFill>
                  <a:srgbClr val="9C1C1C"/>
                </a:solidFill>
                <a:latin typeface="Arial" pitchFamily="34" charset="0"/>
                <a:ea typeface="Arial" pitchFamily="34" charset="-122"/>
                <a:cs typeface="Arial" pitchFamily="34" charset="-120"/>
              </a:rPr>
              <a:t>HIGH</a:t>
            </a:r>
            <a:endParaRPr lang="en-US" sz="950" dirty="0"/>
          </a:p>
        </p:txBody>
      </p:sp>
      <p:sp>
        <p:nvSpPr>
          <p:cNvPr id="53" name="Shape 50"/>
          <p:cNvSpPr/>
          <p:nvPr/>
        </p:nvSpPr>
        <p:spPr>
          <a:xfrm>
            <a:off x="4526280" y="514807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54" name="Text 51"/>
          <p:cNvSpPr txBox="1"/>
          <p:nvPr/>
        </p:nvSpPr>
        <p:spPr>
          <a:xfrm>
            <a:off x="4526280" y="514807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55" name="Text 52"/>
          <p:cNvSpPr txBox="1"/>
          <p:nvPr/>
        </p:nvSpPr>
        <p:spPr>
          <a:xfrm>
            <a:off x="5577840" y="5010912"/>
            <a:ext cx="3063240" cy="566928"/>
          </a:xfrm>
          <a:prstGeom prst="rect">
            <a:avLst/>
          </a:prstGeom>
          <a:noFill/>
          <a:ln/>
        </p:spPr>
        <p:txBody>
          <a:bodyPr wrap="square" lIns="0" tIns="0" rIns="0" bIns="0" rtlCol="0" anchor="ctr"/>
          <a:lstStyle/>
          <a:p>
            <a:pPr marL="0" indent="0">
              <a:buNone/>
            </a:pPr>
            <a:r>
              <a:rPr lang="en-US" sz="1050" dirty="0">
                <a:solidFill>
                  <a:srgbClr val="222B3A"/>
                </a:solidFill>
                <a:latin typeface="Arial" pitchFamily="34" charset="0"/>
                <a:ea typeface="Arial" pitchFamily="34" charset="-122"/>
                <a:cs typeface="Arial" pitchFamily="34" charset="-120"/>
              </a:rPr>
              <a:t>Fixed procedures in code; repeat-run check; W1–W3</a:t>
            </a:r>
            <a:endParaRPr lang="en-US" sz="1150" dirty="0"/>
          </a:p>
        </p:txBody>
      </p:sp>
      <p:sp>
        <p:nvSpPr>
          <p:cNvPr id="56" name="Shape 53"/>
          <p:cNvSpPr/>
          <p:nvPr/>
        </p:nvSpPr>
        <p:spPr>
          <a:xfrm>
            <a:off x="548640" y="5650992"/>
            <a:ext cx="8183879" cy="566928"/>
          </a:xfrm>
          <a:prstGeom prst="roundRect">
            <a:avLst>
              <a:gd name="adj" fmla="val 19355"/>
            </a:avLst>
          </a:prstGeom>
          <a:solidFill>
            <a:srgbClr val="F3F7FC"/>
          </a:solidFill>
          <a:ln w="12700">
            <a:solidFill>
              <a:srgbClr val="F3F7FC"/>
            </a:solidFill>
            <a:prstDash val="solid"/>
          </a:ln>
        </p:spPr>
        <p:txBody>
          <a:bodyPr/>
          <a:lstStyle/>
          <a:p>
            <a:endParaRPr lang="en-NZ"/>
          </a:p>
        </p:txBody>
      </p:sp>
      <p:sp>
        <p:nvSpPr>
          <p:cNvPr id="57" name="Text 54"/>
          <p:cNvSpPr txBox="1"/>
          <p:nvPr/>
        </p:nvSpPr>
        <p:spPr>
          <a:xfrm>
            <a:off x="685800" y="5650992"/>
            <a:ext cx="274320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Slow or unavailable model, or cost overrun</a:t>
            </a:r>
            <a:endParaRPr lang="en-US" sz="1250" dirty="0"/>
          </a:p>
        </p:txBody>
      </p:sp>
      <p:sp>
        <p:nvSpPr>
          <p:cNvPr id="58" name="Shape 55"/>
          <p:cNvSpPr/>
          <p:nvPr/>
        </p:nvSpPr>
        <p:spPr>
          <a:xfrm>
            <a:off x="3520440" y="578815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59" name="Text 56"/>
          <p:cNvSpPr txBox="1"/>
          <p:nvPr/>
        </p:nvSpPr>
        <p:spPr>
          <a:xfrm>
            <a:off x="3520440" y="578815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60" name="Shape 57"/>
          <p:cNvSpPr/>
          <p:nvPr/>
        </p:nvSpPr>
        <p:spPr>
          <a:xfrm>
            <a:off x="4526280" y="578815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61" name="Text 58"/>
          <p:cNvSpPr txBox="1"/>
          <p:nvPr/>
        </p:nvSpPr>
        <p:spPr>
          <a:xfrm>
            <a:off x="4526280" y="578815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62" name="Text 59"/>
          <p:cNvSpPr txBox="1"/>
          <p:nvPr/>
        </p:nvSpPr>
        <p:spPr>
          <a:xfrm>
            <a:off x="5577840" y="5650992"/>
            <a:ext cx="3063240" cy="566928"/>
          </a:xfrm>
          <a:prstGeom prst="rect">
            <a:avLst/>
          </a:prstGeom>
          <a:noFill/>
          <a:ln/>
        </p:spPr>
        <p:txBody>
          <a:bodyPr wrap="square" lIns="0" tIns="0" rIns="0" bIns="0" rtlCol="0" anchor="ctr"/>
          <a:lstStyle/>
          <a:p>
            <a:pPr marL="0" indent="0">
              <a:buNone/>
            </a:pPr>
            <a:r>
              <a:rPr lang="en-US" sz="1050" dirty="0">
                <a:solidFill>
                  <a:srgbClr val="222B3A"/>
                </a:solidFill>
                <a:latin typeface="Arial" pitchFamily="34" charset="0"/>
                <a:ea typeface="Arial" pitchFamily="34" charset="-122"/>
                <a:cs typeface="Arial" pitchFamily="34" charset="-120"/>
              </a:rPr>
              <a:t>Timeouts and retries; ~10.5 s, ~$0.007; fallback video planned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Privacy, limitations and ethics</a:t>
            </a:r>
            <a:endParaRPr lang="en-US" sz="2800" dirty="0"/>
          </a:p>
        </p:txBody>
      </p:sp>
      <p:sp>
        <p:nvSpPr>
          <p:cNvPr id="3" name="Shape 1"/>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 name="Shape 2"/>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5"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6" name="Text 3"/>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Ankur</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AI Governance Lead</a:t>
            </a:r>
            <a:endParaRPr lang="en-US" sz="1200" dirty="0"/>
          </a:p>
        </p:txBody>
      </p:sp>
      <p:sp>
        <p:nvSpPr>
          <p:cNvPr id="7" name="Text 4"/>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16</a:t>
            </a:r>
            <a:endParaRPr lang="en-US" sz="1000" dirty="0"/>
          </a:p>
        </p:txBody>
      </p:sp>
      <p:sp>
        <p:nvSpPr>
          <p:cNvPr id="8" name="Text 5"/>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9" name="Shape 6"/>
          <p:cNvSpPr/>
          <p:nvPr/>
        </p:nvSpPr>
        <p:spPr>
          <a:xfrm>
            <a:off x="548640" y="1371600"/>
            <a:ext cx="3566160" cy="3108960"/>
          </a:xfrm>
          <a:prstGeom prst="roundRect">
            <a:avLst>
              <a:gd name="adj" fmla="val 3077"/>
            </a:avLst>
          </a:prstGeom>
          <a:solidFill>
            <a:srgbClr val="F3F7FC"/>
          </a:solidFill>
          <a:ln w="12700">
            <a:solidFill>
              <a:srgbClr val="F3F7FC"/>
            </a:solidFill>
            <a:prstDash val="solid"/>
          </a:ln>
        </p:spPr>
        <p:txBody>
          <a:bodyPr/>
          <a:lstStyle/>
          <a:p>
            <a:endParaRPr lang="en-NZ"/>
          </a:p>
        </p:txBody>
      </p:sp>
      <p:sp>
        <p:nvSpPr>
          <p:cNvPr id="10" name="Shape 7"/>
          <p:cNvSpPr/>
          <p:nvPr/>
        </p:nvSpPr>
        <p:spPr>
          <a:xfrm>
            <a:off x="822960" y="1600200"/>
            <a:ext cx="640080" cy="640080"/>
          </a:xfrm>
          <a:prstGeom prst="ellipse">
            <a:avLst/>
          </a:prstGeom>
          <a:solidFill>
            <a:srgbClr val="1F3864"/>
          </a:solidFill>
          <a:ln w="12700">
            <a:solidFill>
              <a:srgbClr val="1F3864"/>
            </a:solidFill>
            <a:prstDash val="solid"/>
          </a:ln>
        </p:spPr>
        <p:txBody>
          <a:bodyPr/>
          <a:lstStyle/>
          <a:p>
            <a:endParaRPr lang="en-NZ"/>
          </a:p>
        </p:txBody>
      </p:sp>
      <p:pic>
        <p:nvPicPr>
          <p:cNvPr id="11" name="Image 1" descr="preencoded.png"/>
          <p:cNvPicPr>
            <a:picLocks noChangeAspect="1"/>
          </p:cNvPicPr>
          <p:nvPr/>
        </p:nvPicPr>
        <p:blipFill>
          <a:blip r:embed="rId4"/>
          <a:stretch>
            <a:fillRect/>
          </a:stretch>
        </p:blipFill>
        <p:spPr>
          <a:xfrm>
            <a:off x="982980" y="1760220"/>
            <a:ext cx="320040" cy="320040"/>
          </a:xfrm>
          <a:prstGeom prst="rect">
            <a:avLst/>
          </a:prstGeom>
        </p:spPr>
      </p:pic>
      <p:sp>
        <p:nvSpPr>
          <p:cNvPr id="12" name="Text 8"/>
          <p:cNvSpPr txBox="1"/>
          <p:nvPr/>
        </p:nvSpPr>
        <p:spPr>
          <a:xfrm>
            <a:off x="1600200" y="1600200"/>
            <a:ext cx="2377440" cy="640080"/>
          </a:xfrm>
          <a:prstGeom prst="rect">
            <a:avLst/>
          </a:prstGeom>
          <a:noFill/>
          <a:ln/>
        </p:spPr>
        <p:txBody>
          <a:bodyPr wrap="square" lIns="0" tIns="0" rIns="0" bIns="0" rtlCol="0" anchor="ctr"/>
          <a:lstStyle/>
          <a:p>
            <a:pPr marL="0" indent="0">
              <a:buNone/>
            </a:pPr>
            <a:r>
              <a:rPr lang="en-US" sz="1700" b="1" dirty="0">
                <a:solidFill>
                  <a:srgbClr val="1F3864"/>
                </a:solidFill>
                <a:latin typeface="Arial" pitchFamily="34" charset="0"/>
                <a:ea typeface="Arial" pitchFamily="34" charset="-122"/>
                <a:cs typeface="Arial" pitchFamily="34" charset="-120"/>
              </a:rPr>
              <a:t>Data privacy</a:t>
            </a:r>
            <a:endParaRPr lang="en-US" sz="1700" dirty="0"/>
          </a:p>
        </p:txBody>
      </p:sp>
      <p:sp>
        <p:nvSpPr>
          <p:cNvPr id="13" name="Text 9"/>
          <p:cNvSpPr txBox="1"/>
          <p:nvPr/>
        </p:nvSpPr>
        <p:spPr>
          <a:xfrm>
            <a:off x="822960" y="2331720"/>
            <a:ext cx="3063240" cy="20574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222B3A"/>
                </a:solidFill>
                <a:latin typeface="Arial" pitchFamily="34" charset="0"/>
                <a:ea typeface="Arial" pitchFamily="34" charset="-122"/>
                <a:cs typeface="Arial" pitchFamily="34" charset="-120"/>
              </a:rPr>
              <a:t>Dataset is synthetic</a:t>
            </a:r>
            <a:endParaRPr lang="en-US" sz="1400" dirty="0"/>
          </a:p>
          <a:p>
            <a:pPr marL="342900" indent="-342900">
              <a:spcAft>
                <a:spcPts val="1000"/>
              </a:spcAft>
              <a:buSzPct val="100000"/>
              <a:buChar char="•"/>
            </a:pPr>
            <a:r>
              <a:rPr lang="en-US" sz="1250" dirty="0">
                <a:solidFill>
                  <a:srgbClr val="222B3A"/>
                </a:solidFill>
                <a:latin typeface="Arial" pitchFamily="34" charset="0"/>
                <a:ea typeface="Arial" pitchFamily="34" charset="-122"/>
                <a:cs typeface="Arial" pitchFamily="34" charset="-120"/>
              </a:rPr>
              <a:t>Store access enforced in the database; a claim of more access changes nothing</a:t>
            </a:r>
            <a:endParaRPr lang="en-US" sz="1400" dirty="0"/>
          </a:p>
          <a:p>
            <a:pPr marL="342900" indent="-342900">
              <a:spcAft>
                <a:spcPts val="1000"/>
              </a:spcAft>
              <a:buSzPct val="100000"/>
              <a:buChar char="•"/>
            </a:pPr>
            <a:r>
              <a:rPr lang="en-US" sz="1250" dirty="0">
                <a:solidFill>
                  <a:srgbClr val="222B3A"/>
                </a:solidFill>
                <a:latin typeface="Arial" pitchFamily="34" charset="0"/>
                <a:ea typeface="Arial" pitchFamily="34" charset="-122"/>
                <a:cs typeface="Arial" pitchFamily="34" charset="-120"/>
              </a:rPr>
              <a:t>Customer names, emails and phones never returned (defect found 25/10/2026, fixed)</a:t>
            </a:r>
            <a:endParaRPr lang="en-US" sz="1400" dirty="0"/>
          </a:p>
          <a:p>
            <a:pPr marL="342900" indent="-342900">
              <a:spcAft>
                <a:spcPts val="1000"/>
              </a:spcAft>
              <a:buSzPct val="100000"/>
              <a:buChar char="•"/>
            </a:pPr>
            <a:r>
              <a:rPr lang="en-US" sz="1250" dirty="0">
                <a:solidFill>
                  <a:srgbClr val="222B3A"/>
                </a:solidFill>
                <a:latin typeface="Arial" pitchFamily="34" charset="0"/>
                <a:ea typeface="Arial" pitchFamily="34" charset="-122"/>
                <a:cs typeface="Arial" pitchFamily="34" charset="-120"/>
              </a:rPr>
              <a:t>Saved chats private to each person</a:t>
            </a:r>
            <a:endParaRPr lang="en-US" sz="1400" dirty="0"/>
          </a:p>
        </p:txBody>
      </p:sp>
      <p:sp>
        <p:nvSpPr>
          <p:cNvPr id="14" name="Shape 10"/>
          <p:cNvSpPr/>
          <p:nvPr/>
        </p:nvSpPr>
        <p:spPr>
          <a:xfrm>
            <a:off x="4297680" y="1371600"/>
            <a:ext cx="3566160" cy="3108960"/>
          </a:xfrm>
          <a:prstGeom prst="roundRect">
            <a:avLst>
              <a:gd name="adj" fmla="val 3077"/>
            </a:avLst>
          </a:prstGeom>
          <a:solidFill>
            <a:srgbClr val="FFF8E6"/>
          </a:solidFill>
          <a:ln w="12700">
            <a:solidFill>
              <a:srgbClr val="FFF8E6"/>
            </a:solidFill>
            <a:prstDash val="solid"/>
          </a:ln>
        </p:spPr>
        <p:txBody>
          <a:bodyPr/>
          <a:lstStyle/>
          <a:p>
            <a:endParaRPr lang="en-NZ"/>
          </a:p>
        </p:txBody>
      </p:sp>
      <p:sp>
        <p:nvSpPr>
          <p:cNvPr id="15" name="Shape 11"/>
          <p:cNvSpPr/>
          <p:nvPr/>
        </p:nvSpPr>
        <p:spPr>
          <a:xfrm>
            <a:off x="4572000" y="1600200"/>
            <a:ext cx="640080" cy="640080"/>
          </a:xfrm>
          <a:prstGeom prst="ellipse">
            <a:avLst/>
          </a:prstGeom>
          <a:solidFill>
            <a:srgbClr val="C55A11"/>
          </a:solidFill>
          <a:ln w="12700">
            <a:solidFill>
              <a:srgbClr val="C55A11"/>
            </a:solidFill>
            <a:prstDash val="solid"/>
          </a:ln>
        </p:spPr>
        <p:txBody>
          <a:bodyPr/>
          <a:lstStyle/>
          <a:p>
            <a:endParaRPr lang="en-NZ"/>
          </a:p>
        </p:txBody>
      </p:sp>
      <p:pic>
        <p:nvPicPr>
          <p:cNvPr id="16" name="Image 2" descr="preencoded.png"/>
          <p:cNvPicPr>
            <a:picLocks noChangeAspect="1"/>
          </p:cNvPicPr>
          <p:nvPr/>
        </p:nvPicPr>
        <p:blipFill>
          <a:blip r:embed="rId5"/>
          <a:stretch>
            <a:fillRect/>
          </a:stretch>
        </p:blipFill>
        <p:spPr>
          <a:xfrm>
            <a:off x="4732020" y="1760220"/>
            <a:ext cx="320040" cy="320040"/>
          </a:xfrm>
          <a:prstGeom prst="rect">
            <a:avLst/>
          </a:prstGeom>
        </p:spPr>
      </p:pic>
      <p:sp>
        <p:nvSpPr>
          <p:cNvPr id="17" name="Text 12"/>
          <p:cNvSpPr txBox="1"/>
          <p:nvPr/>
        </p:nvSpPr>
        <p:spPr>
          <a:xfrm>
            <a:off x="5349240" y="1600200"/>
            <a:ext cx="2377440" cy="640080"/>
          </a:xfrm>
          <a:prstGeom prst="rect">
            <a:avLst/>
          </a:prstGeom>
          <a:noFill/>
          <a:ln/>
        </p:spPr>
        <p:txBody>
          <a:bodyPr wrap="square" lIns="0" tIns="0" rIns="0" bIns="0" rtlCol="0" anchor="ctr"/>
          <a:lstStyle/>
          <a:p>
            <a:pPr marL="0" indent="0">
              <a:buNone/>
            </a:pPr>
            <a:r>
              <a:rPr lang="en-US" sz="1700" b="1" dirty="0">
                <a:solidFill>
                  <a:srgbClr val="1F3864"/>
                </a:solidFill>
                <a:latin typeface="Arial" pitchFamily="34" charset="0"/>
                <a:ea typeface="Arial" pitchFamily="34" charset="-122"/>
                <a:cs typeface="Arial" pitchFamily="34" charset="-120"/>
              </a:rPr>
              <a:t>Limitations we state</a:t>
            </a:r>
            <a:endParaRPr lang="en-US" sz="1700" dirty="0"/>
          </a:p>
        </p:txBody>
      </p:sp>
      <p:sp>
        <p:nvSpPr>
          <p:cNvPr id="18" name="Text 13"/>
          <p:cNvSpPr txBox="1"/>
          <p:nvPr/>
        </p:nvSpPr>
        <p:spPr>
          <a:xfrm>
            <a:off x="4572000" y="2331720"/>
            <a:ext cx="3063240" cy="20574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222B3A"/>
                </a:solidFill>
                <a:latin typeface="Arial" pitchFamily="34" charset="0"/>
                <a:ea typeface="Arial" pitchFamily="34" charset="-122"/>
                <a:cs typeface="Arial" pitchFamily="34" charset="-120"/>
              </a:rPr>
              <a:t>Synthetic data shows the method, not real savings</a:t>
            </a:r>
            <a:endParaRPr lang="en-US" sz="1400" dirty="0"/>
          </a:p>
          <a:p>
            <a:pPr marL="342900" indent="-342900">
              <a:spcAft>
                <a:spcPts val="1000"/>
              </a:spcAft>
              <a:buSzPct val="100000"/>
              <a:buChar char="•"/>
            </a:pPr>
            <a:r>
              <a:rPr lang="en-US" sz="1250" dirty="0">
                <a:solidFill>
                  <a:srgbClr val="222B3A"/>
                </a:solidFill>
                <a:latin typeface="Arial" pitchFamily="34" charset="0"/>
                <a:ea typeface="Arial" pitchFamily="34" charset="-122"/>
                <a:cs typeface="Arial" pitchFamily="34" charset="-120"/>
              </a:rPr>
              <a:t>Words such as "highest" or "fell" are not checked by code</a:t>
            </a:r>
            <a:endParaRPr lang="en-US" sz="1400" dirty="0"/>
          </a:p>
          <a:p>
            <a:pPr marL="342900" indent="-342900">
              <a:spcAft>
                <a:spcPts val="1000"/>
              </a:spcAft>
              <a:buSzPct val="100000"/>
              <a:buChar char="•"/>
            </a:pPr>
            <a:r>
              <a:rPr lang="en-US" sz="1250" dirty="0">
                <a:solidFill>
                  <a:srgbClr val="222B3A"/>
                </a:solidFill>
                <a:highlight>
                  <a:srgbClr val="FF0000"/>
                </a:highlight>
                <a:latin typeface="Arial" pitchFamily="34" charset="0"/>
                <a:ea typeface="Arial" pitchFamily="34" charset="-122"/>
                <a:cs typeface="Arial" pitchFamily="34" charset="-120"/>
              </a:rPr>
              <a:t>The model sometimes adds general-knowledge remarks</a:t>
            </a:r>
            <a:endParaRPr lang="en-US" sz="1400" dirty="0">
              <a:highlight>
                <a:srgbClr val="FF0000"/>
              </a:highlight>
            </a:endParaRPr>
          </a:p>
          <a:p>
            <a:pPr marL="342900" indent="-342900">
              <a:spcAft>
                <a:spcPts val="1000"/>
              </a:spcAft>
              <a:buSzPct val="100000"/>
              <a:buChar char="•"/>
            </a:pPr>
            <a:r>
              <a:rPr lang="en-US" sz="1250" dirty="0">
                <a:solidFill>
                  <a:srgbClr val="222B3A"/>
                </a:solidFill>
                <a:highlight>
                  <a:srgbClr val="FF0000"/>
                </a:highlight>
                <a:latin typeface="Arial" pitchFamily="34" charset="0"/>
                <a:ea typeface="Arial" pitchFamily="34" charset="-122"/>
                <a:cs typeface="Arial" pitchFamily="34" charset="-120"/>
              </a:rPr>
              <a:t>Not yet tested with real managers or timed</a:t>
            </a:r>
            <a:endParaRPr lang="en-US" sz="1400" dirty="0">
              <a:highlight>
                <a:srgbClr val="FF0000"/>
              </a:highlight>
            </a:endParaRPr>
          </a:p>
        </p:txBody>
      </p:sp>
      <p:sp>
        <p:nvSpPr>
          <p:cNvPr id="19" name="Shape 14"/>
          <p:cNvSpPr/>
          <p:nvPr/>
        </p:nvSpPr>
        <p:spPr>
          <a:xfrm>
            <a:off x="8046720" y="1371600"/>
            <a:ext cx="3566160" cy="3108960"/>
          </a:xfrm>
          <a:prstGeom prst="roundRect">
            <a:avLst>
              <a:gd name="adj" fmla="val 3077"/>
            </a:avLst>
          </a:prstGeom>
          <a:solidFill>
            <a:srgbClr val="F3F7FC"/>
          </a:solidFill>
          <a:ln w="12700">
            <a:solidFill>
              <a:srgbClr val="F3F7FC"/>
            </a:solidFill>
            <a:prstDash val="solid"/>
          </a:ln>
        </p:spPr>
        <p:txBody>
          <a:bodyPr/>
          <a:lstStyle/>
          <a:p>
            <a:endParaRPr lang="en-NZ"/>
          </a:p>
        </p:txBody>
      </p:sp>
      <p:sp>
        <p:nvSpPr>
          <p:cNvPr id="20" name="Shape 15"/>
          <p:cNvSpPr/>
          <p:nvPr/>
        </p:nvSpPr>
        <p:spPr>
          <a:xfrm>
            <a:off x="8321040" y="1600200"/>
            <a:ext cx="640080" cy="640080"/>
          </a:xfrm>
          <a:prstGeom prst="ellipse">
            <a:avLst/>
          </a:prstGeom>
          <a:solidFill>
            <a:srgbClr val="1F3864"/>
          </a:solidFill>
          <a:ln w="12700">
            <a:solidFill>
              <a:srgbClr val="1F3864"/>
            </a:solidFill>
            <a:prstDash val="solid"/>
          </a:ln>
        </p:spPr>
        <p:txBody>
          <a:bodyPr/>
          <a:lstStyle/>
          <a:p>
            <a:endParaRPr lang="en-NZ"/>
          </a:p>
        </p:txBody>
      </p:sp>
      <p:pic>
        <p:nvPicPr>
          <p:cNvPr id="21" name="Image 3" descr="preencoded.png"/>
          <p:cNvPicPr>
            <a:picLocks noChangeAspect="1"/>
          </p:cNvPicPr>
          <p:nvPr/>
        </p:nvPicPr>
        <p:blipFill>
          <a:blip r:embed="rId6"/>
          <a:stretch>
            <a:fillRect/>
          </a:stretch>
        </p:blipFill>
        <p:spPr>
          <a:xfrm>
            <a:off x="8481060" y="1760220"/>
            <a:ext cx="320040" cy="320040"/>
          </a:xfrm>
          <a:prstGeom prst="rect">
            <a:avLst/>
          </a:prstGeom>
        </p:spPr>
      </p:pic>
      <p:sp>
        <p:nvSpPr>
          <p:cNvPr id="22" name="Text 16"/>
          <p:cNvSpPr txBox="1"/>
          <p:nvPr/>
        </p:nvSpPr>
        <p:spPr>
          <a:xfrm>
            <a:off x="9098280" y="1600200"/>
            <a:ext cx="2377440" cy="640080"/>
          </a:xfrm>
          <a:prstGeom prst="rect">
            <a:avLst/>
          </a:prstGeom>
          <a:noFill/>
          <a:ln/>
        </p:spPr>
        <p:txBody>
          <a:bodyPr wrap="square" lIns="0" tIns="0" rIns="0" bIns="0" rtlCol="0" anchor="ctr"/>
          <a:lstStyle/>
          <a:p>
            <a:pPr marL="0" indent="0">
              <a:buNone/>
            </a:pPr>
            <a:r>
              <a:rPr lang="en-US" sz="1700" b="1" dirty="0">
                <a:solidFill>
                  <a:srgbClr val="1F3864"/>
                </a:solidFill>
                <a:latin typeface="Arial" pitchFamily="34" charset="0"/>
                <a:ea typeface="Arial" pitchFamily="34" charset="-122"/>
                <a:cs typeface="Arial" pitchFamily="34" charset="-120"/>
              </a:rPr>
              <a:t>Bias and ethics</a:t>
            </a:r>
            <a:endParaRPr lang="en-US" sz="1700" dirty="0"/>
          </a:p>
        </p:txBody>
      </p:sp>
      <p:sp>
        <p:nvSpPr>
          <p:cNvPr id="23" name="Text 17"/>
          <p:cNvSpPr txBox="1"/>
          <p:nvPr/>
        </p:nvSpPr>
        <p:spPr>
          <a:xfrm>
            <a:off x="8321040" y="2331720"/>
            <a:ext cx="3063240" cy="20574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222B3A"/>
                </a:solidFill>
                <a:latin typeface="Arial" pitchFamily="34" charset="0"/>
                <a:ea typeface="Arial" pitchFamily="34" charset="-122"/>
                <a:cs typeface="Arial" pitchFamily="34" charset="-120"/>
              </a:rPr>
              <a:t>Rankings use units sold unless revenue is asked, so the metric is always stated</a:t>
            </a:r>
            <a:endParaRPr lang="en-US" sz="1400" dirty="0"/>
          </a:p>
          <a:p>
            <a:pPr marL="342900" indent="-342900">
              <a:spcAft>
                <a:spcPts val="1000"/>
              </a:spcAft>
              <a:buSzPct val="100000"/>
              <a:buChar char="•"/>
            </a:pPr>
            <a:r>
              <a:rPr lang="en-US" sz="1250" dirty="0">
                <a:solidFill>
                  <a:srgbClr val="222B3A"/>
                </a:solidFill>
                <a:latin typeface="Arial" pitchFamily="34" charset="0"/>
                <a:ea typeface="Arial" pitchFamily="34" charset="-122"/>
                <a:cs typeface="Arial" pitchFamily="34" charset="-120"/>
              </a:rPr>
              <a:t>No profiling of individual customers</a:t>
            </a:r>
            <a:endParaRPr lang="en-US" sz="1400" dirty="0"/>
          </a:p>
          <a:p>
            <a:pPr marL="342900" indent="-342900">
              <a:spcAft>
                <a:spcPts val="1000"/>
              </a:spcAft>
              <a:buSzPct val="100000"/>
              <a:buChar char="•"/>
            </a:pPr>
            <a:r>
              <a:rPr lang="en-US" sz="1250" dirty="0">
                <a:solidFill>
                  <a:srgbClr val="222B3A"/>
                </a:solidFill>
                <a:latin typeface="Arial" pitchFamily="34" charset="0"/>
                <a:ea typeface="Arial" pitchFamily="34" charset="-122"/>
                <a:cs typeface="Arial" pitchFamily="34" charset="-120"/>
              </a:rPr>
              <a:t>Seasons are northern hemisphere</a:t>
            </a:r>
            <a:endParaRPr lang="en-US" sz="1400" dirty="0"/>
          </a:p>
          <a:p>
            <a:pPr marL="342900" indent="-342900">
              <a:spcAft>
                <a:spcPts val="1000"/>
              </a:spcAft>
              <a:buSzPct val="100000"/>
              <a:buChar char="•"/>
            </a:pPr>
            <a:r>
              <a:rPr lang="en-US" sz="1250" dirty="0">
                <a:solidFill>
                  <a:srgbClr val="222B3A"/>
                </a:solidFill>
                <a:highlight>
                  <a:srgbClr val="FF0000"/>
                </a:highlight>
                <a:latin typeface="Arial" pitchFamily="34" charset="0"/>
                <a:ea typeface="Arial" pitchFamily="34" charset="-122"/>
                <a:cs typeface="Arial" pitchFamily="34" charset="-120"/>
              </a:rPr>
              <a:t>Users reminded not to over-rely; managers stay accountable</a:t>
            </a:r>
            <a:endParaRPr lang="en-US" sz="1400" dirty="0">
              <a:highlight>
                <a:srgbClr val="FF0000"/>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Where we are and what comes next</a:t>
            </a:r>
            <a:endParaRPr lang="en-US" sz="2800" dirty="0"/>
          </a:p>
        </p:txBody>
      </p:sp>
      <p:sp>
        <p:nvSpPr>
          <p:cNvPr id="3" name="Shape 1"/>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 name="Shape 2"/>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5"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6" name="Text 3"/>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Sateesh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Project Lead</a:t>
            </a:r>
            <a:endParaRPr lang="en-US" sz="1200" dirty="0"/>
          </a:p>
        </p:txBody>
      </p:sp>
      <p:sp>
        <p:nvSpPr>
          <p:cNvPr id="7" name="Text 4"/>
          <p:cNvSpPr txBox="1"/>
          <p:nvPr/>
        </p:nvSpPr>
        <p:spPr>
          <a:xfrm>
            <a:off x="8275320" y="6446520"/>
            <a:ext cx="45720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18</a:t>
            </a:r>
            <a:endParaRPr lang="en-US" sz="1000" dirty="0"/>
          </a:p>
        </p:txBody>
      </p:sp>
      <p:sp>
        <p:nvSpPr>
          <p:cNvPr id="8" name="Text 5"/>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9" name="Shape 6"/>
          <p:cNvSpPr/>
          <p:nvPr/>
        </p:nvSpPr>
        <p:spPr>
          <a:xfrm>
            <a:off x="548640" y="1371600"/>
            <a:ext cx="5394960" cy="3108960"/>
          </a:xfrm>
          <a:prstGeom prst="roundRect">
            <a:avLst>
              <a:gd name="adj" fmla="val 2264"/>
            </a:avLst>
          </a:prstGeom>
          <a:solidFill>
            <a:srgbClr val="F3F7FC"/>
          </a:solidFill>
          <a:ln w="12700">
            <a:solidFill>
              <a:srgbClr val="F3F7FC"/>
            </a:solidFill>
            <a:prstDash val="solid"/>
          </a:ln>
        </p:spPr>
        <p:txBody>
          <a:bodyPr/>
          <a:lstStyle/>
          <a:p>
            <a:endParaRPr lang="en-NZ"/>
          </a:p>
        </p:txBody>
      </p:sp>
      <p:sp>
        <p:nvSpPr>
          <p:cNvPr id="10" name="Shape 7"/>
          <p:cNvSpPr/>
          <p:nvPr/>
        </p:nvSpPr>
        <p:spPr>
          <a:xfrm>
            <a:off x="822960" y="1572768"/>
            <a:ext cx="603504" cy="603504"/>
          </a:xfrm>
          <a:prstGeom prst="ellipse">
            <a:avLst/>
          </a:prstGeom>
          <a:solidFill>
            <a:srgbClr val="548235"/>
          </a:solidFill>
          <a:ln w="12700">
            <a:solidFill>
              <a:srgbClr val="548235"/>
            </a:solidFill>
            <a:prstDash val="solid"/>
          </a:ln>
        </p:spPr>
        <p:txBody>
          <a:bodyPr/>
          <a:lstStyle/>
          <a:p>
            <a:endParaRPr lang="en-NZ"/>
          </a:p>
        </p:txBody>
      </p:sp>
      <p:pic>
        <p:nvPicPr>
          <p:cNvPr id="11" name="Image 1" descr="preencoded.png"/>
          <p:cNvPicPr>
            <a:picLocks noChangeAspect="1"/>
          </p:cNvPicPr>
          <p:nvPr/>
        </p:nvPicPr>
        <p:blipFill>
          <a:blip r:embed="rId4"/>
          <a:stretch>
            <a:fillRect/>
          </a:stretch>
        </p:blipFill>
        <p:spPr>
          <a:xfrm>
            <a:off x="973836" y="1723644"/>
            <a:ext cx="301752" cy="301752"/>
          </a:xfrm>
          <a:prstGeom prst="rect">
            <a:avLst/>
          </a:prstGeom>
        </p:spPr>
      </p:pic>
      <p:sp>
        <p:nvSpPr>
          <p:cNvPr id="12" name="Text 8"/>
          <p:cNvSpPr txBox="1"/>
          <p:nvPr/>
        </p:nvSpPr>
        <p:spPr>
          <a:xfrm>
            <a:off x="1554480" y="1572768"/>
            <a:ext cx="4206240" cy="603504"/>
          </a:xfrm>
          <a:prstGeom prst="rect">
            <a:avLst/>
          </a:prstGeom>
          <a:noFill/>
          <a:ln/>
        </p:spPr>
        <p:txBody>
          <a:bodyPr wrap="square" lIns="0" tIns="0" rIns="0" bIns="0" rtlCol="0" anchor="ctr"/>
          <a:lstStyle/>
          <a:p>
            <a:pPr marL="0" indent="0">
              <a:buNone/>
            </a:pPr>
            <a:r>
              <a:rPr lang="en-US" sz="1700" b="1" dirty="0">
                <a:solidFill>
                  <a:srgbClr val="1F3864"/>
                </a:solidFill>
                <a:latin typeface="Arial" pitchFamily="34" charset="0"/>
                <a:ea typeface="Arial" pitchFamily="34" charset="-122"/>
                <a:cs typeface="Arial" pitchFamily="34" charset="-120"/>
              </a:rPr>
              <a:t>Delivered in the proof of concept</a:t>
            </a:r>
            <a:endParaRPr lang="en-US" sz="1700" dirty="0"/>
          </a:p>
        </p:txBody>
      </p:sp>
      <p:sp>
        <p:nvSpPr>
          <p:cNvPr id="13" name="Text 9"/>
          <p:cNvSpPr txBox="1"/>
          <p:nvPr/>
        </p:nvSpPr>
        <p:spPr>
          <a:xfrm>
            <a:off x="868680" y="2240280"/>
            <a:ext cx="484632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22B3A"/>
                </a:solidFill>
                <a:latin typeface="Arial" pitchFamily="34" charset="0"/>
                <a:ea typeface="Arial" pitchFamily="34" charset="-122"/>
                <a:cs typeface="Arial" pitchFamily="34" charset="-120"/>
              </a:rPr>
              <a:t>Chat page with role sign-in, private saved chats, charts and CSV / PDF downloads</a:t>
            </a:r>
            <a:endParaRPr lang="en-US" sz="1300" dirty="0"/>
          </a:p>
          <a:p>
            <a:pPr marL="342900" indent="-342900">
              <a:spcAft>
                <a:spcPts val="600"/>
              </a:spcAft>
              <a:buSzPct val="100000"/>
              <a:buChar char="•"/>
            </a:pPr>
            <a:r>
              <a:rPr lang="en-US" sz="1200" dirty="0">
                <a:solidFill>
                  <a:srgbClr val="222B3A"/>
                </a:solidFill>
                <a:latin typeface="Arial" pitchFamily="34" charset="0"/>
                <a:ea typeface="Arial" pitchFamily="34" charset="-122"/>
                <a:cs typeface="Arial" pitchFamily="34" charset="-120"/>
              </a:rPr>
              <a:t>Excess-stock ranking with a seasonal clearance guard</a:t>
            </a:r>
            <a:endParaRPr lang="en-US" sz="1300" dirty="0"/>
          </a:p>
          <a:p>
            <a:pPr marL="342900" indent="-342900">
              <a:spcAft>
                <a:spcPts val="600"/>
              </a:spcAft>
              <a:buSzPct val="100000"/>
              <a:buChar char="•"/>
            </a:pPr>
            <a:r>
              <a:rPr lang="en-US" sz="1200" dirty="0">
                <a:solidFill>
                  <a:srgbClr val="222B3A"/>
                </a:solidFill>
                <a:latin typeface="Arial" pitchFamily="34" charset="0"/>
                <a:ea typeface="Arial" pitchFamily="34" charset="-122"/>
                <a:cs typeface="Arial" pitchFamily="34" charset="-120"/>
              </a:rPr>
              <a:t>Store coverage, transfer, sales, seasonal and stock-cover analysis</a:t>
            </a:r>
            <a:endParaRPr lang="en-US" sz="1300" dirty="0"/>
          </a:p>
          <a:p>
            <a:pPr marL="342900" indent="-342900">
              <a:spcAft>
                <a:spcPts val="600"/>
              </a:spcAft>
              <a:buSzPct val="100000"/>
              <a:buChar char="•"/>
            </a:pPr>
            <a:r>
              <a:rPr lang="en-US" sz="1200" dirty="0">
                <a:solidFill>
                  <a:srgbClr val="222B3A"/>
                </a:solidFill>
                <a:latin typeface="Arial" pitchFamily="34" charset="0"/>
                <a:ea typeface="Arial" pitchFamily="34" charset="-122"/>
                <a:cs typeface="Arial" pitchFamily="34" charset="-120"/>
              </a:rPr>
              <a:t>Product lookup and search by meaning</a:t>
            </a:r>
            <a:endParaRPr lang="en-US" sz="1300" dirty="0"/>
          </a:p>
          <a:p>
            <a:pPr marL="342900" indent="-342900">
              <a:spcAft>
                <a:spcPts val="600"/>
              </a:spcAft>
              <a:buSzPct val="100000"/>
              <a:buChar char="•"/>
            </a:pPr>
            <a:r>
              <a:rPr lang="en-US" sz="1200" dirty="0">
                <a:solidFill>
                  <a:srgbClr val="222B3A"/>
                </a:solidFill>
                <a:latin typeface="Arial" pitchFamily="34" charset="0"/>
                <a:ea typeface="Arial" pitchFamily="34" charset="-122"/>
                <a:cs typeface="Arial" pitchFamily="34" charset="-120"/>
              </a:rPr>
              <a:t>Answer verification, scope gate and refusals</a:t>
            </a:r>
            <a:endParaRPr lang="en-US" sz="1300" dirty="0"/>
          </a:p>
          <a:p>
            <a:pPr marL="342900" indent="-342900">
              <a:spcAft>
                <a:spcPts val="600"/>
              </a:spcAft>
              <a:buSzPct val="100000"/>
              <a:buChar char="•"/>
            </a:pPr>
            <a:r>
              <a:rPr lang="en-US" sz="1200" dirty="0">
                <a:solidFill>
                  <a:srgbClr val="222B3A"/>
                </a:solidFill>
                <a:latin typeface="Arial" pitchFamily="34" charset="0"/>
                <a:ea typeface="Arial" pitchFamily="34" charset="-122"/>
                <a:cs typeface="Arial" pitchFamily="34" charset="-120"/>
              </a:rPr>
              <a:t>Read-only, human-approved drafts</a:t>
            </a:r>
            <a:endParaRPr lang="en-US" sz="1300" dirty="0"/>
          </a:p>
          <a:p>
            <a:pPr marL="342900" indent="-342900">
              <a:spcAft>
                <a:spcPts val="600"/>
              </a:spcAft>
              <a:buSzPct val="100000"/>
              <a:buChar char="•"/>
            </a:pPr>
            <a:r>
              <a:rPr lang="en-US" sz="1200" dirty="0">
                <a:solidFill>
                  <a:srgbClr val="222B3A"/>
                </a:solidFill>
                <a:latin typeface="Arial" pitchFamily="34" charset="0"/>
                <a:ea typeface="Arial" pitchFamily="34" charset="-122"/>
                <a:cs typeface="Arial" pitchFamily="34" charset="-120"/>
              </a:rPr>
              <a:t>75-case evaluation, grounding audit and decision log</a:t>
            </a:r>
            <a:endParaRPr lang="en-US" sz="1300" dirty="0"/>
          </a:p>
        </p:txBody>
      </p:sp>
      <p:sp>
        <p:nvSpPr>
          <p:cNvPr id="14" name="Shape 10"/>
          <p:cNvSpPr/>
          <p:nvPr/>
        </p:nvSpPr>
        <p:spPr>
          <a:xfrm>
            <a:off x="6245352" y="1371600"/>
            <a:ext cx="5394960" cy="3108960"/>
          </a:xfrm>
          <a:prstGeom prst="roundRect">
            <a:avLst>
              <a:gd name="adj" fmla="val 2264"/>
            </a:avLst>
          </a:prstGeom>
          <a:solidFill>
            <a:srgbClr val="1F3864"/>
          </a:solidFill>
          <a:ln w="12700">
            <a:solidFill>
              <a:srgbClr val="1F3864"/>
            </a:solidFill>
            <a:prstDash val="solid"/>
          </a:ln>
        </p:spPr>
        <p:txBody>
          <a:bodyPr/>
          <a:lstStyle/>
          <a:p>
            <a:endParaRPr lang="en-NZ"/>
          </a:p>
        </p:txBody>
      </p:sp>
      <p:sp>
        <p:nvSpPr>
          <p:cNvPr id="15" name="Shape 11"/>
          <p:cNvSpPr/>
          <p:nvPr/>
        </p:nvSpPr>
        <p:spPr>
          <a:xfrm>
            <a:off x="6519672" y="1572768"/>
            <a:ext cx="603504" cy="603504"/>
          </a:xfrm>
          <a:prstGeom prst="ellipse">
            <a:avLst/>
          </a:prstGeom>
          <a:solidFill>
            <a:srgbClr val="F2A900"/>
          </a:solidFill>
          <a:ln w="12700">
            <a:solidFill>
              <a:srgbClr val="F2A900"/>
            </a:solidFill>
            <a:prstDash val="solid"/>
          </a:ln>
        </p:spPr>
        <p:txBody>
          <a:bodyPr/>
          <a:lstStyle/>
          <a:p>
            <a:endParaRPr lang="en-NZ"/>
          </a:p>
        </p:txBody>
      </p:sp>
      <p:pic>
        <p:nvPicPr>
          <p:cNvPr id="16" name="Image 2" descr="preencoded.png"/>
          <p:cNvPicPr>
            <a:picLocks noChangeAspect="1"/>
          </p:cNvPicPr>
          <p:nvPr/>
        </p:nvPicPr>
        <p:blipFill>
          <a:blip r:embed="rId5"/>
          <a:stretch>
            <a:fillRect/>
          </a:stretch>
        </p:blipFill>
        <p:spPr>
          <a:xfrm>
            <a:off x="6670548" y="1723644"/>
            <a:ext cx="301752" cy="301752"/>
          </a:xfrm>
          <a:prstGeom prst="rect">
            <a:avLst/>
          </a:prstGeom>
        </p:spPr>
      </p:pic>
      <p:sp>
        <p:nvSpPr>
          <p:cNvPr id="17" name="Text 12"/>
          <p:cNvSpPr txBox="1"/>
          <p:nvPr/>
        </p:nvSpPr>
        <p:spPr>
          <a:xfrm>
            <a:off x="7251192" y="1572768"/>
            <a:ext cx="4206240" cy="603504"/>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Next steps toward production</a:t>
            </a:r>
            <a:endParaRPr lang="en-US" sz="1700" dirty="0"/>
          </a:p>
        </p:txBody>
      </p:sp>
      <p:sp>
        <p:nvSpPr>
          <p:cNvPr id="18" name="Text 13"/>
          <p:cNvSpPr txBox="1"/>
          <p:nvPr/>
        </p:nvSpPr>
        <p:spPr>
          <a:xfrm>
            <a:off x="6565392" y="2240280"/>
            <a:ext cx="484632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Demand forecasting once lead times, safety stock and receipts are available</a:t>
            </a:r>
            <a:endParaRPr lang="en-US" sz="13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Execute transfers, orders or clearances with an approval workflow</a:t>
            </a:r>
            <a:endParaRPr lang="en-US" sz="13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Hosted deployment in Azure AI Foundry with Microsoft Entra sign-in</a:t>
            </a:r>
            <a:endParaRPr lang="en-US" sz="13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Scheduled reviews and threshold alerts</a:t>
            </a:r>
            <a:endParaRPr lang="en-US" sz="13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ERP, point-of-sale and supplier integration</a:t>
            </a:r>
            <a:endParaRPr lang="en-US" sz="13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Cost modelling for transfers and clearance prices</a:t>
            </a:r>
            <a:endParaRPr lang="en-US" sz="13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Timing study with real managers to prove effort saved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3864"/>
        </a:solidFill>
        <a:effectLst/>
      </p:bgPr>
    </p:bg>
    <p:spTree>
      <p:nvGrpSpPr>
        <p:cNvPr id="1" name=""/>
        <p:cNvGrpSpPr/>
        <p:nvPr/>
      </p:nvGrpSpPr>
      <p:grpSpPr>
        <a:xfrm>
          <a:off x="0" y="0"/>
          <a:ext cx="0" cy="0"/>
          <a:chOff x="0" y="0"/>
          <a:chExt cx="0" cy="0"/>
        </a:xfrm>
      </p:grpSpPr>
      <p:pic>
        <p:nvPicPr>
          <p:cNvPr id="2" name="Image 0" descr="img_a.jpg"/>
          <p:cNvPicPr>
            <a:picLocks noChangeAspect="1"/>
          </p:cNvPicPr>
          <p:nvPr/>
        </p:nvPicPr>
        <p:blipFill>
          <a:blip r:embed="rId3">
            <a:alphaModFix amt="30000"/>
          </a:blip>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A33">
              <a:alpha val="75000"/>
            </a:srgbClr>
          </a:solidFill>
          <a:ln w="12700">
            <a:solidFill>
              <a:srgbClr val="0E1A33">
                <a:alpha val="0"/>
              </a:srgbClr>
            </a:solidFill>
            <a:prstDash val="solid"/>
          </a:ln>
        </p:spPr>
        <p:txBody>
          <a:bodyPr/>
          <a:lstStyle/>
          <a:p>
            <a:endParaRPr lang="en-NZ"/>
          </a:p>
        </p:txBody>
      </p:sp>
      <p:sp>
        <p:nvSpPr>
          <p:cNvPr id="4" name="Text 1"/>
          <p:cNvSpPr txBox="1"/>
          <p:nvPr/>
        </p:nvSpPr>
        <p:spPr>
          <a:xfrm>
            <a:off x="731520" y="822960"/>
            <a:ext cx="7315200" cy="914400"/>
          </a:xfrm>
          <a:prstGeom prst="rect">
            <a:avLst/>
          </a:prstGeom>
          <a:noFill/>
          <a:ln/>
        </p:spPr>
        <p:txBody>
          <a:bodyPr wrap="square" lIns="0" tIns="0" rIns="0" bIns="0" rtlCol="0" anchor="t"/>
          <a:lstStyle/>
          <a:p>
            <a:pPr marL="0" indent="0">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5" name="Text 2"/>
          <p:cNvSpPr txBox="1"/>
          <p:nvPr/>
        </p:nvSpPr>
        <p:spPr>
          <a:xfrm>
            <a:off x="731520" y="1737360"/>
            <a:ext cx="7315200" cy="457200"/>
          </a:xfrm>
          <a:prstGeom prst="rect">
            <a:avLst/>
          </a:prstGeom>
          <a:noFill/>
          <a:ln/>
        </p:spPr>
        <p:txBody>
          <a:bodyPr wrap="square" lIns="0" tIns="0" rIns="0" bIns="0" rtlCol="0" anchor="t"/>
          <a:lstStyle/>
          <a:p>
            <a:pPr marL="0" indent="0">
              <a:buNone/>
            </a:pPr>
            <a:r>
              <a:rPr lang="en-US" sz="2000" dirty="0">
                <a:solidFill>
                  <a:srgbClr val="9DC3E6"/>
                </a:solidFill>
                <a:latin typeface="Arial" pitchFamily="34" charset="0"/>
                <a:ea typeface="Arial" pitchFamily="34" charset="-122"/>
                <a:cs typeface="Arial" pitchFamily="34" charset="-120"/>
              </a:rPr>
              <a:t>Questions and live demo</a:t>
            </a:r>
            <a:endParaRPr lang="en-US" sz="2000" dirty="0"/>
          </a:p>
        </p:txBody>
      </p:sp>
      <p:sp>
        <p:nvSpPr>
          <p:cNvPr id="6" name="Shape 3"/>
          <p:cNvSpPr/>
          <p:nvPr/>
        </p:nvSpPr>
        <p:spPr>
          <a:xfrm>
            <a:off x="731520" y="2331720"/>
            <a:ext cx="3383280" cy="2194560"/>
          </a:xfrm>
          <a:prstGeom prst="roundRect">
            <a:avLst>
              <a:gd name="adj" fmla="val 5000"/>
            </a:avLst>
          </a:prstGeom>
          <a:solidFill>
            <a:srgbClr val="FFFFFF">
              <a:alpha val="12000"/>
            </a:srgbClr>
          </a:solidFill>
          <a:ln w="12700">
            <a:solidFill>
              <a:srgbClr val="9DC3E6"/>
            </a:solidFill>
            <a:prstDash val="solid"/>
          </a:ln>
        </p:spPr>
        <p:txBody>
          <a:bodyPr/>
          <a:lstStyle/>
          <a:p>
            <a:endParaRPr lang="en-NZ"/>
          </a:p>
        </p:txBody>
      </p:sp>
      <p:sp>
        <p:nvSpPr>
          <p:cNvPr id="7" name="Shape 4"/>
          <p:cNvSpPr/>
          <p:nvPr/>
        </p:nvSpPr>
        <p:spPr>
          <a:xfrm>
            <a:off x="1005840" y="2560320"/>
            <a:ext cx="603504" cy="603504"/>
          </a:xfrm>
          <a:prstGeom prst="ellipse">
            <a:avLst/>
          </a:prstGeom>
          <a:solidFill>
            <a:srgbClr val="F2A900"/>
          </a:solidFill>
          <a:ln w="12700">
            <a:solidFill>
              <a:srgbClr val="F2A900"/>
            </a:solidFill>
            <a:prstDash val="solid"/>
          </a:ln>
        </p:spPr>
        <p:txBody>
          <a:bodyPr/>
          <a:lstStyle/>
          <a:p>
            <a:endParaRPr lang="en-NZ"/>
          </a:p>
        </p:txBody>
      </p:sp>
      <p:pic>
        <p:nvPicPr>
          <p:cNvPr id="8" name="Image 1" descr="preencoded.png"/>
          <p:cNvPicPr>
            <a:picLocks noChangeAspect="1"/>
          </p:cNvPicPr>
          <p:nvPr/>
        </p:nvPicPr>
        <p:blipFill>
          <a:blip r:embed="rId4"/>
          <a:stretch>
            <a:fillRect/>
          </a:stretch>
        </p:blipFill>
        <p:spPr>
          <a:xfrm>
            <a:off x="1156716" y="2711196"/>
            <a:ext cx="301752" cy="301752"/>
          </a:xfrm>
          <a:prstGeom prst="rect">
            <a:avLst/>
          </a:prstGeom>
        </p:spPr>
      </p:pic>
      <p:sp>
        <p:nvSpPr>
          <p:cNvPr id="9" name="Text 5"/>
          <p:cNvSpPr txBox="1"/>
          <p:nvPr/>
        </p:nvSpPr>
        <p:spPr>
          <a:xfrm>
            <a:off x="1005840" y="3291839"/>
            <a:ext cx="2834640" cy="41148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Verified</a:t>
            </a:r>
            <a:endParaRPr lang="en-US" sz="1800" dirty="0"/>
          </a:p>
        </p:txBody>
      </p:sp>
      <p:sp>
        <p:nvSpPr>
          <p:cNvPr id="10" name="Text 6"/>
          <p:cNvSpPr txBox="1"/>
          <p:nvPr/>
        </p:nvSpPr>
        <p:spPr>
          <a:xfrm>
            <a:off x="1005840" y="3721608"/>
            <a:ext cx="2834640" cy="731520"/>
          </a:xfrm>
          <a:prstGeom prst="rect">
            <a:avLst/>
          </a:prstGeom>
          <a:noFill/>
          <a:ln/>
        </p:spPr>
        <p:txBody>
          <a:bodyPr wrap="square" lIns="0" tIns="0" rIns="0" bIns="0" rtlCol="0" anchor="t"/>
          <a:lstStyle/>
          <a:p>
            <a:pPr marL="0" indent="0">
              <a:buNone/>
            </a:pPr>
            <a:r>
              <a:rPr lang="en-US" sz="1250" dirty="0">
                <a:solidFill>
                  <a:srgbClr val="DCE6F2"/>
                </a:solidFill>
                <a:latin typeface="Arial" pitchFamily="34" charset="0"/>
                <a:ea typeface="Arial" pitchFamily="34" charset="-122"/>
                <a:cs typeface="Arial" pitchFamily="34" charset="-120"/>
              </a:rPr>
              <a:t>Every figure is checked in code before the user sees it</a:t>
            </a:r>
            <a:endParaRPr lang="en-US" sz="1250" dirty="0"/>
          </a:p>
        </p:txBody>
      </p:sp>
      <p:sp>
        <p:nvSpPr>
          <p:cNvPr id="11" name="Shape 7"/>
          <p:cNvSpPr/>
          <p:nvPr/>
        </p:nvSpPr>
        <p:spPr>
          <a:xfrm>
            <a:off x="4389120" y="2331720"/>
            <a:ext cx="3383280" cy="2194560"/>
          </a:xfrm>
          <a:prstGeom prst="roundRect">
            <a:avLst>
              <a:gd name="adj" fmla="val 5000"/>
            </a:avLst>
          </a:prstGeom>
          <a:solidFill>
            <a:srgbClr val="FFFFFF">
              <a:alpha val="12000"/>
            </a:srgbClr>
          </a:solidFill>
          <a:ln w="12700">
            <a:solidFill>
              <a:srgbClr val="9DC3E6"/>
            </a:solidFill>
            <a:prstDash val="solid"/>
          </a:ln>
        </p:spPr>
        <p:txBody>
          <a:bodyPr/>
          <a:lstStyle/>
          <a:p>
            <a:endParaRPr lang="en-NZ"/>
          </a:p>
        </p:txBody>
      </p:sp>
      <p:sp>
        <p:nvSpPr>
          <p:cNvPr id="12" name="Shape 8"/>
          <p:cNvSpPr/>
          <p:nvPr/>
        </p:nvSpPr>
        <p:spPr>
          <a:xfrm>
            <a:off x="4663440" y="2560320"/>
            <a:ext cx="603504" cy="603504"/>
          </a:xfrm>
          <a:prstGeom prst="ellipse">
            <a:avLst/>
          </a:prstGeom>
          <a:solidFill>
            <a:srgbClr val="F2A900"/>
          </a:solidFill>
          <a:ln w="12700">
            <a:solidFill>
              <a:srgbClr val="F2A900"/>
            </a:solidFill>
            <a:prstDash val="solid"/>
          </a:ln>
        </p:spPr>
        <p:txBody>
          <a:bodyPr/>
          <a:lstStyle/>
          <a:p>
            <a:endParaRPr lang="en-NZ"/>
          </a:p>
        </p:txBody>
      </p:sp>
      <p:pic>
        <p:nvPicPr>
          <p:cNvPr id="13" name="Image 2" descr="preencoded.png"/>
          <p:cNvPicPr>
            <a:picLocks noChangeAspect="1"/>
          </p:cNvPicPr>
          <p:nvPr/>
        </p:nvPicPr>
        <p:blipFill>
          <a:blip r:embed="rId5"/>
          <a:stretch>
            <a:fillRect/>
          </a:stretch>
        </p:blipFill>
        <p:spPr>
          <a:xfrm>
            <a:off x="4814316" y="2711196"/>
            <a:ext cx="301752" cy="301752"/>
          </a:xfrm>
          <a:prstGeom prst="rect">
            <a:avLst/>
          </a:prstGeom>
        </p:spPr>
      </p:pic>
      <p:sp>
        <p:nvSpPr>
          <p:cNvPr id="14" name="Text 9"/>
          <p:cNvSpPr txBox="1"/>
          <p:nvPr/>
        </p:nvSpPr>
        <p:spPr>
          <a:xfrm>
            <a:off x="4663440" y="3291839"/>
            <a:ext cx="2834640" cy="41148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Safe</a:t>
            </a:r>
            <a:endParaRPr lang="en-US" sz="1800" dirty="0"/>
          </a:p>
        </p:txBody>
      </p:sp>
      <p:sp>
        <p:nvSpPr>
          <p:cNvPr id="15" name="Text 10"/>
          <p:cNvSpPr txBox="1"/>
          <p:nvPr/>
        </p:nvSpPr>
        <p:spPr>
          <a:xfrm>
            <a:off x="4663440" y="3721608"/>
            <a:ext cx="2834640" cy="731520"/>
          </a:xfrm>
          <a:prstGeom prst="rect">
            <a:avLst/>
          </a:prstGeom>
          <a:noFill/>
          <a:ln/>
        </p:spPr>
        <p:txBody>
          <a:bodyPr wrap="square" lIns="0" tIns="0" rIns="0" bIns="0" rtlCol="0" anchor="t"/>
          <a:lstStyle/>
          <a:p>
            <a:pPr marL="0" indent="0">
              <a:buNone/>
            </a:pPr>
            <a:r>
              <a:rPr lang="en-US" sz="1250" dirty="0">
                <a:solidFill>
                  <a:srgbClr val="DCE6F2"/>
                </a:solidFill>
                <a:latin typeface="Arial" pitchFamily="34" charset="0"/>
                <a:ea typeface="Arial" pitchFamily="34" charset="-122"/>
                <a:cs typeface="Arial" pitchFamily="34" charset="-120"/>
              </a:rPr>
              <a:t>Read-only, role-based, privacy-guarded, human-approved</a:t>
            </a:r>
            <a:endParaRPr lang="en-US" sz="1250" dirty="0"/>
          </a:p>
        </p:txBody>
      </p:sp>
      <p:sp>
        <p:nvSpPr>
          <p:cNvPr id="16" name="Shape 11"/>
          <p:cNvSpPr/>
          <p:nvPr/>
        </p:nvSpPr>
        <p:spPr>
          <a:xfrm>
            <a:off x="8046720" y="2331720"/>
            <a:ext cx="3383280" cy="2194560"/>
          </a:xfrm>
          <a:prstGeom prst="roundRect">
            <a:avLst>
              <a:gd name="adj" fmla="val 5000"/>
            </a:avLst>
          </a:prstGeom>
          <a:solidFill>
            <a:srgbClr val="FFFFFF">
              <a:alpha val="12000"/>
            </a:srgbClr>
          </a:solidFill>
          <a:ln w="12700">
            <a:solidFill>
              <a:srgbClr val="9DC3E6"/>
            </a:solidFill>
            <a:prstDash val="solid"/>
          </a:ln>
        </p:spPr>
        <p:txBody>
          <a:bodyPr/>
          <a:lstStyle/>
          <a:p>
            <a:endParaRPr lang="en-NZ"/>
          </a:p>
        </p:txBody>
      </p:sp>
      <p:sp>
        <p:nvSpPr>
          <p:cNvPr id="17" name="Shape 12"/>
          <p:cNvSpPr/>
          <p:nvPr/>
        </p:nvSpPr>
        <p:spPr>
          <a:xfrm>
            <a:off x="8321040" y="2560320"/>
            <a:ext cx="603504" cy="603504"/>
          </a:xfrm>
          <a:prstGeom prst="ellipse">
            <a:avLst/>
          </a:prstGeom>
          <a:solidFill>
            <a:srgbClr val="F2A900"/>
          </a:solidFill>
          <a:ln w="12700">
            <a:solidFill>
              <a:srgbClr val="F2A900"/>
            </a:solidFill>
            <a:prstDash val="solid"/>
          </a:ln>
        </p:spPr>
        <p:txBody>
          <a:bodyPr/>
          <a:lstStyle/>
          <a:p>
            <a:endParaRPr lang="en-NZ"/>
          </a:p>
        </p:txBody>
      </p:sp>
      <p:pic>
        <p:nvPicPr>
          <p:cNvPr id="18" name="Image 3" descr="preencoded.png"/>
          <p:cNvPicPr>
            <a:picLocks noChangeAspect="1"/>
          </p:cNvPicPr>
          <p:nvPr/>
        </p:nvPicPr>
        <p:blipFill>
          <a:blip r:embed="rId6"/>
          <a:stretch>
            <a:fillRect/>
          </a:stretch>
        </p:blipFill>
        <p:spPr>
          <a:xfrm>
            <a:off x="8471916" y="2711196"/>
            <a:ext cx="301752" cy="301752"/>
          </a:xfrm>
          <a:prstGeom prst="rect">
            <a:avLst/>
          </a:prstGeom>
        </p:spPr>
      </p:pic>
      <p:sp>
        <p:nvSpPr>
          <p:cNvPr id="19" name="Text 13"/>
          <p:cNvSpPr txBox="1"/>
          <p:nvPr/>
        </p:nvSpPr>
        <p:spPr>
          <a:xfrm>
            <a:off x="8321040" y="3291839"/>
            <a:ext cx="2834640" cy="41148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Proven</a:t>
            </a:r>
            <a:endParaRPr lang="en-US" sz="1800" dirty="0"/>
          </a:p>
        </p:txBody>
      </p:sp>
      <p:sp>
        <p:nvSpPr>
          <p:cNvPr id="20" name="Text 14"/>
          <p:cNvSpPr txBox="1"/>
          <p:nvPr/>
        </p:nvSpPr>
        <p:spPr>
          <a:xfrm>
            <a:off x="8320583" y="3686407"/>
            <a:ext cx="2834640" cy="731520"/>
          </a:xfrm>
          <a:prstGeom prst="rect">
            <a:avLst/>
          </a:prstGeom>
          <a:noFill/>
          <a:ln/>
        </p:spPr>
        <p:txBody>
          <a:bodyPr wrap="square" lIns="0" tIns="0" rIns="0" bIns="0" rtlCol="0" anchor="t"/>
          <a:lstStyle/>
          <a:p>
            <a:pPr marL="0" indent="0">
              <a:buNone/>
            </a:pPr>
            <a:r>
              <a:rPr lang="en-US" sz="1250" dirty="0">
                <a:solidFill>
                  <a:srgbClr val="DCE6F2"/>
                </a:solidFill>
                <a:latin typeface="Arial" pitchFamily="34" charset="0"/>
                <a:ea typeface="Arial" pitchFamily="34" charset="-122"/>
                <a:cs typeface="Arial" pitchFamily="34" charset="-120"/>
              </a:rPr>
              <a:t>Agent answers defined use cases as per the user role and meets the expected criteria.</a:t>
            </a:r>
            <a:endParaRPr lang="en-US" sz="1250" dirty="0"/>
          </a:p>
        </p:txBody>
      </p:sp>
      <p:sp>
        <p:nvSpPr>
          <p:cNvPr id="21" name="Text 15"/>
          <p:cNvSpPr txBox="1"/>
          <p:nvPr/>
        </p:nvSpPr>
        <p:spPr>
          <a:xfrm>
            <a:off x="731520" y="5852160"/>
            <a:ext cx="7863840" cy="365760"/>
          </a:xfrm>
          <a:prstGeom prst="rect">
            <a:avLst/>
          </a:prstGeom>
          <a:noFill/>
          <a:ln/>
        </p:spPr>
        <p:txBody>
          <a:bodyPr wrap="square" lIns="0" tIns="0" rIns="0" bIns="0" rtlCol="0" anchor="t"/>
          <a:lstStyle/>
          <a:p>
            <a:pPr marL="0" indent="0">
              <a:buNone/>
            </a:pPr>
            <a:r>
              <a:rPr lang="en-US" sz="1300" dirty="0">
                <a:solidFill>
                  <a:srgbClr val="9DC3E6"/>
                </a:solidFill>
                <a:latin typeface="Arial" pitchFamily="34" charset="0"/>
                <a:ea typeface="Arial" pitchFamily="34" charset="-122"/>
                <a:cs typeface="Arial" pitchFamily="34" charset="-120"/>
              </a:rPr>
              <a:t>Team BlueBird  ·  Sateesh  ·  Navneet  ·  Ankur  ·  Ranjith  ·  Ruthvik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51c3d4c-f54e-462b-9d5d-cb160081600b}" enabled="1" method="Standard" siteId="{c5d7dc78-3f45-4492-8053-9441aee4531b}" removed="0"/>
</clbl:labelList>
</file>

<file path=docProps/app.xml><?xml version="1.0" encoding="utf-8"?>
<Properties xmlns="http://schemas.openxmlformats.org/officeDocument/2006/extended-properties" xmlns:vt="http://schemas.openxmlformats.org/officeDocument/2006/docPropsVTypes">
  <TotalTime>1426</TotalTime>
  <Words>4234</Words>
  <Application>Microsoft Office PowerPoint</Application>
  <PresentationFormat>Widescreen</PresentationFormat>
  <Paragraphs>385</Paragraphs>
  <Slides>19</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Optimisation Agent – Team BlueBird</dc:title>
  <dc:subject>PptxGenJS Presentation</dc:subject>
  <dc:creator>Navneet Gupta</dc:creator>
  <cp:lastModifiedBy>Sateesh Kumar Puletipalle</cp:lastModifiedBy>
  <cp:revision>41</cp:revision>
  <dcterms:created xsi:type="dcterms:W3CDTF">2026-10-27T09:09:33Z</dcterms:created>
  <dcterms:modified xsi:type="dcterms:W3CDTF">2026-10-29T08:07:33Z</dcterms:modified>
</cp:coreProperties>
</file>