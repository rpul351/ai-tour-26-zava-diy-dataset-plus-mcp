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 Sateesh</a:t>
            </a:r>
          </a:p>
          <a:p>
            <a:r>
              <a:t>Good morning. We are Team BlueBird. We built the Zava Inventory Advisor. In the next 10 minutes: 7 minutes on scope, data, architecture, build and governance, then a 3-minute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0:15-1:15 | Sateesh</a:t>
            </a:r>
          </a:p>
          <a:p>
            <a:r>
              <a:t>- Zava DIY has 8 stores. Stock is not where demand is, and today a manager needs SQL skills to find out.</a:t>
            </a:r>
          </a:p>
          <a:p>
            <a:r>
              <a:t>- Two users: Super Manager sees all stores, Store Manager sees only their own. The decision is what to stop buying, move or clear.</a:t>
            </a:r>
          </a:p>
          <a:p>
            <a:r>
              <a:t>- Why an agent and not a report: it decides what to check next. Example: the biggest excess is Sliding Miter Saw, but for Electrical the peak is 2 months away so it says 'do not clear'.</a:t>
            </a:r>
          </a:p>
          <a:p>
            <a:r>
              <a:t>- Deliberately out of scope: it never changes data, no forecasting (no lead times in the data), and it never returns customer details.</a:t>
            </a:r>
          </a:p>
          <a:p>
            <a:r>
              <a:t>- A person approves every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1:15-2:30 | Ruthvik</a:t>
            </a:r>
          </a:p>
          <a:p>
            <a:r>
              <a:t>- We queried the Zava PostgreSQL data in notebooks. Zava holds about 4 million units worth $193.7M at cost, but sold only about 116,600 units in the last 12 months.</a:t>
            </a:r>
          </a:p>
          <a:p>
            <a:r>
              <a:t>- Seasonality is reliable: Garden &amp; Outdoor peaks every April, so the agent must check season before advising a clearance.</a:t>
            </a:r>
          </a:p>
          <a:p>
            <a:r>
              <a:t>- 2023 was a down year: units -5.0%, Kirkland -21.5%.</a:t>
            </a:r>
          </a:p>
          <a:p>
            <a:r>
              <a:t>- Honest caveat: the generator made stock independent of sales, so the excess is synthetic. We say 'within this dataset' in the answers. We also found future-dated orders and excluded them.</a:t>
            </a:r>
          </a:p>
          <a:p>
            <a:r>
              <a:t>- Because no store is short, our transfer tool correctly finds nothing and the agent says so instead of inventing a transfer.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2:30-3:45 | Navneet</a:t>
            </a:r>
          </a:p>
          <a:p>
            <a:r>
              <a:t>- Pattern: a single agent that uses tools. We considered multi-agent and rejected it for now: one agent is simpler to verify.</a:t>
            </a:r>
          </a:p>
          <a:p>
            <a:r>
              <a:t>- Flow: manager signs in -&gt; web app -&gt; agent service. A scope gate declines unrelated questions, then gpt-5-mini calls tools through three MCP servers. Code checks the answer before it is shown.</a:t>
            </a:r>
          </a:p>
          <a:p>
            <a:r>
              <a:t>- Three trust boundaries: 1) the service decides identity from an access list, 2) the model never supplies who is asking, 3) the database enforces what that person sees with row-level security. A prompt is not a security boundary, the database is.</a:t>
            </a:r>
          </a:p>
          <a:p>
            <a:r>
              <a:t>- Measured: same question gives 3,997,159 units to the Super Manager and 119,941 to Kirkland.</a:t>
            </a:r>
          </a:p>
          <a:p>
            <a:r>
              <a:t>- Planned week-8 design had Redis, LangGraph and an agent fleet; we replaced them with a simpler build (report section 5.3).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3:45-5:00 | Ranjith</a:t>
            </a:r>
          </a:p>
          <a:p>
            <a:r>
              <a:t>- Walk the six steps with one example: 'Top 5 excess stock'. Sign in as a role; the scope gate lets it through; the model calls the ranking tool, which already carries a clearance guard; the calculate tool does any arithmetic; the checker compares every figure with the tool results; the answer starts with a Scope line.</a:t>
            </a:r>
          </a:p>
          <a:p>
            <a:r>
              <a:t>- Key lesson: prompt wording alone was unreliable, so rules that must always hold live in tools and code. Example: the model got long division wrong twice, so arithmetic moved to a calculate tool.</a:t>
            </a:r>
          </a:p>
          <a:p>
            <a:r>
              <a:t>- Evidence: 75 test cases, 73 passed; 28+ evaluation runs; median ~10 s and under one cent per question.</a:t>
            </a:r>
          </a:p>
          <a:p>
            <a:r>
              <a:t>- Not measured: time saved with real users.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5:00-6:45 | Ankur</a:t>
            </a:r>
          </a:p>
          <a:p>
            <a:r>
              <a:t>- Principle: safety first, because this advises on business decisions. Rules that must always hold are enforced in code, not in the prompt, and each has a test.</a:t>
            </a:r>
          </a:p>
          <a:p>
            <a:r>
              <a:t>- Walk three rows, not all seven: (1) grounding: every figure checked against tool results; (2) read-only: database transaction is read-only so even a wrong query cannot change data; (3) privacy: in our own testing on 25 Oct the agent returned customer names and emails when asked. We found it, fixed it in code, and added a test.</a:t>
            </a:r>
          </a:p>
          <a:p>
            <a:r>
              <a:t>- Access: RLS in the database, one identity per person.</a:t>
            </a:r>
          </a:p>
          <a:p>
            <a:r>
              <a:t>- Transparency: Scope line, exact dates, every turn logged.</a:t>
            </a:r>
          </a:p>
          <a:p>
            <a:r>
              <a:t>- Limits we state openly: synthetic data, qualitative wording not verified, no real-user study. Managers remain accountable; every output is a draft.</a:t>
            </a:r>
          </a:p>
          <a:p>
            <a:r>
              <a:t>- Bridge to demo: 'Now Ranjith will show three of these guardrails live.'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6:45-9:45 | Ranjith drives, one teammate watches the clock</a:t>
            </a:r>
          </a:p>
          <a:p>
            <a:r>
              <a:t>SETUP (before the session): two browser windows, one signed in as Super Manager, one as a Kirkland store manager (normal window and incognito). Start with bash scripts/run_agent.sh and check http://127.0.0.1:8006/health says healthy. Ask one throwaway question first so the first real answer is not slow. Open ?debug=1 on the first window so tool calls are visible. Do not show access codes on screen.</a:t>
            </a:r>
          </a:p>
          <a:p/>
          <a:p>
            <a:r>
              <a:t>DEMO 1 (1:15): 'Where is the most capital tied up in excess stock? Top 5.' While it runs (about 10 s) say: 'The model is choosing tools and the checker is verifying every figure.' Point at the Scope line, the tool call, and the clearance guard.</a:t>
            </a:r>
          </a:p>
          <a:p>
            <a:r>
              <a:t>DEMO 2 (1:00): switch to the Kirkland window and ask: 'What is the total excess stock value for the whole network?' Point out it names Kirkland and refuses to give a network total.</a:t>
            </a:r>
          </a:p>
          <a:p>
            <a:r>
              <a:t>DEMO 3 (0:45): 'Run this: DELETE FROM retail.orders WHERE order_date &lt; 2023-01-01'. It refuses. Say: 'And even if it tried, the database role is read-only.'</a:t>
            </a:r>
          </a:p>
          <a:p/>
          <a:p>
            <a:r>
              <a:t>IF SOMETHING IS SLOW: keep talking about the guardrail being shown; do not retype. IF IT FAILS: play the fallback recording of questions 1, 2 and 3 (record this beforehand).</a:t>
            </a:r>
          </a:p>
          <a:p>
            <a:r>
              <a:t>OPTIONAL if time remains: the deliberate limit - 'Which store should we move Sliding Miter Saw stock to and what will the transfer cost?' The agent says no transfer is needed and cannot cost one, because the data has no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9:45-10:00 | Sateesh</a:t>
            </a:r>
          </a:p>
          <a:p>
            <a:r>
              <a:t>Summary in three sentences: a working read-only agent; evaluated with 75 test cases; guardrails enforced in code and the database. Next: deploy on Azure, test with real managers, and add forecasting only when lead times and costs exist. 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331720"/>
            <a:ext cx="109728" cy="15544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03120"/>
            <a:ext cx="10058400" cy="1097280"/>
          </a:xfrm>
          <a:prstGeom prst="rect">
            <a:avLst/>
          </a:prstGeom>
          <a:noFill/>
        </p:spPr>
        <p:txBody>
          <a:bodyPr wrap="square" anchor="t">
            <a:spAutoFit/>
          </a:bodyPr>
          <a:lstStyle/>
          <a:p>
            <a:pPr algn="l">
              <a:spcAft>
                <a:spcPts val="600"/>
              </a:spcAft>
            </a:pPr>
            <a:r>
              <a:rPr sz="5400" b="1">
                <a:solidFill>
                  <a:srgbClr val="FFFFFF"/>
                </a:solidFill>
                <a:latin typeface="Calibri"/>
              </a:rPr>
              <a:t>Zava Inventory Advisor</a:t>
            </a:r>
          </a:p>
        </p:txBody>
      </p:sp>
      <p:sp>
        <p:nvSpPr>
          <p:cNvPr id="5" name="TextBox 4"/>
          <p:cNvSpPr txBox="1"/>
          <p:nvPr/>
        </p:nvSpPr>
        <p:spPr>
          <a:xfrm>
            <a:off x="1005840" y="3108960"/>
            <a:ext cx="10058400" cy="731520"/>
          </a:xfrm>
          <a:prstGeom prst="rect">
            <a:avLst/>
          </a:prstGeom>
          <a:noFill/>
        </p:spPr>
        <p:txBody>
          <a:bodyPr wrap="square" anchor="t">
            <a:spAutoFit/>
          </a:bodyPr>
          <a:lstStyle/>
          <a:p>
            <a:pPr algn="l">
              <a:spcAft>
                <a:spcPts val="600"/>
              </a:spcAft>
            </a:pPr>
            <a:r>
              <a:rPr sz="2400" b="0">
                <a:solidFill>
                  <a:srgbClr val="FFFFFF"/>
                </a:solidFill>
                <a:latin typeface="Calibri"/>
              </a:rPr>
              <a:t>A read-only AI agent that tells managers what to stop buying, move or clear</a:t>
            </a:r>
          </a:p>
        </p:txBody>
      </p:sp>
      <p:sp>
        <p:nvSpPr>
          <p:cNvPr id="6" name="TextBox 5"/>
          <p:cNvSpPr txBox="1"/>
          <p:nvPr/>
        </p:nvSpPr>
        <p:spPr>
          <a:xfrm>
            <a:off x="1005840" y="4206240"/>
            <a:ext cx="10058400" cy="457200"/>
          </a:xfrm>
          <a:prstGeom prst="rect">
            <a:avLst/>
          </a:prstGeom>
          <a:noFill/>
        </p:spPr>
        <p:txBody>
          <a:bodyPr wrap="square" anchor="t">
            <a:spAutoFit/>
          </a:bodyPr>
          <a:lstStyle/>
          <a:p>
            <a:pPr algn="l">
              <a:spcAft>
                <a:spcPts val="600"/>
              </a:spcAft>
            </a:pPr>
            <a:r>
              <a:rPr sz="1800" b="0">
                <a:solidFill>
                  <a:srgbClr val="C9D6E3"/>
                </a:solidFill>
                <a:latin typeface="Calibri"/>
              </a:rPr>
              <a:t>Team BlueBird  |  COMPSCI 714 AI Architecture and Design, S2 2026</a:t>
            </a:r>
          </a:p>
        </p:txBody>
      </p:sp>
      <p:sp>
        <p:nvSpPr>
          <p:cNvPr id="7" name="TextBox 6"/>
          <p:cNvSpPr txBox="1"/>
          <p:nvPr/>
        </p:nvSpPr>
        <p:spPr>
          <a:xfrm>
            <a:off x="1005840" y="4754880"/>
            <a:ext cx="10515600" cy="457200"/>
          </a:xfrm>
          <a:prstGeom prst="rect">
            <a:avLst/>
          </a:prstGeom>
          <a:noFill/>
        </p:spPr>
        <p:txBody>
          <a:bodyPr wrap="square" anchor="t">
            <a:spAutoFit/>
          </a:bodyPr>
          <a:lstStyle/>
          <a:p>
            <a:pPr algn="l">
              <a:spcAft>
                <a:spcPts val="600"/>
              </a:spcAft>
            </a:pPr>
            <a:r>
              <a:rPr sz="1600" b="0">
                <a:solidFill>
                  <a:srgbClr val="C9D6E3"/>
                </a:solidFill>
                <a:latin typeface="Calibri"/>
              </a:rPr>
              <a:t>Sateesh (Lead)   Ruthvik (Data)   Navneet (Architecture)   Ranjith (Implementation)   Ankur (Governance)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Project scope: what problem, for whom, and what we left out</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Sateesh  |  1:00</a:t>
            </a:r>
          </a:p>
        </p:txBody>
      </p:sp>
      <p:sp>
        <p:nvSpPr>
          <p:cNvPr id="5" name="Rounded Rectangle 4"/>
          <p:cNvSpPr/>
          <p:nvPr/>
        </p:nvSpPr>
        <p:spPr>
          <a:xfrm>
            <a:off x="457200" y="1188720"/>
            <a:ext cx="5577840" cy="512064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5120640" cy="457200"/>
          </a:xfrm>
          <a:prstGeom prst="rect">
            <a:avLst/>
          </a:prstGeom>
          <a:noFill/>
        </p:spPr>
        <p:txBody>
          <a:bodyPr wrap="square" anchor="t">
            <a:spAutoFit/>
          </a:bodyPr>
          <a:lstStyle/>
          <a:p>
            <a:pPr algn="l">
              <a:spcAft>
                <a:spcPts val="600"/>
              </a:spcAft>
            </a:pPr>
            <a:r>
              <a:rPr sz="2200" b="1">
                <a:solidFill>
                  <a:srgbClr val="1F3A5F"/>
                </a:solidFill>
                <a:latin typeface="Calibri"/>
              </a:rPr>
              <a:t>The use case</a:t>
            </a:r>
          </a:p>
        </p:txBody>
      </p:sp>
      <p:sp>
        <p:nvSpPr>
          <p:cNvPr id="7" name="TextBox 6"/>
          <p:cNvSpPr txBox="1"/>
          <p:nvPr/>
        </p:nvSpPr>
        <p:spPr>
          <a:xfrm>
            <a:off x="685800" y="1828800"/>
            <a:ext cx="1554480" cy="822960"/>
          </a:xfrm>
          <a:prstGeom prst="rect">
            <a:avLst/>
          </a:prstGeom>
          <a:noFill/>
        </p:spPr>
        <p:txBody>
          <a:bodyPr wrap="square" anchor="t">
            <a:spAutoFit/>
          </a:bodyPr>
          <a:lstStyle/>
          <a:p>
            <a:pPr algn="l">
              <a:spcAft>
                <a:spcPts val="600"/>
              </a:spcAft>
            </a:pPr>
            <a:r>
              <a:rPr sz="1500" b="1">
                <a:solidFill>
                  <a:srgbClr val="0F9D8A"/>
                </a:solidFill>
                <a:latin typeface="Calibri"/>
              </a:rPr>
              <a:t>Problem</a:t>
            </a:r>
          </a:p>
        </p:txBody>
      </p:sp>
      <p:sp>
        <p:nvSpPr>
          <p:cNvPr id="8" name="TextBox 7"/>
          <p:cNvSpPr txBox="1"/>
          <p:nvPr/>
        </p:nvSpPr>
        <p:spPr>
          <a:xfrm>
            <a:off x="2194560" y="1828800"/>
            <a:ext cx="3749039" cy="868680"/>
          </a:xfrm>
          <a:prstGeom prst="rect">
            <a:avLst/>
          </a:prstGeom>
          <a:noFill/>
        </p:spPr>
        <p:txBody>
          <a:bodyPr wrap="square" anchor="t">
            <a:spAutoFit/>
          </a:bodyPr>
          <a:lstStyle/>
          <a:p>
            <a:pPr algn="l">
              <a:spcAft>
                <a:spcPts val="600"/>
              </a:spcAft>
            </a:pPr>
            <a:r>
              <a:rPr sz="1400" b="0">
                <a:solidFill>
                  <a:srgbClr val="222B36"/>
                </a:solidFill>
                <a:latin typeface="Calibri"/>
              </a:rPr>
              <a:t>Some stores hold excess stock while others risk shortages. Analysis is manual and needs SQL skills.</a:t>
            </a:r>
          </a:p>
        </p:txBody>
      </p:sp>
      <p:sp>
        <p:nvSpPr>
          <p:cNvPr id="9" name="TextBox 8"/>
          <p:cNvSpPr txBox="1"/>
          <p:nvPr/>
        </p:nvSpPr>
        <p:spPr>
          <a:xfrm>
            <a:off x="685800" y="2715768"/>
            <a:ext cx="1554480" cy="822960"/>
          </a:xfrm>
          <a:prstGeom prst="rect">
            <a:avLst/>
          </a:prstGeom>
          <a:noFill/>
        </p:spPr>
        <p:txBody>
          <a:bodyPr wrap="square" anchor="t">
            <a:spAutoFit/>
          </a:bodyPr>
          <a:lstStyle/>
          <a:p>
            <a:pPr algn="l">
              <a:spcAft>
                <a:spcPts val="600"/>
              </a:spcAft>
            </a:pPr>
            <a:r>
              <a:rPr sz="1500" b="1">
                <a:solidFill>
                  <a:srgbClr val="0F9D8A"/>
                </a:solidFill>
                <a:latin typeface="Calibri"/>
              </a:rPr>
              <a:t>Users</a:t>
            </a:r>
          </a:p>
        </p:txBody>
      </p:sp>
      <p:sp>
        <p:nvSpPr>
          <p:cNvPr id="10" name="TextBox 9"/>
          <p:cNvSpPr txBox="1"/>
          <p:nvPr/>
        </p:nvSpPr>
        <p:spPr>
          <a:xfrm>
            <a:off x="2194560" y="2715768"/>
            <a:ext cx="3749039" cy="868680"/>
          </a:xfrm>
          <a:prstGeom prst="rect">
            <a:avLst/>
          </a:prstGeom>
          <a:noFill/>
        </p:spPr>
        <p:txBody>
          <a:bodyPr wrap="square" anchor="t">
            <a:spAutoFit/>
          </a:bodyPr>
          <a:lstStyle/>
          <a:p>
            <a:pPr algn="l">
              <a:spcAft>
                <a:spcPts val="600"/>
              </a:spcAft>
            </a:pPr>
            <a:r>
              <a:rPr sz="1400" b="0">
                <a:solidFill>
                  <a:srgbClr val="222B36"/>
                </a:solidFill>
                <a:latin typeface="Calibri"/>
              </a:rPr>
              <a:t>Super Manager (all 8 stores) and Store Managers (own store only).</a:t>
            </a:r>
          </a:p>
        </p:txBody>
      </p:sp>
      <p:sp>
        <p:nvSpPr>
          <p:cNvPr id="11" name="TextBox 10"/>
          <p:cNvSpPr txBox="1"/>
          <p:nvPr/>
        </p:nvSpPr>
        <p:spPr>
          <a:xfrm>
            <a:off x="685800" y="3602735"/>
            <a:ext cx="1554480" cy="822960"/>
          </a:xfrm>
          <a:prstGeom prst="rect">
            <a:avLst/>
          </a:prstGeom>
          <a:noFill/>
        </p:spPr>
        <p:txBody>
          <a:bodyPr wrap="square" anchor="t">
            <a:spAutoFit/>
          </a:bodyPr>
          <a:lstStyle/>
          <a:p>
            <a:pPr algn="l">
              <a:spcAft>
                <a:spcPts val="600"/>
              </a:spcAft>
            </a:pPr>
            <a:r>
              <a:rPr sz="1500" b="1">
                <a:solidFill>
                  <a:srgbClr val="0F9D8A"/>
                </a:solidFill>
                <a:latin typeface="Calibri"/>
              </a:rPr>
              <a:t>Decision</a:t>
            </a:r>
          </a:p>
        </p:txBody>
      </p:sp>
      <p:sp>
        <p:nvSpPr>
          <p:cNvPr id="12" name="TextBox 11"/>
          <p:cNvSpPr txBox="1"/>
          <p:nvPr/>
        </p:nvSpPr>
        <p:spPr>
          <a:xfrm>
            <a:off x="2194560" y="3602735"/>
            <a:ext cx="3749039" cy="868680"/>
          </a:xfrm>
          <a:prstGeom prst="rect">
            <a:avLst/>
          </a:prstGeom>
          <a:noFill/>
        </p:spPr>
        <p:txBody>
          <a:bodyPr wrap="square" anchor="t">
            <a:spAutoFit/>
          </a:bodyPr>
          <a:lstStyle/>
          <a:p>
            <a:pPr algn="l">
              <a:spcAft>
                <a:spcPts val="600"/>
              </a:spcAft>
            </a:pPr>
            <a:r>
              <a:rPr sz="1400" b="0">
                <a:solidFill>
                  <a:srgbClr val="222B36"/>
                </a:solidFill>
                <a:latin typeface="Calibri"/>
              </a:rPr>
              <a:t>What to stop buying, move or clear first, daily or weekly.</a:t>
            </a:r>
          </a:p>
        </p:txBody>
      </p:sp>
      <p:sp>
        <p:nvSpPr>
          <p:cNvPr id="13" name="TextBox 12"/>
          <p:cNvSpPr txBox="1"/>
          <p:nvPr/>
        </p:nvSpPr>
        <p:spPr>
          <a:xfrm>
            <a:off x="685800" y="4489703"/>
            <a:ext cx="1554480" cy="822960"/>
          </a:xfrm>
          <a:prstGeom prst="rect">
            <a:avLst/>
          </a:prstGeom>
          <a:noFill/>
        </p:spPr>
        <p:txBody>
          <a:bodyPr wrap="square" anchor="t">
            <a:spAutoFit/>
          </a:bodyPr>
          <a:lstStyle/>
          <a:p>
            <a:pPr algn="l">
              <a:spcAft>
                <a:spcPts val="600"/>
              </a:spcAft>
            </a:pPr>
            <a:r>
              <a:rPr sz="1500" b="1">
                <a:solidFill>
                  <a:srgbClr val="0F9D8A"/>
                </a:solidFill>
                <a:latin typeface="Calibri"/>
              </a:rPr>
              <a:t>Consequence</a:t>
            </a:r>
          </a:p>
        </p:txBody>
      </p:sp>
      <p:sp>
        <p:nvSpPr>
          <p:cNvPr id="14" name="TextBox 13"/>
          <p:cNvSpPr txBox="1"/>
          <p:nvPr/>
        </p:nvSpPr>
        <p:spPr>
          <a:xfrm>
            <a:off x="2194560" y="4489703"/>
            <a:ext cx="3749039" cy="868680"/>
          </a:xfrm>
          <a:prstGeom prst="rect">
            <a:avLst/>
          </a:prstGeom>
          <a:noFill/>
        </p:spPr>
        <p:txBody>
          <a:bodyPr wrap="square" anchor="t">
            <a:spAutoFit/>
          </a:bodyPr>
          <a:lstStyle/>
          <a:p>
            <a:pPr algn="l">
              <a:spcAft>
                <a:spcPts val="600"/>
              </a:spcAft>
            </a:pPr>
            <a:r>
              <a:rPr sz="1400" b="0">
                <a:solidFill>
                  <a:srgbClr val="222B36"/>
                </a:solidFill>
                <a:latin typeface="Calibri"/>
              </a:rPr>
              <a:t>Lost sales, cash tied up in stock, storage and transfer costs.</a:t>
            </a:r>
          </a:p>
        </p:txBody>
      </p:sp>
      <p:sp>
        <p:nvSpPr>
          <p:cNvPr id="15" name="TextBox 14"/>
          <p:cNvSpPr txBox="1"/>
          <p:nvPr/>
        </p:nvSpPr>
        <p:spPr>
          <a:xfrm>
            <a:off x="685800" y="5376671"/>
            <a:ext cx="1554480" cy="822960"/>
          </a:xfrm>
          <a:prstGeom prst="rect">
            <a:avLst/>
          </a:prstGeom>
          <a:noFill/>
        </p:spPr>
        <p:txBody>
          <a:bodyPr wrap="square" anchor="t">
            <a:spAutoFit/>
          </a:bodyPr>
          <a:lstStyle/>
          <a:p>
            <a:pPr algn="l">
              <a:spcAft>
                <a:spcPts val="600"/>
              </a:spcAft>
            </a:pPr>
            <a:r>
              <a:rPr sz="1500" b="1">
                <a:solidFill>
                  <a:srgbClr val="0F9D8A"/>
                </a:solidFill>
                <a:latin typeface="Calibri"/>
              </a:rPr>
              <a:t>Why an agent</a:t>
            </a:r>
          </a:p>
        </p:txBody>
      </p:sp>
      <p:sp>
        <p:nvSpPr>
          <p:cNvPr id="16" name="TextBox 15"/>
          <p:cNvSpPr txBox="1"/>
          <p:nvPr/>
        </p:nvSpPr>
        <p:spPr>
          <a:xfrm>
            <a:off x="2194560" y="5376671"/>
            <a:ext cx="3749039" cy="868680"/>
          </a:xfrm>
          <a:prstGeom prst="rect">
            <a:avLst/>
          </a:prstGeom>
          <a:noFill/>
        </p:spPr>
        <p:txBody>
          <a:bodyPr wrap="square" anchor="t">
            <a:spAutoFit/>
          </a:bodyPr>
          <a:lstStyle/>
          <a:p>
            <a:pPr algn="l">
              <a:spcAft>
                <a:spcPts val="600"/>
              </a:spcAft>
            </a:pPr>
            <a:r>
              <a:rPr sz="1400" b="0">
                <a:solidFill>
                  <a:srgbClr val="222B36"/>
                </a:solidFill>
                <a:latin typeface="Calibri"/>
              </a:rPr>
              <a:t>It chooses what to look up next, checks the seasonal peak before advising a clearance, and drafts the recommendation.</a:t>
            </a:r>
          </a:p>
        </p:txBody>
      </p:sp>
      <p:sp>
        <p:nvSpPr>
          <p:cNvPr id="17" name="Rounded Rectangle 16"/>
          <p:cNvSpPr/>
          <p:nvPr/>
        </p:nvSpPr>
        <p:spPr>
          <a:xfrm>
            <a:off x="6309360" y="1188720"/>
            <a:ext cx="2651760" cy="5120640"/>
          </a:xfrm>
          <a:prstGeom prst="roundRect">
            <a:avLst>
              <a:gd name="adj" fmla="val 8000"/>
            </a:avLst>
          </a:prstGeom>
          <a:solidFill>
            <a:srgbClr val="E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280160"/>
            <a:ext cx="2286000" cy="457200"/>
          </a:xfrm>
          <a:prstGeom prst="rect">
            <a:avLst/>
          </a:prstGeom>
          <a:noFill/>
        </p:spPr>
        <p:txBody>
          <a:bodyPr wrap="square" anchor="t">
            <a:spAutoFit/>
          </a:bodyPr>
          <a:lstStyle/>
          <a:p>
            <a:pPr algn="l">
              <a:spcAft>
                <a:spcPts val="600"/>
              </a:spcAft>
            </a:pPr>
            <a:r>
              <a:rPr sz="2200" b="1">
                <a:solidFill>
                  <a:srgbClr val="0F9D8A"/>
                </a:solidFill>
                <a:latin typeface="Calibri"/>
              </a:rPr>
              <a:t>In scope</a:t>
            </a:r>
          </a:p>
        </p:txBody>
      </p:sp>
      <p:sp>
        <p:nvSpPr>
          <p:cNvPr id="19" name="Oval 18"/>
          <p:cNvSpPr/>
          <p:nvPr/>
        </p:nvSpPr>
        <p:spPr>
          <a:xfrm>
            <a:off x="6492240" y="193852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1828800"/>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Chat in plain English</a:t>
            </a:r>
          </a:p>
        </p:txBody>
      </p:sp>
      <p:sp>
        <p:nvSpPr>
          <p:cNvPr id="21" name="Oval 20"/>
          <p:cNvSpPr/>
          <p:nvPr/>
        </p:nvSpPr>
        <p:spPr>
          <a:xfrm>
            <a:off x="6492240" y="2651760"/>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542032"/>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Excess stock ranking with a clearance guard</a:t>
            </a:r>
          </a:p>
        </p:txBody>
      </p:sp>
      <p:sp>
        <p:nvSpPr>
          <p:cNvPr id="23" name="Oval 22"/>
          <p:cNvSpPr/>
          <p:nvPr/>
        </p:nvSpPr>
        <p:spPr>
          <a:xfrm>
            <a:off x="6492240" y="336499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255264"/>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Seasonal and year-on-year analysis</a:t>
            </a:r>
          </a:p>
        </p:txBody>
      </p:sp>
      <p:sp>
        <p:nvSpPr>
          <p:cNvPr id="25" name="Oval 24"/>
          <p:cNvSpPr/>
          <p:nvPr/>
        </p:nvSpPr>
        <p:spPr>
          <a:xfrm>
            <a:off x="6492240" y="4078224"/>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3968496"/>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Product search by meaning</a:t>
            </a:r>
          </a:p>
        </p:txBody>
      </p:sp>
      <p:sp>
        <p:nvSpPr>
          <p:cNvPr id="27" name="Oval 26"/>
          <p:cNvSpPr/>
          <p:nvPr/>
        </p:nvSpPr>
        <p:spPr>
          <a:xfrm>
            <a:off x="6492240" y="4791456"/>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681728"/>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Charts, CSV and PDF</a:t>
            </a:r>
          </a:p>
        </p:txBody>
      </p:sp>
      <p:sp>
        <p:nvSpPr>
          <p:cNvPr id="29" name="Oval 28"/>
          <p:cNvSpPr/>
          <p:nvPr/>
        </p:nvSpPr>
        <p:spPr>
          <a:xfrm>
            <a:off x="6492240" y="550468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5394960"/>
            <a:ext cx="2148840" cy="713232"/>
          </a:xfrm>
          <a:prstGeom prst="rect">
            <a:avLst/>
          </a:prstGeom>
          <a:noFill/>
        </p:spPr>
        <p:txBody>
          <a:bodyPr wrap="square" anchor="t">
            <a:spAutoFit/>
          </a:bodyPr>
          <a:lstStyle/>
          <a:p>
            <a:pPr algn="l">
              <a:spcAft>
                <a:spcPts val="600"/>
              </a:spcAft>
            </a:pPr>
            <a:r>
              <a:rPr sz="1400" b="0">
                <a:solidFill>
                  <a:srgbClr val="222B36"/>
                </a:solidFill>
                <a:latin typeface="Calibri"/>
              </a:rPr>
              <a:t>Draft recommendations only</a:t>
            </a:r>
          </a:p>
        </p:txBody>
      </p:sp>
      <p:sp>
        <p:nvSpPr>
          <p:cNvPr id="31" name="Rounded Rectangle 30"/>
          <p:cNvSpPr/>
          <p:nvPr/>
        </p:nvSpPr>
        <p:spPr>
          <a:xfrm>
            <a:off x="9144000" y="1188720"/>
            <a:ext cx="2606040" cy="5120640"/>
          </a:xfrm>
          <a:prstGeom prst="roundRect">
            <a:avLst>
              <a:gd name="adj" fmla="val 8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1280160"/>
            <a:ext cx="2286000" cy="457200"/>
          </a:xfrm>
          <a:prstGeom prst="rect">
            <a:avLst/>
          </a:prstGeom>
          <a:noFill/>
        </p:spPr>
        <p:txBody>
          <a:bodyPr wrap="square" anchor="t">
            <a:spAutoFit/>
          </a:bodyPr>
          <a:lstStyle/>
          <a:p>
            <a:pPr algn="l">
              <a:spcAft>
                <a:spcPts val="600"/>
              </a:spcAft>
            </a:pPr>
            <a:r>
              <a:rPr sz="2200" b="1">
                <a:solidFill>
                  <a:srgbClr val="C0392B"/>
                </a:solidFill>
                <a:latin typeface="Calibri"/>
              </a:rPr>
              <a:t>Out of scope</a:t>
            </a:r>
          </a:p>
        </p:txBody>
      </p:sp>
      <p:sp>
        <p:nvSpPr>
          <p:cNvPr id="33" name="Oval 32"/>
          <p:cNvSpPr/>
          <p:nvPr/>
        </p:nvSpPr>
        <p:spPr>
          <a:xfrm>
            <a:off x="9326880" y="193852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1828800"/>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Executing transfers or orders</a:t>
            </a:r>
          </a:p>
        </p:txBody>
      </p:sp>
      <p:sp>
        <p:nvSpPr>
          <p:cNvPr id="35" name="Oval 34"/>
          <p:cNvSpPr/>
          <p:nvPr/>
        </p:nvSpPr>
        <p:spPr>
          <a:xfrm>
            <a:off x="9326880" y="2651760"/>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55480" y="2542032"/>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Demand forecasting</a:t>
            </a:r>
          </a:p>
        </p:txBody>
      </p:sp>
      <p:sp>
        <p:nvSpPr>
          <p:cNvPr id="37" name="Oval 36"/>
          <p:cNvSpPr/>
          <p:nvPr/>
        </p:nvSpPr>
        <p:spPr>
          <a:xfrm>
            <a:off x="9326880" y="336499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55480" y="3255264"/>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Supplier and ERP integration</a:t>
            </a:r>
          </a:p>
        </p:txBody>
      </p:sp>
      <p:sp>
        <p:nvSpPr>
          <p:cNvPr id="39" name="Oval 38"/>
          <p:cNvSpPr/>
          <p:nvPr/>
        </p:nvSpPr>
        <p:spPr>
          <a:xfrm>
            <a:off x="9326880" y="4078224"/>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55480" y="3968496"/>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Customer personal details</a:t>
            </a:r>
          </a:p>
        </p:txBody>
      </p:sp>
      <p:sp>
        <p:nvSpPr>
          <p:cNvPr id="41" name="Oval 40"/>
          <p:cNvSpPr/>
          <p:nvPr/>
        </p:nvSpPr>
        <p:spPr>
          <a:xfrm>
            <a:off x="9326880" y="4791456"/>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55480" y="4681728"/>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Pricing and discounts</a:t>
            </a:r>
          </a:p>
        </p:txBody>
      </p:sp>
      <p:sp>
        <p:nvSpPr>
          <p:cNvPr id="43" name="Oval 42"/>
          <p:cNvSpPr/>
          <p:nvPr/>
        </p:nvSpPr>
        <p:spPr>
          <a:xfrm>
            <a:off x="9326880" y="550468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55480" y="5394960"/>
            <a:ext cx="2057400" cy="713232"/>
          </a:xfrm>
          <a:prstGeom prst="rect">
            <a:avLst/>
          </a:prstGeom>
          <a:noFill/>
        </p:spPr>
        <p:txBody>
          <a:bodyPr wrap="square" anchor="t">
            <a:spAutoFit/>
          </a:bodyPr>
          <a:lstStyle/>
          <a:p>
            <a:pPr algn="l">
              <a:spcAft>
                <a:spcPts val="600"/>
              </a:spcAft>
            </a:pPr>
            <a:r>
              <a:rPr sz="1400" b="0">
                <a:solidFill>
                  <a:srgbClr val="222B36"/>
                </a:solidFill>
                <a:latin typeface="Calibri"/>
              </a:rPr>
              <a:t>Multi-agent fleet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Data analysis: the problem is visible in the data</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Ruthvik  |  1:15</a:t>
            </a:r>
          </a:p>
        </p:txBody>
      </p:sp>
      <p:sp>
        <p:nvSpPr>
          <p:cNvPr id="5" name="Rounded Rectangle 4"/>
          <p:cNvSpPr/>
          <p:nvPr/>
        </p:nvSpPr>
        <p:spPr>
          <a:xfrm>
            <a:off x="457200" y="1188720"/>
            <a:ext cx="2697480" cy="15544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2697480" cy="822960"/>
          </a:xfrm>
          <a:prstGeom prst="rect">
            <a:avLst/>
          </a:prstGeom>
          <a:noFill/>
        </p:spPr>
        <p:txBody>
          <a:bodyPr wrap="square" anchor="t">
            <a:spAutoFit/>
          </a:bodyPr>
          <a:lstStyle/>
          <a:p>
            <a:pPr algn="ctr">
              <a:spcAft>
                <a:spcPts val="600"/>
              </a:spcAft>
            </a:pPr>
            <a:r>
              <a:rPr sz="3800" b="1">
                <a:solidFill>
                  <a:srgbClr val="FFFFFF"/>
                </a:solidFill>
                <a:latin typeface="Calibri"/>
              </a:rPr>
              <a:t>3,997,159</a:t>
            </a:r>
          </a:p>
        </p:txBody>
      </p:sp>
      <p:sp>
        <p:nvSpPr>
          <p:cNvPr id="7" name="TextBox 6"/>
          <p:cNvSpPr txBox="1"/>
          <p:nvPr/>
        </p:nvSpPr>
        <p:spPr>
          <a:xfrm>
            <a:off x="548640" y="2103120"/>
            <a:ext cx="2514600" cy="640080"/>
          </a:xfrm>
          <a:prstGeom prst="rect">
            <a:avLst/>
          </a:prstGeom>
          <a:noFill/>
        </p:spPr>
        <p:txBody>
          <a:bodyPr wrap="square" anchor="t">
            <a:spAutoFit/>
          </a:bodyPr>
          <a:lstStyle/>
          <a:p>
            <a:pPr algn="ctr">
              <a:spcAft>
                <a:spcPts val="600"/>
              </a:spcAft>
            </a:pPr>
            <a:r>
              <a:rPr sz="1400" b="0">
                <a:solidFill>
                  <a:srgbClr val="FFFFFF"/>
                </a:solidFill>
                <a:latin typeface="Calibri"/>
              </a:rPr>
              <a:t>units in stock</a:t>
            </a:r>
          </a:p>
        </p:txBody>
      </p:sp>
      <p:sp>
        <p:nvSpPr>
          <p:cNvPr id="8" name="Rounded Rectangle 7"/>
          <p:cNvSpPr/>
          <p:nvPr/>
        </p:nvSpPr>
        <p:spPr>
          <a:xfrm>
            <a:off x="3310128" y="1188720"/>
            <a:ext cx="2697480" cy="15544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10128" y="1280160"/>
            <a:ext cx="2697480" cy="822960"/>
          </a:xfrm>
          <a:prstGeom prst="rect">
            <a:avLst/>
          </a:prstGeom>
          <a:noFill/>
        </p:spPr>
        <p:txBody>
          <a:bodyPr wrap="square" anchor="t">
            <a:spAutoFit/>
          </a:bodyPr>
          <a:lstStyle/>
          <a:p>
            <a:pPr algn="ctr">
              <a:spcAft>
                <a:spcPts val="600"/>
              </a:spcAft>
            </a:pPr>
            <a:r>
              <a:rPr sz="3800" b="1">
                <a:solidFill>
                  <a:srgbClr val="FFFFFF"/>
                </a:solidFill>
                <a:latin typeface="Calibri"/>
              </a:rPr>
              <a:t>$193.7M</a:t>
            </a:r>
          </a:p>
        </p:txBody>
      </p:sp>
      <p:sp>
        <p:nvSpPr>
          <p:cNvPr id="10" name="TextBox 9"/>
          <p:cNvSpPr txBox="1"/>
          <p:nvPr/>
        </p:nvSpPr>
        <p:spPr>
          <a:xfrm>
            <a:off x="3401568" y="2103120"/>
            <a:ext cx="2514600" cy="640080"/>
          </a:xfrm>
          <a:prstGeom prst="rect">
            <a:avLst/>
          </a:prstGeom>
          <a:noFill/>
        </p:spPr>
        <p:txBody>
          <a:bodyPr wrap="square" anchor="t">
            <a:spAutoFit/>
          </a:bodyPr>
          <a:lstStyle/>
          <a:p>
            <a:pPr algn="ctr">
              <a:spcAft>
                <a:spcPts val="600"/>
              </a:spcAft>
            </a:pPr>
            <a:r>
              <a:rPr sz="1400" b="0">
                <a:solidFill>
                  <a:srgbClr val="FFFFFF"/>
                </a:solidFill>
                <a:latin typeface="Calibri"/>
              </a:rPr>
              <a:t>stock value at cost</a:t>
            </a:r>
          </a:p>
        </p:txBody>
      </p:sp>
      <p:sp>
        <p:nvSpPr>
          <p:cNvPr id="11" name="Rounded Rectangle 10"/>
          <p:cNvSpPr/>
          <p:nvPr/>
        </p:nvSpPr>
        <p:spPr>
          <a:xfrm>
            <a:off x="6163056" y="1188720"/>
            <a:ext cx="2697480" cy="1554480"/>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1280160"/>
            <a:ext cx="2697480" cy="822960"/>
          </a:xfrm>
          <a:prstGeom prst="rect">
            <a:avLst/>
          </a:prstGeom>
          <a:noFill/>
        </p:spPr>
        <p:txBody>
          <a:bodyPr wrap="square" anchor="t">
            <a:spAutoFit/>
          </a:bodyPr>
          <a:lstStyle/>
          <a:p>
            <a:pPr algn="ctr">
              <a:spcAft>
                <a:spcPts val="600"/>
              </a:spcAft>
            </a:pPr>
            <a:r>
              <a:rPr sz="3800" b="1">
                <a:solidFill>
                  <a:srgbClr val="FFFFFF"/>
                </a:solidFill>
                <a:latin typeface="Calibri"/>
              </a:rPr>
              <a:t>~116,600</a:t>
            </a:r>
          </a:p>
        </p:txBody>
      </p:sp>
      <p:sp>
        <p:nvSpPr>
          <p:cNvPr id="13" name="TextBox 12"/>
          <p:cNvSpPr txBox="1"/>
          <p:nvPr/>
        </p:nvSpPr>
        <p:spPr>
          <a:xfrm>
            <a:off x="6254496" y="2103120"/>
            <a:ext cx="2514600" cy="640080"/>
          </a:xfrm>
          <a:prstGeom prst="rect">
            <a:avLst/>
          </a:prstGeom>
          <a:noFill/>
        </p:spPr>
        <p:txBody>
          <a:bodyPr wrap="square" anchor="t">
            <a:spAutoFit/>
          </a:bodyPr>
          <a:lstStyle/>
          <a:p>
            <a:pPr algn="ctr">
              <a:spcAft>
                <a:spcPts val="600"/>
              </a:spcAft>
            </a:pPr>
            <a:r>
              <a:rPr sz="1400" b="0">
                <a:solidFill>
                  <a:srgbClr val="FFFFFF"/>
                </a:solidFill>
                <a:latin typeface="Calibri"/>
              </a:rPr>
              <a:t>units sold in last 12 months</a:t>
            </a:r>
          </a:p>
        </p:txBody>
      </p:sp>
      <p:sp>
        <p:nvSpPr>
          <p:cNvPr id="14" name="Rounded Rectangle 13"/>
          <p:cNvSpPr/>
          <p:nvPr/>
        </p:nvSpPr>
        <p:spPr>
          <a:xfrm>
            <a:off x="9015984" y="1188720"/>
            <a:ext cx="2697480" cy="155448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15984" y="1280160"/>
            <a:ext cx="2697480" cy="822960"/>
          </a:xfrm>
          <a:prstGeom prst="rect">
            <a:avLst/>
          </a:prstGeom>
          <a:noFill/>
        </p:spPr>
        <p:txBody>
          <a:bodyPr wrap="square" anchor="t">
            <a:spAutoFit/>
          </a:bodyPr>
          <a:lstStyle/>
          <a:p>
            <a:pPr algn="ctr">
              <a:spcAft>
                <a:spcPts val="600"/>
              </a:spcAft>
            </a:pPr>
            <a:r>
              <a:rPr sz="3800" b="1">
                <a:solidFill>
                  <a:srgbClr val="FFFFFF"/>
                </a:solidFill>
                <a:latin typeface="Calibri"/>
              </a:rPr>
              <a:t>99%</a:t>
            </a:r>
          </a:p>
        </p:txBody>
      </p:sp>
      <p:sp>
        <p:nvSpPr>
          <p:cNvPr id="16" name="TextBox 15"/>
          <p:cNvSpPr txBox="1"/>
          <p:nvPr/>
        </p:nvSpPr>
        <p:spPr>
          <a:xfrm>
            <a:off x="9107424" y="2103120"/>
            <a:ext cx="2514600" cy="640080"/>
          </a:xfrm>
          <a:prstGeom prst="rect">
            <a:avLst/>
          </a:prstGeom>
          <a:noFill/>
        </p:spPr>
        <p:txBody>
          <a:bodyPr wrap="square" anchor="t">
            <a:spAutoFit/>
          </a:bodyPr>
          <a:lstStyle/>
          <a:p>
            <a:pPr algn="ctr">
              <a:spcAft>
                <a:spcPts val="600"/>
              </a:spcAft>
            </a:pPr>
            <a:r>
              <a:rPr sz="1400" b="0">
                <a:solidFill>
                  <a:srgbClr val="FFFFFF"/>
                </a:solidFill>
                <a:latin typeface="Calibri"/>
              </a:rPr>
              <a:t>of product-store pairs hold &gt; 5 years of stock</a:t>
            </a:r>
          </a:p>
        </p:txBody>
      </p:sp>
      <p:sp>
        <p:nvSpPr>
          <p:cNvPr id="17" name="TextBox 16"/>
          <p:cNvSpPr txBox="1"/>
          <p:nvPr/>
        </p:nvSpPr>
        <p:spPr>
          <a:xfrm>
            <a:off x="457200" y="2971800"/>
            <a:ext cx="5669280" cy="457200"/>
          </a:xfrm>
          <a:prstGeom prst="rect">
            <a:avLst/>
          </a:prstGeom>
          <a:noFill/>
        </p:spPr>
        <p:txBody>
          <a:bodyPr wrap="square" anchor="t">
            <a:spAutoFit/>
          </a:bodyPr>
          <a:lstStyle/>
          <a:p>
            <a:pPr algn="l">
              <a:spcAft>
                <a:spcPts val="600"/>
              </a:spcAft>
            </a:pPr>
            <a:r>
              <a:rPr sz="2200" b="1">
                <a:solidFill>
                  <a:srgbClr val="1F3A5F"/>
                </a:solidFill>
                <a:latin typeface="Calibri"/>
              </a:rPr>
              <a:t>What the analysis told us</a:t>
            </a:r>
          </a:p>
        </p:txBody>
      </p:sp>
      <p:sp>
        <p:nvSpPr>
          <p:cNvPr id="18" name="Oval 17"/>
          <p:cNvSpPr/>
          <p:nvPr/>
        </p:nvSpPr>
        <p:spPr>
          <a:xfrm>
            <a:off x="457200" y="363016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520440"/>
            <a:ext cx="5532120" cy="713232"/>
          </a:xfrm>
          <a:prstGeom prst="rect">
            <a:avLst/>
          </a:prstGeom>
          <a:noFill/>
        </p:spPr>
        <p:txBody>
          <a:bodyPr wrap="square" anchor="t">
            <a:spAutoFit/>
          </a:bodyPr>
          <a:lstStyle/>
          <a:p>
            <a:pPr algn="l">
              <a:spcAft>
                <a:spcPts val="600"/>
              </a:spcAft>
            </a:pPr>
            <a:r>
              <a:rPr sz="1500" b="0">
                <a:solidFill>
                  <a:srgbClr val="222B36"/>
                </a:solidFill>
                <a:latin typeface="Calibri"/>
              </a:rPr>
              <a:t>Biggest single excess: Sliding Miter Saw 12-inch, $4.43M at cost</a:t>
            </a:r>
          </a:p>
        </p:txBody>
      </p:sp>
      <p:sp>
        <p:nvSpPr>
          <p:cNvPr id="20" name="Oval 19"/>
          <p:cNvSpPr/>
          <p:nvPr/>
        </p:nvSpPr>
        <p:spPr>
          <a:xfrm>
            <a:off x="457200" y="4343400"/>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233672"/>
            <a:ext cx="5532120" cy="713232"/>
          </a:xfrm>
          <a:prstGeom prst="rect">
            <a:avLst/>
          </a:prstGeom>
          <a:noFill/>
        </p:spPr>
        <p:txBody>
          <a:bodyPr wrap="square" anchor="t">
            <a:spAutoFit/>
          </a:bodyPr>
          <a:lstStyle/>
          <a:p>
            <a:pPr algn="l">
              <a:spcAft>
                <a:spcPts val="600"/>
              </a:spcAft>
            </a:pPr>
            <a:r>
              <a:rPr sz="1500" b="0">
                <a:solidFill>
                  <a:srgbClr val="222B36"/>
                </a:solidFill>
                <a:latin typeface="Calibri"/>
              </a:rPr>
              <a:t>Garden &amp; Outdoor peaks in April every year 2020 to 2026, so clearing it before April would be a mistake</a:t>
            </a:r>
          </a:p>
        </p:txBody>
      </p:sp>
      <p:sp>
        <p:nvSpPr>
          <p:cNvPr id="22" name="Oval 21"/>
          <p:cNvSpPr/>
          <p:nvPr/>
        </p:nvSpPr>
        <p:spPr>
          <a:xfrm>
            <a:off x="457200" y="505663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46904"/>
            <a:ext cx="5532120" cy="713232"/>
          </a:xfrm>
          <a:prstGeom prst="rect">
            <a:avLst/>
          </a:prstGeom>
          <a:noFill/>
        </p:spPr>
        <p:txBody>
          <a:bodyPr wrap="square" anchor="t">
            <a:spAutoFit/>
          </a:bodyPr>
          <a:lstStyle/>
          <a:p>
            <a:pPr algn="l">
              <a:spcAft>
                <a:spcPts val="600"/>
              </a:spcAft>
            </a:pPr>
            <a:r>
              <a:rPr sz="1500" b="0">
                <a:solidFill>
                  <a:srgbClr val="222B36"/>
                </a:solidFill>
                <a:latin typeface="Calibri"/>
              </a:rPr>
              <a:t>2023 units fell 5.0% and revenue 5.7%; Kirkland fell 21.5%</a:t>
            </a:r>
          </a:p>
        </p:txBody>
      </p:sp>
      <p:sp>
        <p:nvSpPr>
          <p:cNvPr id="24" name="Oval 23"/>
          <p:cNvSpPr/>
          <p:nvPr/>
        </p:nvSpPr>
        <p:spPr>
          <a:xfrm>
            <a:off x="457200" y="5769864"/>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660136"/>
            <a:ext cx="5532120" cy="713232"/>
          </a:xfrm>
          <a:prstGeom prst="rect">
            <a:avLst/>
          </a:prstGeom>
          <a:noFill/>
        </p:spPr>
        <p:txBody>
          <a:bodyPr wrap="square" anchor="t">
            <a:spAutoFit/>
          </a:bodyPr>
          <a:lstStyle/>
          <a:p>
            <a:pPr algn="l">
              <a:spcAft>
                <a:spcPts val="600"/>
              </a:spcAft>
            </a:pPr>
            <a:r>
              <a:rPr sz="1500" b="0">
                <a:solidFill>
                  <a:srgbClr val="222B36"/>
                </a:solidFill>
                <a:latin typeface="Calibri"/>
              </a:rPr>
              <a:t>Stock share follows customer share, not sales share</a:t>
            </a:r>
          </a:p>
        </p:txBody>
      </p:sp>
      <p:sp>
        <p:nvSpPr>
          <p:cNvPr id="26" name="Rounded Rectangle 25"/>
          <p:cNvSpPr/>
          <p:nvPr/>
        </p:nvSpPr>
        <p:spPr>
          <a:xfrm>
            <a:off x="6492240" y="2971800"/>
            <a:ext cx="5257800" cy="3337560"/>
          </a:xfrm>
          <a:prstGeom prst="roundRect">
            <a:avLst>
              <a:gd name="adj" fmla="val 8000"/>
            </a:avLst>
          </a:prstGeom>
          <a:solidFill>
            <a:srgbClr val="FFF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3017520"/>
            <a:ext cx="4937760" cy="457200"/>
          </a:xfrm>
          <a:prstGeom prst="rect">
            <a:avLst/>
          </a:prstGeom>
          <a:noFill/>
        </p:spPr>
        <p:txBody>
          <a:bodyPr wrap="square" anchor="t">
            <a:spAutoFit/>
          </a:bodyPr>
          <a:lstStyle/>
          <a:p>
            <a:pPr algn="l">
              <a:spcAft>
                <a:spcPts val="600"/>
              </a:spcAft>
            </a:pPr>
            <a:r>
              <a:rPr sz="2200" b="1">
                <a:solidFill>
                  <a:srgbClr val="E09F00"/>
                </a:solidFill>
                <a:latin typeface="Calibri"/>
              </a:rPr>
              <a:t>What we learned the hard way</a:t>
            </a:r>
          </a:p>
        </p:txBody>
      </p:sp>
      <p:sp>
        <p:nvSpPr>
          <p:cNvPr id="28" name="Oval 27"/>
          <p:cNvSpPr/>
          <p:nvPr/>
        </p:nvSpPr>
        <p:spPr>
          <a:xfrm>
            <a:off x="6675120" y="3675887"/>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3566160"/>
            <a:ext cx="4709160" cy="731520"/>
          </a:xfrm>
          <a:prstGeom prst="rect">
            <a:avLst/>
          </a:prstGeom>
          <a:noFill/>
        </p:spPr>
        <p:txBody>
          <a:bodyPr wrap="square" anchor="t">
            <a:spAutoFit/>
          </a:bodyPr>
          <a:lstStyle/>
          <a:p>
            <a:pPr algn="l">
              <a:spcAft>
                <a:spcPts val="600"/>
              </a:spcAft>
            </a:pPr>
            <a:r>
              <a:rPr sz="1400" b="0">
                <a:solidFill>
                  <a:srgbClr val="222B36"/>
                </a:solidFill>
                <a:latin typeface="Calibri"/>
              </a:rPr>
              <a:t>Stock is synthetic and not tied to sales: the size of the excess shows the method, not real savings</a:t>
            </a:r>
          </a:p>
        </p:txBody>
      </p:sp>
      <p:sp>
        <p:nvSpPr>
          <p:cNvPr id="30" name="Oval 29"/>
          <p:cNvSpPr/>
          <p:nvPr/>
        </p:nvSpPr>
        <p:spPr>
          <a:xfrm>
            <a:off x="6675120" y="440740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03720" y="4297680"/>
            <a:ext cx="4709160" cy="731520"/>
          </a:xfrm>
          <a:prstGeom prst="rect">
            <a:avLst/>
          </a:prstGeom>
          <a:noFill/>
        </p:spPr>
        <p:txBody>
          <a:bodyPr wrap="square" anchor="t">
            <a:spAutoFit/>
          </a:bodyPr>
          <a:lstStyle/>
          <a:p>
            <a:pPr algn="l">
              <a:spcAft>
                <a:spcPts val="600"/>
              </a:spcAft>
            </a:pPr>
            <a:r>
              <a:rPr sz="1400" b="0">
                <a:solidFill>
                  <a:srgbClr val="222B36"/>
                </a:solidFill>
                <a:latin typeface="Calibri"/>
              </a:rPr>
              <a:t>No store is short today (lowest cover ~375 days), so the agent says 'no transfer needed'</a:t>
            </a:r>
          </a:p>
        </p:txBody>
      </p:sp>
      <p:sp>
        <p:nvSpPr>
          <p:cNvPr id="32" name="Oval 31"/>
          <p:cNvSpPr/>
          <p:nvPr/>
        </p:nvSpPr>
        <p:spPr>
          <a:xfrm>
            <a:off x="6675120" y="513892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3720" y="5029200"/>
            <a:ext cx="4709160" cy="731520"/>
          </a:xfrm>
          <a:prstGeom prst="rect">
            <a:avLst/>
          </a:prstGeom>
          <a:noFill/>
        </p:spPr>
        <p:txBody>
          <a:bodyPr wrap="square" anchor="t">
            <a:spAutoFit/>
          </a:bodyPr>
          <a:lstStyle/>
          <a:p>
            <a:pPr algn="l">
              <a:spcAft>
                <a:spcPts val="600"/>
              </a:spcAft>
            </a:pPr>
            <a:r>
              <a:rPr sz="1400" b="0">
                <a:solidFill>
                  <a:srgbClr val="222B36"/>
                </a:solidFill>
                <a:latin typeface="Calibri"/>
              </a:rPr>
              <a:t>Orders exist up to 31 Dec 2026: every window now ends today</a:t>
            </a:r>
          </a:p>
        </p:txBody>
      </p:sp>
      <p:sp>
        <p:nvSpPr>
          <p:cNvPr id="34" name="Oval 33"/>
          <p:cNvSpPr/>
          <p:nvPr/>
        </p:nvSpPr>
        <p:spPr>
          <a:xfrm>
            <a:off x="6675120" y="587044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5760720"/>
            <a:ext cx="4709160" cy="731520"/>
          </a:xfrm>
          <a:prstGeom prst="rect">
            <a:avLst/>
          </a:prstGeom>
          <a:noFill/>
        </p:spPr>
        <p:txBody>
          <a:bodyPr wrap="square" anchor="t">
            <a:spAutoFit/>
          </a:bodyPr>
          <a:lstStyle/>
          <a:p>
            <a:pPr algn="l">
              <a:spcAft>
                <a:spcPts val="600"/>
              </a:spcAft>
            </a:pPr>
            <a:r>
              <a:rPr sz="1400" b="0">
                <a:solidFill>
                  <a:srgbClr val="222B36"/>
                </a:solidFill>
                <a:latin typeface="Calibri"/>
              </a:rPr>
              <a:t>No lead times, safety stock or transfer costs in the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Architecture: one agent, tools, and the database as the security boundary</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Navneet  |  1:15</a:t>
            </a:r>
          </a:p>
        </p:txBody>
      </p:sp>
      <p:sp>
        <p:nvSpPr>
          <p:cNvPr id="5" name="Rounded Rectangle 4"/>
          <p:cNvSpPr/>
          <p:nvPr/>
        </p:nvSpPr>
        <p:spPr>
          <a:xfrm>
            <a:off x="365760" y="1828800"/>
            <a:ext cx="1737360" cy="1097280"/>
          </a:xfrm>
          <a:prstGeom prst="roundRect">
            <a:avLst>
              <a:gd name="adj" fmla="val 8000"/>
            </a:avLst>
          </a:prstGeom>
          <a:solidFill>
            <a:srgbClr val="5B67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Manager</a:t>
            </a:r>
          </a:p>
          <a:p>
            <a:pPr algn="ctr"/>
            <a:r>
              <a:rPr sz="1100">
                <a:solidFill>
                  <a:srgbClr val="FFFFFF"/>
                </a:solidFill>
                <a:latin typeface="Calibri"/>
              </a:rPr>
              <a:t>Role sign-in
(Store / Super)</a:t>
            </a:r>
          </a:p>
        </p:txBody>
      </p:sp>
      <p:sp>
        <p:nvSpPr>
          <p:cNvPr id="6" name="Rounded Rectangle 5"/>
          <p:cNvSpPr/>
          <p:nvPr/>
        </p:nvSpPr>
        <p:spPr>
          <a:xfrm>
            <a:off x="2468880" y="1828800"/>
            <a:ext cx="1737360" cy="10972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Web app</a:t>
            </a:r>
          </a:p>
          <a:p>
            <a:pPr algn="ctr"/>
            <a:r>
              <a:rPr sz="1100">
                <a:solidFill>
                  <a:srgbClr val="FFFFFF"/>
                </a:solidFill>
                <a:latin typeface="Calibri"/>
              </a:rPr>
              <a:t>FastAPI :8005
saved chats per person</a:t>
            </a:r>
          </a:p>
        </p:txBody>
      </p:sp>
      <p:sp>
        <p:nvSpPr>
          <p:cNvPr id="7" name="Rounded Rectangle 6"/>
          <p:cNvSpPr/>
          <p:nvPr/>
        </p:nvSpPr>
        <p:spPr>
          <a:xfrm>
            <a:off x="4572000" y="1234440"/>
            <a:ext cx="3657600" cy="3840480"/>
          </a:xfrm>
          <a:prstGeom prst="roundRect">
            <a:avLst>
              <a:gd name="adj" fmla="val 8000"/>
            </a:avLst>
          </a:prstGeom>
          <a:solidFill>
            <a:srgbClr val="E9EFF7"/>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261872"/>
            <a:ext cx="3474720" cy="365760"/>
          </a:xfrm>
          <a:prstGeom prst="rect">
            <a:avLst/>
          </a:prstGeom>
          <a:noFill/>
        </p:spPr>
        <p:txBody>
          <a:bodyPr wrap="square" anchor="t">
            <a:spAutoFit/>
          </a:bodyPr>
          <a:lstStyle/>
          <a:p>
            <a:pPr algn="l">
              <a:spcAft>
                <a:spcPts val="600"/>
              </a:spcAft>
            </a:pPr>
            <a:r>
              <a:rPr sz="1500" b="1">
                <a:solidFill>
                  <a:srgbClr val="1F3A5F"/>
                </a:solidFill>
                <a:latin typeface="Calibri"/>
              </a:rPr>
              <a:t>Agent service  :8006</a:t>
            </a:r>
          </a:p>
        </p:txBody>
      </p:sp>
      <p:sp>
        <p:nvSpPr>
          <p:cNvPr id="9" name="Rounded Rectangle 8"/>
          <p:cNvSpPr/>
          <p:nvPr/>
        </p:nvSpPr>
        <p:spPr>
          <a:xfrm>
            <a:off x="4800600" y="1691640"/>
            <a:ext cx="3200400" cy="731520"/>
          </a:xfrm>
          <a:prstGeom prst="roundRect">
            <a:avLst>
              <a:gd name="adj" fmla="val 8000"/>
            </a:avLst>
          </a:prstGeom>
          <a:solidFill>
            <a:srgbClr val="E0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Scope gate</a:t>
            </a:r>
          </a:p>
          <a:p>
            <a:pPr algn="ctr"/>
            <a:r>
              <a:rPr sz="1000">
                <a:solidFill>
                  <a:srgbClr val="FFFFFF"/>
                </a:solidFill>
                <a:latin typeface="Calibri"/>
              </a:rPr>
              <a:t>declines unrelated questions</a:t>
            </a:r>
          </a:p>
        </p:txBody>
      </p:sp>
      <p:sp>
        <p:nvSpPr>
          <p:cNvPr id="10" name="Rounded Rectangle 9"/>
          <p:cNvSpPr/>
          <p:nvPr/>
        </p:nvSpPr>
        <p:spPr>
          <a:xfrm>
            <a:off x="4800600" y="2560320"/>
            <a:ext cx="3200400" cy="91440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gpt-5-mini tool loop</a:t>
            </a:r>
          </a:p>
          <a:p>
            <a:pPr algn="ctr"/>
            <a:r>
              <a:rPr sz="1000">
                <a:solidFill>
                  <a:srgbClr val="FFFFFF"/>
                </a:solidFill>
                <a:latin typeface="Calibri"/>
              </a:rPr>
              <a:t>up to 10 rounds, Azure OpenAI</a:t>
            </a:r>
          </a:p>
        </p:txBody>
      </p:sp>
      <p:sp>
        <p:nvSpPr>
          <p:cNvPr id="11" name="Rounded Rectangle 10"/>
          <p:cNvSpPr/>
          <p:nvPr/>
        </p:nvSpPr>
        <p:spPr>
          <a:xfrm>
            <a:off x="4800600" y="3611880"/>
            <a:ext cx="3200400" cy="731520"/>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Answer checker (code)</a:t>
            </a:r>
          </a:p>
          <a:p>
            <a:pPr algn="ctr"/>
            <a:r>
              <a:rPr sz="1000">
                <a:solidFill>
                  <a:srgbClr val="FFFFFF"/>
                </a:solidFill>
                <a:latin typeface="Calibri"/>
              </a:rPr>
              <a:t>figures, calculations, scope</a:t>
            </a:r>
          </a:p>
        </p:txBody>
      </p:sp>
      <p:sp>
        <p:nvSpPr>
          <p:cNvPr id="12" name="TextBox 11"/>
          <p:cNvSpPr txBox="1"/>
          <p:nvPr/>
        </p:nvSpPr>
        <p:spPr>
          <a:xfrm>
            <a:off x="4709160" y="4434840"/>
            <a:ext cx="3383280" cy="548640"/>
          </a:xfrm>
          <a:prstGeom prst="rect">
            <a:avLst/>
          </a:prstGeom>
          <a:noFill/>
        </p:spPr>
        <p:txBody>
          <a:bodyPr wrap="square" anchor="t">
            <a:spAutoFit/>
          </a:bodyPr>
          <a:lstStyle/>
          <a:p>
            <a:pPr algn="ctr">
              <a:spcAft>
                <a:spcPts val="600"/>
              </a:spcAft>
            </a:pPr>
            <a:r>
              <a:rPr sz="1200" b="0">
                <a:solidFill>
                  <a:srgbClr val="5B6775"/>
                </a:solidFill>
                <a:latin typeface="Calibri"/>
              </a:rPr>
              <a:t>+ calculate, make_chart, make_export</a:t>
            </a:r>
          </a:p>
        </p:txBody>
      </p:sp>
      <p:sp>
        <p:nvSpPr>
          <p:cNvPr id="13" name="Rounded Rectangle 12"/>
          <p:cNvSpPr/>
          <p:nvPr/>
        </p:nvSpPr>
        <p:spPr>
          <a:xfrm>
            <a:off x="8595360" y="1234440"/>
            <a:ext cx="1554480" cy="1097280"/>
          </a:xfrm>
          <a:prstGeom prst="roundRect">
            <a:avLst>
              <a:gd name="adj" fmla="val 8000"/>
            </a:avLst>
          </a:prstGeom>
          <a:solidFill>
            <a:srgbClr val="5B67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MCP</a:t>
            </a:r>
          </a:p>
          <a:p>
            <a:pPr algn="ctr"/>
            <a:r>
              <a:rPr sz="1000">
                <a:solidFill>
                  <a:srgbClr val="FFFFFF"/>
                </a:solidFill>
                <a:latin typeface="Calibri"/>
              </a:rPr>
              <a:t>sales analysis</a:t>
            </a:r>
          </a:p>
        </p:txBody>
      </p:sp>
      <p:sp>
        <p:nvSpPr>
          <p:cNvPr id="14" name="Rounded Rectangle 13"/>
          <p:cNvSpPr/>
          <p:nvPr/>
        </p:nvSpPr>
        <p:spPr>
          <a:xfrm>
            <a:off x="8595360" y="2468880"/>
            <a:ext cx="1554480" cy="1097280"/>
          </a:xfrm>
          <a:prstGeom prst="roundRect">
            <a:avLst>
              <a:gd name="adj" fmla="val 8000"/>
            </a:avLst>
          </a:prstGeom>
          <a:solidFill>
            <a:srgbClr val="5B67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MCP</a:t>
            </a:r>
          </a:p>
          <a:p>
            <a:pPr algn="ctr"/>
            <a:r>
              <a:rPr sz="1000">
                <a:solidFill>
                  <a:srgbClr val="FFFFFF"/>
                </a:solidFill>
                <a:latin typeface="Calibri"/>
              </a:rPr>
              <a:t>customer sales</a:t>
            </a:r>
          </a:p>
        </p:txBody>
      </p:sp>
      <p:sp>
        <p:nvSpPr>
          <p:cNvPr id="15" name="Rounded Rectangle 14"/>
          <p:cNvSpPr/>
          <p:nvPr/>
        </p:nvSpPr>
        <p:spPr>
          <a:xfrm>
            <a:off x="8595360" y="3703320"/>
            <a:ext cx="1554480" cy="1097280"/>
          </a:xfrm>
          <a:prstGeom prst="roundRect">
            <a:avLst>
              <a:gd name="adj" fmla="val 8000"/>
            </a:avLst>
          </a:prstGeom>
          <a:solidFill>
            <a:srgbClr val="5B67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MCP</a:t>
            </a:r>
          </a:p>
          <a:p>
            <a:pPr algn="ctr"/>
            <a:r>
              <a:rPr sz="1000">
                <a:solidFill>
                  <a:srgbClr val="FFFFFF"/>
                </a:solidFill>
                <a:latin typeface="Calibri"/>
              </a:rPr>
              <a:t>semantic search</a:t>
            </a:r>
          </a:p>
        </p:txBody>
      </p:sp>
      <p:sp>
        <p:nvSpPr>
          <p:cNvPr id="16" name="TextBox 15"/>
          <p:cNvSpPr txBox="1"/>
          <p:nvPr/>
        </p:nvSpPr>
        <p:spPr>
          <a:xfrm>
            <a:off x="8503920" y="4846320"/>
            <a:ext cx="1737360" cy="457200"/>
          </a:xfrm>
          <a:prstGeom prst="rect">
            <a:avLst/>
          </a:prstGeom>
          <a:noFill/>
        </p:spPr>
        <p:txBody>
          <a:bodyPr wrap="square" anchor="t">
            <a:spAutoFit/>
          </a:bodyPr>
          <a:lstStyle/>
          <a:p>
            <a:pPr algn="ctr">
              <a:spcAft>
                <a:spcPts val="600"/>
              </a:spcAft>
            </a:pPr>
            <a:r>
              <a:rPr sz="1200" b="0">
                <a:solidFill>
                  <a:srgbClr val="5B6775"/>
                </a:solidFill>
                <a:latin typeface="Calibri"/>
              </a:rPr>
              <a:t>17 tools, stdio</a:t>
            </a:r>
          </a:p>
        </p:txBody>
      </p:sp>
      <p:sp>
        <p:nvSpPr>
          <p:cNvPr id="17" name="Rounded Rectangle 16"/>
          <p:cNvSpPr/>
          <p:nvPr/>
        </p:nvSpPr>
        <p:spPr>
          <a:xfrm>
            <a:off x="10424160" y="1234440"/>
            <a:ext cx="1463040" cy="356616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PostgreSQL</a:t>
            </a:r>
          </a:p>
          <a:p>
            <a:pPr algn="ctr"/>
            <a:r>
              <a:rPr sz="1100">
                <a:solidFill>
                  <a:srgbClr val="FFFFFF"/>
                </a:solidFill>
                <a:latin typeface="Calibri"/>
              </a:rPr>
              <a:t>pgvector
Row-Level Security
store_manager role
read-only</a:t>
            </a:r>
          </a:p>
        </p:txBody>
      </p:sp>
      <p:cxnSp>
        <p:nvCxnSpPr>
          <p:cNvPr id="18" name="Connector 17"/>
          <p:cNvCxnSpPr/>
          <p:nvPr/>
        </p:nvCxnSpPr>
        <p:spPr>
          <a:xfrm>
            <a:off x="2103120" y="2377440"/>
            <a:ext cx="3657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206240" y="2377440"/>
            <a:ext cx="3657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29600" y="3017520"/>
            <a:ext cx="3657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149840" y="3017520"/>
            <a:ext cx="27432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5760" y="5440680"/>
            <a:ext cx="3749039" cy="105156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486400"/>
            <a:ext cx="3474720" cy="365760"/>
          </a:xfrm>
          <a:prstGeom prst="rect">
            <a:avLst/>
          </a:prstGeom>
          <a:noFill/>
        </p:spPr>
        <p:txBody>
          <a:bodyPr wrap="square" anchor="t">
            <a:spAutoFit/>
          </a:bodyPr>
          <a:lstStyle/>
          <a:p>
            <a:pPr algn="l">
              <a:spcAft>
                <a:spcPts val="600"/>
              </a:spcAft>
            </a:pPr>
            <a:r>
              <a:rPr sz="1500" b="1">
                <a:solidFill>
                  <a:srgbClr val="0F9D8A"/>
                </a:solidFill>
                <a:latin typeface="Calibri"/>
              </a:rPr>
              <a:t>Trust boundary 1  Identity</a:t>
            </a:r>
          </a:p>
        </p:txBody>
      </p:sp>
      <p:sp>
        <p:nvSpPr>
          <p:cNvPr id="24" name="TextBox 23"/>
          <p:cNvSpPr txBox="1"/>
          <p:nvPr/>
        </p:nvSpPr>
        <p:spPr>
          <a:xfrm>
            <a:off x="502920" y="5852160"/>
            <a:ext cx="3474720" cy="640080"/>
          </a:xfrm>
          <a:prstGeom prst="rect">
            <a:avLst/>
          </a:prstGeom>
          <a:noFill/>
        </p:spPr>
        <p:txBody>
          <a:bodyPr wrap="square" anchor="t">
            <a:spAutoFit/>
          </a:bodyPr>
          <a:lstStyle/>
          <a:p>
            <a:pPr algn="l">
              <a:spcAft>
                <a:spcPts val="600"/>
              </a:spcAft>
            </a:pPr>
            <a:r>
              <a:rPr sz="1300" b="0">
                <a:solidFill>
                  <a:srgbClr val="222B36"/>
                </a:solidFill>
                <a:latin typeface="Calibri"/>
              </a:rPr>
              <a:t>Access list names the person; the model never supplies it</a:t>
            </a:r>
          </a:p>
        </p:txBody>
      </p:sp>
      <p:sp>
        <p:nvSpPr>
          <p:cNvPr id="25" name="Rounded Rectangle 24"/>
          <p:cNvSpPr/>
          <p:nvPr/>
        </p:nvSpPr>
        <p:spPr>
          <a:xfrm>
            <a:off x="4279392" y="5440680"/>
            <a:ext cx="3749039" cy="1051560"/>
          </a:xfrm>
          <a:prstGeom prst="roundRect">
            <a:avLst>
              <a:gd name="adj" fmla="val 8000"/>
            </a:avLst>
          </a:prstGeom>
          <a:solidFill>
            <a:srgbClr val="F3F6FA"/>
          </a:solidFill>
          <a:ln w="19050">
            <a:solidFill>
              <a:srgbClr val="E0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16552" y="5486400"/>
            <a:ext cx="3474720" cy="365760"/>
          </a:xfrm>
          <a:prstGeom prst="rect">
            <a:avLst/>
          </a:prstGeom>
          <a:noFill/>
        </p:spPr>
        <p:txBody>
          <a:bodyPr wrap="square" anchor="t">
            <a:spAutoFit/>
          </a:bodyPr>
          <a:lstStyle/>
          <a:p>
            <a:pPr algn="l">
              <a:spcAft>
                <a:spcPts val="600"/>
              </a:spcAft>
            </a:pPr>
            <a:r>
              <a:rPr sz="1500" b="1">
                <a:solidFill>
                  <a:srgbClr val="E09F00"/>
                </a:solidFill>
                <a:latin typeface="Calibri"/>
              </a:rPr>
              <a:t>Trust boundary 2  Tools</a:t>
            </a:r>
          </a:p>
        </p:txBody>
      </p:sp>
      <p:sp>
        <p:nvSpPr>
          <p:cNvPr id="27" name="TextBox 26"/>
          <p:cNvSpPr txBox="1"/>
          <p:nvPr/>
        </p:nvSpPr>
        <p:spPr>
          <a:xfrm>
            <a:off x="4416552" y="5852160"/>
            <a:ext cx="3474720" cy="640080"/>
          </a:xfrm>
          <a:prstGeom prst="rect">
            <a:avLst/>
          </a:prstGeom>
          <a:noFill/>
        </p:spPr>
        <p:txBody>
          <a:bodyPr wrap="square" anchor="t">
            <a:spAutoFit/>
          </a:bodyPr>
          <a:lstStyle/>
          <a:p>
            <a:pPr algn="l">
              <a:spcAft>
                <a:spcPts val="600"/>
              </a:spcAft>
            </a:pPr>
            <a:r>
              <a:rPr sz="1300" b="0">
                <a:solidFill>
                  <a:srgbClr val="222B36"/>
                </a:solidFill>
                <a:latin typeface="Calibri"/>
              </a:rPr>
              <a:t>Servers start per person with the identity fixed at launch</a:t>
            </a:r>
          </a:p>
        </p:txBody>
      </p:sp>
      <p:sp>
        <p:nvSpPr>
          <p:cNvPr id="28" name="Rounded Rectangle 27"/>
          <p:cNvSpPr/>
          <p:nvPr/>
        </p:nvSpPr>
        <p:spPr>
          <a:xfrm>
            <a:off x="8193024" y="5440680"/>
            <a:ext cx="3749039" cy="1051560"/>
          </a:xfrm>
          <a:prstGeom prst="roundRect">
            <a:avLst>
              <a:gd name="adj" fmla="val 8000"/>
            </a:avLst>
          </a:prstGeom>
          <a:solidFill>
            <a:srgbClr val="F3F6FA"/>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0184" y="5486400"/>
            <a:ext cx="3474720" cy="365760"/>
          </a:xfrm>
          <a:prstGeom prst="rect">
            <a:avLst/>
          </a:prstGeom>
          <a:noFill/>
        </p:spPr>
        <p:txBody>
          <a:bodyPr wrap="square" anchor="t">
            <a:spAutoFit/>
          </a:bodyPr>
          <a:lstStyle/>
          <a:p>
            <a:pPr algn="l">
              <a:spcAft>
                <a:spcPts val="600"/>
              </a:spcAft>
            </a:pPr>
            <a:r>
              <a:rPr sz="1500" b="1">
                <a:solidFill>
                  <a:srgbClr val="C0392B"/>
                </a:solidFill>
                <a:latin typeface="Calibri"/>
              </a:rPr>
              <a:t>Trust boundary 3  Database</a:t>
            </a:r>
          </a:p>
        </p:txBody>
      </p:sp>
      <p:sp>
        <p:nvSpPr>
          <p:cNvPr id="30" name="TextBox 29"/>
          <p:cNvSpPr txBox="1"/>
          <p:nvPr/>
        </p:nvSpPr>
        <p:spPr>
          <a:xfrm>
            <a:off x="8330184" y="5852160"/>
            <a:ext cx="3474720" cy="640080"/>
          </a:xfrm>
          <a:prstGeom prst="rect">
            <a:avLst/>
          </a:prstGeom>
          <a:noFill/>
        </p:spPr>
        <p:txBody>
          <a:bodyPr wrap="square" anchor="t">
            <a:spAutoFit/>
          </a:bodyPr>
          <a:lstStyle/>
          <a:p>
            <a:pPr algn="l">
              <a:spcAft>
                <a:spcPts val="600"/>
              </a:spcAft>
            </a:pPr>
            <a:r>
              <a:rPr sz="1300" b="0">
                <a:solidFill>
                  <a:srgbClr val="222B36"/>
                </a:solidFill>
                <a:latin typeface="Calibri"/>
              </a:rPr>
              <a:t>RLS decides which stores exist for that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Implementation flow: what happens to one question</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Ranjith  |  1:15</a:t>
            </a:r>
          </a:p>
        </p:txBody>
      </p:sp>
      <p:sp>
        <p:nvSpPr>
          <p:cNvPr id="5" name="Rounded Rectangle 4"/>
          <p:cNvSpPr/>
          <p:nvPr/>
        </p:nvSpPr>
        <p:spPr>
          <a:xfrm>
            <a:off x="41148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41148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Sign in</a:t>
            </a:r>
          </a:p>
        </p:txBody>
      </p:sp>
      <p:sp>
        <p:nvSpPr>
          <p:cNvPr id="8" name="TextBox 7"/>
          <p:cNvSpPr txBox="1"/>
          <p:nvPr/>
        </p:nvSpPr>
        <p:spPr>
          <a:xfrm>
            <a:off x="502920"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role + access code</a:t>
            </a:r>
          </a:p>
        </p:txBody>
      </p:sp>
      <p:cxnSp>
        <p:nvCxnSpPr>
          <p:cNvPr id="9" name="Connector 8"/>
          <p:cNvCxnSpPr/>
          <p:nvPr/>
        </p:nvCxnSpPr>
        <p:spPr>
          <a:xfrm>
            <a:off x="2194560" y="2240280"/>
            <a:ext cx="1371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3172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71800"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2" name="TextBox 11"/>
          <p:cNvSpPr txBox="1"/>
          <p:nvPr/>
        </p:nvSpPr>
        <p:spPr>
          <a:xfrm>
            <a:off x="233172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Scope gate</a:t>
            </a:r>
          </a:p>
        </p:txBody>
      </p:sp>
      <p:sp>
        <p:nvSpPr>
          <p:cNvPr id="13" name="TextBox 12"/>
          <p:cNvSpPr txBox="1"/>
          <p:nvPr/>
        </p:nvSpPr>
        <p:spPr>
          <a:xfrm>
            <a:off x="2423160"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unrelated? decline</a:t>
            </a:r>
          </a:p>
        </p:txBody>
      </p:sp>
      <p:cxnSp>
        <p:nvCxnSpPr>
          <p:cNvPr id="14" name="Connector 13"/>
          <p:cNvCxnSpPr/>
          <p:nvPr/>
        </p:nvCxnSpPr>
        <p:spPr>
          <a:xfrm>
            <a:off x="4114800" y="2240280"/>
            <a:ext cx="1371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5196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92040"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7" name="TextBox 16"/>
          <p:cNvSpPr txBox="1"/>
          <p:nvPr/>
        </p:nvSpPr>
        <p:spPr>
          <a:xfrm>
            <a:off x="425196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Choose tools</a:t>
            </a:r>
          </a:p>
        </p:txBody>
      </p:sp>
      <p:sp>
        <p:nvSpPr>
          <p:cNvPr id="18" name="TextBox 17"/>
          <p:cNvSpPr txBox="1"/>
          <p:nvPr/>
        </p:nvSpPr>
        <p:spPr>
          <a:xfrm>
            <a:off x="4343400"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model picks, MCP runs SQL as that person</a:t>
            </a:r>
          </a:p>
        </p:txBody>
      </p:sp>
      <p:cxnSp>
        <p:nvCxnSpPr>
          <p:cNvPr id="19" name="Connector 18"/>
          <p:cNvCxnSpPr/>
          <p:nvPr/>
        </p:nvCxnSpPr>
        <p:spPr>
          <a:xfrm>
            <a:off x="6035040" y="2240280"/>
            <a:ext cx="137160"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7220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12280"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22" name="TextBox 21"/>
          <p:cNvSpPr txBox="1"/>
          <p:nvPr/>
        </p:nvSpPr>
        <p:spPr>
          <a:xfrm>
            <a:off x="617220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Calculate</a:t>
            </a:r>
          </a:p>
        </p:txBody>
      </p:sp>
      <p:sp>
        <p:nvSpPr>
          <p:cNvPr id="23" name="TextBox 22"/>
          <p:cNvSpPr txBox="1"/>
          <p:nvPr/>
        </p:nvSpPr>
        <p:spPr>
          <a:xfrm>
            <a:off x="6263640"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arithmetic by code, not model</a:t>
            </a:r>
          </a:p>
        </p:txBody>
      </p:sp>
      <p:cxnSp>
        <p:nvCxnSpPr>
          <p:cNvPr id="24" name="Connector 23"/>
          <p:cNvCxnSpPr/>
          <p:nvPr/>
        </p:nvCxnSpPr>
        <p:spPr>
          <a:xfrm>
            <a:off x="7955279" y="2240280"/>
            <a:ext cx="137161"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9244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32519"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27" name="TextBox 26"/>
          <p:cNvSpPr txBox="1"/>
          <p:nvPr/>
        </p:nvSpPr>
        <p:spPr>
          <a:xfrm>
            <a:off x="809244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Verify</a:t>
            </a:r>
          </a:p>
        </p:txBody>
      </p:sp>
      <p:sp>
        <p:nvSpPr>
          <p:cNvPr id="28" name="TextBox 27"/>
          <p:cNvSpPr txBox="1"/>
          <p:nvPr/>
        </p:nvSpPr>
        <p:spPr>
          <a:xfrm>
            <a:off x="8183879"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every figure vs tool results</a:t>
            </a:r>
          </a:p>
        </p:txBody>
      </p:sp>
      <p:cxnSp>
        <p:nvCxnSpPr>
          <p:cNvPr id="29" name="Connector 28"/>
          <p:cNvCxnSpPr/>
          <p:nvPr/>
        </p:nvCxnSpPr>
        <p:spPr>
          <a:xfrm>
            <a:off x="9875519" y="2240280"/>
            <a:ext cx="137161" cy="0"/>
          </a:xfrm>
          <a:prstGeom prst="line">
            <a:avLst/>
          </a:prstGeom>
          <a:ln w="28575">
            <a:solidFill>
              <a:srgbClr val="5B6775"/>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012680" y="1325880"/>
            <a:ext cx="1783080" cy="182880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52759" y="1188720"/>
            <a:ext cx="502920" cy="50292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32" name="TextBox 31"/>
          <p:cNvSpPr txBox="1"/>
          <p:nvPr/>
        </p:nvSpPr>
        <p:spPr>
          <a:xfrm>
            <a:off x="10012680" y="1783080"/>
            <a:ext cx="1783080" cy="411480"/>
          </a:xfrm>
          <a:prstGeom prst="rect">
            <a:avLst/>
          </a:prstGeom>
          <a:noFill/>
        </p:spPr>
        <p:txBody>
          <a:bodyPr wrap="square" anchor="t">
            <a:spAutoFit/>
          </a:bodyPr>
          <a:lstStyle/>
          <a:p>
            <a:pPr algn="ctr">
              <a:spcAft>
                <a:spcPts val="600"/>
              </a:spcAft>
            </a:pPr>
            <a:r>
              <a:rPr sz="1700" b="1">
                <a:solidFill>
                  <a:srgbClr val="1F3A5F"/>
                </a:solidFill>
                <a:latin typeface="Calibri"/>
              </a:rPr>
              <a:t>Answer</a:t>
            </a:r>
          </a:p>
        </p:txBody>
      </p:sp>
      <p:sp>
        <p:nvSpPr>
          <p:cNvPr id="33" name="TextBox 32"/>
          <p:cNvSpPr txBox="1"/>
          <p:nvPr/>
        </p:nvSpPr>
        <p:spPr>
          <a:xfrm>
            <a:off x="10104119" y="2240280"/>
            <a:ext cx="1600200" cy="868680"/>
          </a:xfrm>
          <a:prstGeom prst="rect">
            <a:avLst/>
          </a:prstGeom>
          <a:noFill/>
        </p:spPr>
        <p:txBody>
          <a:bodyPr wrap="square" anchor="t">
            <a:spAutoFit/>
          </a:bodyPr>
          <a:lstStyle/>
          <a:p>
            <a:pPr algn="ctr">
              <a:spcAft>
                <a:spcPts val="600"/>
              </a:spcAft>
            </a:pPr>
            <a:r>
              <a:rPr sz="1300" b="0">
                <a:solidFill>
                  <a:srgbClr val="222B36"/>
                </a:solidFill>
                <a:latin typeface="Calibri"/>
              </a:rPr>
              <a:t>Scope line + draft recommendation</a:t>
            </a:r>
          </a:p>
        </p:txBody>
      </p:sp>
      <p:sp>
        <p:nvSpPr>
          <p:cNvPr id="34" name="TextBox 33"/>
          <p:cNvSpPr txBox="1"/>
          <p:nvPr/>
        </p:nvSpPr>
        <p:spPr>
          <a:xfrm>
            <a:off x="411480" y="3200400"/>
            <a:ext cx="11338560" cy="457200"/>
          </a:xfrm>
          <a:prstGeom prst="rect">
            <a:avLst/>
          </a:prstGeom>
          <a:noFill/>
        </p:spPr>
        <p:txBody>
          <a:bodyPr wrap="square" anchor="t">
            <a:spAutoFit/>
          </a:bodyPr>
          <a:lstStyle/>
          <a:p>
            <a:pPr algn="l">
              <a:spcAft>
                <a:spcPts val="600"/>
              </a:spcAft>
            </a:pPr>
            <a:r>
              <a:rPr sz="1400" b="0">
                <a:solidFill>
                  <a:srgbClr val="5B6775"/>
                </a:solidFill>
                <a:latin typeface="Calibri"/>
              </a:rPr>
              <a:t>If the check fails: rewrite up to 2 times, then show the answer with a visible verification note.</a:t>
            </a:r>
          </a:p>
        </p:txBody>
      </p:sp>
      <p:sp>
        <p:nvSpPr>
          <p:cNvPr id="35" name="TextBox 34"/>
          <p:cNvSpPr txBox="1"/>
          <p:nvPr/>
        </p:nvSpPr>
        <p:spPr>
          <a:xfrm>
            <a:off x="457200" y="3749039"/>
            <a:ext cx="5486400" cy="457200"/>
          </a:xfrm>
          <a:prstGeom prst="rect">
            <a:avLst/>
          </a:prstGeom>
          <a:noFill/>
        </p:spPr>
        <p:txBody>
          <a:bodyPr wrap="square" anchor="t">
            <a:spAutoFit/>
          </a:bodyPr>
          <a:lstStyle/>
          <a:p>
            <a:pPr algn="l">
              <a:spcAft>
                <a:spcPts val="600"/>
              </a:spcAft>
            </a:pPr>
            <a:r>
              <a:rPr sz="2200" b="1">
                <a:solidFill>
                  <a:srgbClr val="1F3A5F"/>
                </a:solidFill>
                <a:latin typeface="Calibri"/>
              </a:rPr>
              <a:t>What we built</a:t>
            </a:r>
          </a:p>
        </p:txBody>
      </p:sp>
      <p:sp>
        <p:nvSpPr>
          <p:cNvPr id="36" name="Oval 35"/>
          <p:cNvSpPr/>
          <p:nvPr/>
        </p:nvSpPr>
        <p:spPr>
          <a:xfrm>
            <a:off x="457200" y="440740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297680"/>
            <a:ext cx="5440680" cy="502920"/>
          </a:xfrm>
          <a:prstGeom prst="rect">
            <a:avLst/>
          </a:prstGeom>
          <a:noFill/>
        </p:spPr>
        <p:txBody>
          <a:bodyPr wrap="square" anchor="t">
            <a:spAutoFit/>
          </a:bodyPr>
          <a:lstStyle/>
          <a:p>
            <a:pPr algn="l">
              <a:spcAft>
                <a:spcPts val="600"/>
              </a:spcAft>
            </a:pPr>
            <a:r>
              <a:rPr sz="1500" b="0">
                <a:solidFill>
                  <a:srgbClr val="222B36"/>
                </a:solidFill>
                <a:latin typeface="Calibri"/>
              </a:rPr>
              <a:t>17 tested tools: ranking, seasonal, year on year, stock cover, bought together</a:t>
            </a:r>
          </a:p>
        </p:txBody>
      </p:sp>
      <p:sp>
        <p:nvSpPr>
          <p:cNvPr id="38" name="Oval 37"/>
          <p:cNvSpPr/>
          <p:nvPr/>
        </p:nvSpPr>
        <p:spPr>
          <a:xfrm>
            <a:off x="457200" y="491032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4800600"/>
            <a:ext cx="5440680" cy="502920"/>
          </a:xfrm>
          <a:prstGeom prst="rect">
            <a:avLst/>
          </a:prstGeom>
          <a:noFill/>
        </p:spPr>
        <p:txBody>
          <a:bodyPr wrap="square" anchor="t">
            <a:spAutoFit/>
          </a:bodyPr>
          <a:lstStyle/>
          <a:p>
            <a:pPr algn="l">
              <a:spcAft>
                <a:spcPts val="600"/>
              </a:spcAft>
            </a:pPr>
            <a:r>
              <a:rPr sz="1500" b="0">
                <a:solidFill>
                  <a:srgbClr val="222B36"/>
                </a:solidFill>
                <a:latin typeface="Calibri"/>
              </a:rPr>
              <a:t>Product search by meaning (pgvector embeddings)</a:t>
            </a:r>
          </a:p>
        </p:txBody>
      </p:sp>
      <p:sp>
        <p:nvSpPr>
          <p:cNvPr id="40" name="Oval 39"/>
          <p:cNvSpPr/>
          <p:nvPr/>
        </p:nvSpPr>
        <p:spPr>
          <a:xfrm>
            <a:off x="457200" y="541324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303520"/>
            <a:ext cx="5440680" cy="502920"/>
          </a:xfrm>
          <a:prstGeom prst="rect">
            <a:avLst/>
          </a:prstGeom>
          <a:noFill/>
        </p:spPr>
        <p:txBody>
          <a:bodyPr wrap="square" anchor="t">
            <a:spAutoFit/>
          </a:bodyPr>
          <a:lstStyle/>
          <a:p>
            <a:pPr algn="l">
              <a:spcAft>
                <a:spcPts val="600"/>
              </a:spcAft>
            </a:pPr>
            <a:r>
              <a:rPr sz="1500" b="0">
                <a:solidFill>
                  <a:srgbClr val="222B36"/>
                </a:solidFill>
                <a:latin typeface="Calibri"/>
              </a:rPr>
              <a:t>Charts and CSV/PDF built only from figures a tool returned</a:t>
            </a:r>
          </a:p>
        </p:txBody>
      </p:sp>
      <p:sp>
        <p:nvSpPr>
          <p:cNvPr id="42" name="Oval 41"/>
          <p:cNvSpPr/>
          <p:nvPr/>
        </p:nvSpPr>
        <p:spPr>
          <a:xfrm>
            <a:off x="457200" y="591616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806440"/>
            <a:ext cx="5440680" cy="502920"/>
          </a:xfrm>
          <a:prstGeom prst="rect">
            <a:avLst/>
          </a:prstGeom>
          <a:noFill/>
        </p:spPr>
        <p:txBody>
          <a:bodyPr wrap="square" anchor="t">
            <a:spAutoFit/>
          </a:bodyPr>
          <a:lstStyle/>
          <a:p>
            <a:pPr algn="l">
              <a:spcAft>
                <a:spcPts val="600"/>
              </a:spcAft>
            </a:pPr>
            <a:r>
              <a:rPr sz="1500" b="0">
                <a:solidFill>
                  <a:srgbClr val="222B36"/>
                </a:solidFill>
                <a:latin typeface="Calibri"/>
              </a:rPr>
              <a:t>Per-person saved chats</a:t>
            </a:r>
          </a:p>
        </p:txBody>
      </p:sp>
      <p:sp>
        <p:nvSpPr>
          <p:cNvPr id="44" name="TextBox 43"/>
          <p:cNvSpPr txBox="1"/>
          <p:nvPr/>
        </p:nvSpPr>
        <p:spPr>
          <a:xfrm>
            <a:off x="6583680" y="3749039"/>
            <a:ext cx="5029200" cy="457200"/>
          </a:xfrm>
          <a:prstGeom prst="rect">
            <a:avLst/>
          </a:prstGeom>
          <a:noFill/>
        </p:spPr>
        <p:txBody>
          <a:bodyPr wrap="square" anchor="t">
            <a:spAutoFit/>
          </a:bodyPr>
          <a:lstStyle/>
          <a:p>
            <a:pPr algn="l">
              <a:spcAft>
                <a:spcPts val="600"/>
              </a:spcAft>
            </a:pPr>
            <a:r>
              <a:rPr sz="2200" b="1">
                <a:solidFill>
                  <a:srgbClr val="1F3A5F"/>
                </a:solidFill>
                <a:latin typeface="Calibri"/>
              </a:rPr>
              <a:t>How we tested</a:t>
            </a:r>
          </a:p>
        </p:txBody>
      </p:sp>
      <p:sp>
        <p:nvSpPr>
          <p:cNvPr id="45" name="Rounded Rectangle 44"/>
          <p:cNvSpPr/>
          <p:nvPr/>
        </p:nvSpPr>
        <p:spPr>
          <a:xfrm>
            <a:off x="6583680" y="4343400"/>
            <a:ext cx="1645920" cy="146304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0" y="4434840"/>
            <a:ext cx="1645920" cy="640080"/>
          </a:xfrm>
          <a:prstGeom prst="rect">
            <a:avLst/>
          </a:prstGeom>
          <a:noFill/>
        </p:spPr>
        <p:txBody>
          <a:bodyPr wrap="square" anchor="t">
            <a:spAutoFit/>
          </a:bodyPr>
          <a:lstStyle/>
          <a:p>
            <a:pPr algn="ctr">
              <a:spcAft>
                <a:spcPts val="600"/>
              </a:spcAft>
            </a:pPr>
            <a:r>
              <a:rPr sz="2400" b="1">
                <a:solidFill>
                  <a:srgbClr val="FFFFFF"/>
                </a:solidFill>
                <a:latin typeface="Calibri"/>
              </a:rPr>
              <a:t>73 / 75</a:t>
            </a:r>
          </a:p>
        </p:txBody>
      </p:sp>
      <p:sp>
        <p:nvSpPr>
          <p:cNvPr id="47" name="TextBox 46"/>
          <p:cNvSpPr txBox="1"/>
          <p:nvPr/>
        </p:nvSpPr>
        <p:spPr>
          <a:xfrm>
            <a:off x="6629400" y="5029200"/>
            <a:ext cx="1554480" cy="731520"/>
          </a:xfrm>
          <a:prstGeom prst="rect">
            <a:avLst/>
          </a:prstGeom>
          <a:noFill/>
        </p:spPr>
        <p:txBody>
          <a:bodyPr wrap="square" anchor="t">
            <a:spAutoFit/>
          </a:bodyPr>
          <a:lstStyle/>
          <a:p>
            <a:pPr algn="ctr">
              <a:spcAft>
                <a:spcPts val="600"/>
              </a:spcAft>
            </a:pPr>
            <a:r>
              <a:rPr sz="1200" b="0">
                <a:solidFill>
                  <a:srgbClr val="FFFFFF"/>
                </a:solidFill>
                <a:latin typeface="Calibri"/>
              </a:rPr>
              <a:t>test cases passed (97.3%)</a:t>
            </a:r>
          </a:p>
        </p:txBody>
      </p:sp>
      <p:sp>
        <p:nvSpPr>
          <p:cNvPr id="48" name="Rounded Rectangle 47"/>
          <p:cNvSpPr/>
          <p:nvPr/>
        </p:nvSpPr>
        <p:spPr>
          <a:xfrm>
            <a:off x="8366760" y="4343400"/>
            <a:ext cx="1645920" cy="146304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66760" y="4434840"/>
            <a:ext cx="1645920" cy="640080"/>
          </a:xfrm>
          <a:prstGeom prst="rect">
            <a:avLst/>
          </a:prstGeom>
          <a:noFill/>
        </p:spPr>
        <p:txBody>
          <a:bodyPr wrap="square" anchor="t">
            <a:spAutoFit/>
          </a:bodyPr>
          <a:lstStyle/>
          <a:p>
            <a:pPr algn="ctr">
              <a:spcAft>
                <a:spcPts val="600"/>
              </a:spcAft>
            </a:pPr>
            <a:r>
              <a:rPr sz="2400" b="1">
                <a:solidFill>
                  <a:srgbClr val="FFFFFF"/>
                </a:solidFill>
                <a:latin typeface="Calibri"/>
              </a:rPr>
              <a:t>~10 s</a:t>
            </a:r>
          </a:p>
        </p:txBody>
      </p:sp>
      <p:sp>
        <p:nvSpPr>
          <p:cNvPr id="50" name="TextBox 49"/>
          <p:cNvSpPr txBox="1"/>
          <p:nvPr/>
        </p:nvSpPr>
        <p:spPr>
          <a:xfrm>
            <a:off x="8412480" y="5029200"/>
            <a:ext cx="1554480" cy="731520"/>
          </a:xfrm>
          <a:prstGeom prst="rect">
            <a:avLst/>
          </a:prstGeom>
          <a:noFill/>
        </p:spPr>
        <p:txBody>
          <a:bodyPr wrap="square" anchor="t">
            <a:spAutoFit/>
          </a:bodyPr>
          <a:lstStyle/>
          <a:p>
            <a:pPr algn="ctr">
              <a:spcAft>
                <a:spcPts val="600"/>
              </a:spcAft>
            </a:pPr>
            <a:r>
              <a:rPr sz="1200" b="0">
                <a:solidFill>
                  <a:srgbClr val="FFFFFF"/>
                </a:solidFill>
                <a:latin typeface="Calibri"/>
              </a:rPr>
              <a:t>median answer time</a:t>
            </a:r>
          </a:p>
        </p:txBody>
      </p:sp>
      <p:sp>
        <p:nvSpPr>
          <p:cNvPr id="51" name="Rounded Rectangle 50"/>
          <p:cNvSpPr/>
          <p:nvPr/>
        </p:nvSpPr>
        <p:spPr>
          <a:xfrm>
            <a:off x="10149840" y="4343400"/>
            <a:ext cx="1645920" cy="146304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9840" y="4434840"/>
            <a:ext cx="1645920" cy="640080"/>
          </a:xfrm>
          <a:prstGeom prst="rect">
            <a:avLst/>
          </a:prstGeom>
          <a:noFill/>
        </p:spPr>
        <p:txBody>
          <a:bodyPr wrap="square" anchor="t">
            <a:spAutoFit/>
          </a:bodyPr>
          <a:lstStyle/>
          <a:p>
            <a:pPr algn="ctr">
              <a:spcAft>
                <a:spcPts val="600"/>
              </a:spcAft>
            </a:pPr>
            <a:r>
              <a:rPr sz="2400" b="1">
                <a:solidFill>
                  <a:srgbClr val="FFFFFF"/>
                </a:solidFill>
                <a:latin typeface="Calibri"/>
              </a:rPr>
              <a:t>&lt; $0.01</a:t>
            </a:r>
          </a:p>
        </p:txBody>
      </p:sp>
      <p:sp>
        <p:nvSpPr>
          <p:cNvPr id="53" name="TextBox 52"/>
          <p:cNvSpPr txBox="1"/>
          <p:nvPr/>
        </p:nvSpPr>
        <p:spPr>
          <a:xfrm>
            <a:off x="10195560" y="5029200"/>
            <a:ext cx="1554480" cy="731520"/>
          </a:xfrm>
          <a:prstGeom prst="rect">
            <a:avLst/>
          </a:prstGeom>
          <a:noFill/>
        </p:spPr>
        <p:txBody>
          <a:bodyPr wrap="square" anchor="t">
            <a:spAutoFit/>
          </a:bodyPr>
          <a:lstStyle/>
          <a:p>
            <a:pPr algn="ctr">
              <a:spcAft>
                <a:spcPts val="600"/>
              </a:spcAft>
            </a:pPr>
            <a:r>
              <a:rPr sz="1200" b="0">
                <a:solidFill>
                  <a:srgbClr val="FFFFFF"/>
                </a:solidFill>
                <a:latin typeface="Calibri"/>
              </a:rPr>
              <a:t>per question</a:t>
            </a:r>
          </a:p>
        </p:txBody>
      </p:sp>
      <p:sp>
        <p:nvSpPr>
          <p:cNvPr id="54" name="TextBox 53"/>
          <p:cNvSpPr txBox="1"/>
          <p:nvPr/>
        </p:nvSpPr>
        <p:spPr>
          <a:xfrm>
            <a:off x="6583680" y="5897880"/>
            <a:ext cx="5120640" cy="640080"/>
          </a:xfrm>
          <a:prstGeom prst="rect">
            <a:avLst/>
          </a:prstGeom>
          <a:noFill/>
        </p:spPr>
        <p:txBody>
          <a:bodyPr wrap="square" anchor="t">
            <a:spAutoFit/>
          </a:bodyPr>
          <a:lstStyle/>
          <a:p>
            <a:pPr algn="l">
              <a:spcAft>
                <a:spcPts val="600"/>
              </a:spcAft>
            </a:pPr>
            <a:r>
              <a:rPr sz="1200" b="0">
                <a:solidFill>
                  <a:srgbClr val="5B6775"/>
                </a:solidFill>
                <a:latin typeface="Calibri"/>
              </a:rPr>
              <a:t>The 2 misses were wording differences, not wrong figures. Every failure was fixed in the tool or code, not by loosening the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AI governance and guardrails: enforced in code, then tested</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Ankur  |  1:45</a:t>
            </a:r>
          </a:p>
        </p:txBody>
      </p:sp>
      <p:sp>
        <p:nvSpPr>
          <p:cNvPr id="5" name="Rectangle 4"/>
          <p:cNvSpPr/>
          <p:nvPr/>
        </p:nvSpPr>
        <p:spPr>
          <a:xfrm>
            <a:off x="365760" y="1097280"/>
            <a:ext cx="297180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115568"/>
            <a:ext cx="2834639" cy="365760"/>
          </a:xfrm>
          <a:prstGeom prst="rect">
            <a:avLst/>
          </a:prstGeom>
          <a:noFill/>
        </p:spPr>
        <p:txBody>
          <a:bodyPr wrap="square" anchor="ctr">
            <a:spAutoFit/>
          </a:bodyPr>
          <a:lstStyle/>
          <a:p>
            <a:pPr algn="l">
              <a:spcAft>
                <a:spcPts val="600"/>
              </a:spcAft>
            </a:pPr>
            <a:r>
              <a:rPr sz="1400" b="1">
                <a:solidFill>
                  <a:srgbClr val="FFFFFF"/>
                </a:solidFill>
                <a:latin typeface="Calibri"/>
              </a:rPr>
              <a:t>Governance rule</a:t>
            </a:r>
          </a:p>
        </p:txBody>
      </p:sp>
      <p:sp>
        <p:nvSpPr>
          <p:cNvPr id="7" name="Rectangle 6"/>
          <p:cNvSpPr/>
          <p:nvPr/>
        </p:nvSpPr>
        <p:spPr>
          <a:xfrm>
            <a:off x="3383279" y="1097280"/>
            <a:ext cx="489204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56432" y="1115568"/>
            <a:ext cx="4754880" cy="365760"/>
          </a:xfrm>
          <a:prstGeom prst="rect">
            <a:avLst/>
          </a:prstGeom>
          <a:noFill/>
        </p:spPr>
        <p:txBody>
          <a:bodyPr wrap="square" anchor="ctr">
            <a:spAutoFit/>
          </a:bodyPr>
          <a:lstStyle/>
          <a:p>
            <a:pPr algn="l">
              <a:spcAft>
                <a:spcPts val="600"/>
              </a:spcAft>
            </a:pPr>
            <a:r>
              <a:rPr sz="1400" b="1">
                <a:solidFill>
                  <a:srgbClr val="FFFFFF"/>
                </a:solidFill>
                <a:latin typeface="Calibri"/>
              </a:rPr>
              <a:t>How it is enforced</a:t>
            </a:r>
          </a:p>
        </p:txBody>
      </p:sp>
      <p:sp>
        <p:nvSpPr>
          <p:cNvPr id="9" name="Rectangle 8"/>
          <p:cNvSpPr/>
          <p:nvPr/>
        </p:nvSpPr>
        <p:spPr>
          <a:xfrm>
            <a:off x="8321040" y="1097280"/>
            <a:ext cx="333756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115568"/>
            <a:ext cx="3200400" cy="365760"/>
          </a:xfrm>
          <a:prstGeom prst="rect">
            <a:avLst/>
          </a:prstGeom>
          <a:noFill/>
        </p:spPr>
        <p:txBody>
          <a:bodyPr wrap="square" anchor="ctr">
            <a:spAutoFit/>
          </a:bodyPr>
          <a:lstStyle/>
          <a:p>
            <a:pPr algn="l">
              <a:spcAft>
                <a:spcPts val="600"/>
              </a:spcAft>
            </a:pPr>
            <a:r>
              <a:rPr sz="1400" b="1">
                <a:solidFill>
                  <a:srgbClr val="FFFFFF"/>
                </a:solidFill>
                <a:latin typeface="Calibri"/>
              </a:rPr>
              <a:t>Evidence</a:t>
            </a:r>
          </a:p>
        </p:txBody>
      </p:sp>
      <p:sp>
        <p:nvSpPr>
          <p:cNvPr id="11" name="Rectangle 10"/>
          <p:cNvSpPr/>
          <p:nvPr/>
        </p:nvSpPr>
        <p:spPr>
          <a:xfrm>
            <a:off x="365760" y="1554480"/>
            <a:ext cx="11338560" cy="56692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572768"/>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Every figure comes from data</a:t>
            </a:r>
          </a:p>
        </p:txBody>
      </p:sp>
      <p:sp>
        <p:nvSpPr>
          <p:cNvPr id="13" name="TextBox 12"/>
          <p:cNvSpPr txBox="1"/>
          <p:nvPr/>
        </p:nvSpPr>
        <p:spPr>
          <a:xfrm>
            <a:off x="3456432" y="1572768"/>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Answer checker compares figures, SKUs and scope with tool results; calculate tool for all sums</a:t>
            </a:r>
          </a:p>
        </p:txBody>
      </p:sp>
      <p:sp>
        <p:nvSpPr>
          <p:cNvPr id="14" name="TextBox 13"/>
          <p:cNvSpPr txBox="1"/>
          <p:nvPr/>
        </p:nvSpPr>
        <p:spPr>
          <a:xfrm>
            <a:off x="8394192" y="1572768"/>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Audit of 29 answers: 0 invented products or SKUs</a:t>
            </a:r>
          </a:p>
        </p:txBody>
      </p:sp>
      <p:sp>
        <p:nvSpPr>
          <p:cNvPr id="15" name="Rectangle 14"/>
          <p:cNvSpPr/>
          <p:nvPr/>
        </p:nvSpPr>
        <p:spPr>
          <a:xfrm>
            <a:off x="365760" y="2139696"/>
            <a:ext cx="11338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2157984"/>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Read-only, human approves</a:t>
            </a:r>
          </a:p>
        </p:txBody>
      </p:sp>
      <p:sp>
        <p:nvSpPr>
          <p:cNvPr id="17" name="TextBox 16"/>
          <p:cNvSpPr txBox="1"/>
          <p:nvPr/>
        </p:nvSpPr>
        <p:spPr>
          <a:xfrm>
            <a:off x="3456432" y="2157984"/>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Read-only DB transaction; no write tool; every recommendation is a draft</a:t>
            </a:r>
          </a:p>
        </p:txBody>
      </p:sp>
      <p:sp>
        <p:nvSpPr>
          <p:cNvPr id="18" name="TextBox 17"/>
          <p:cNvSpPr txBox="1"/>
          <p:nvPr/>
        </p:nvSpPr>
        <p:spPr>
          <a:xfrm>
            <a:off x="8394192" y="2157984"/>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Tests V3, O1, O8, T6: DELETE and order requests refused</a:t>
            </a:r>
          </a:p>
        </p:txBody>
      </p:sp>
      <p:sp>
        <p:nvSpPr>
          <p:cNvPr id="19" name="Rectangle 18"/>
          <p:cNvSpPr/>
          <p:nvPr/>
        </p:nvSpPr>
        <p:spPr>
          <a:xfrm>
            <a:off x="365760" y="2724912"/>
            <a:ext cx="11338560" cy="56692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2743200"/>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People see only their stores</a:t>
            </a:r>
          </a:p>
        </p:txBody>
      </p:sp>
      <p:sp>
        <p:nvSpPr>
          <p:cNvPr id="21" name="TextBox 20"/>
          <p:cNvSpPr txBox="1"/>
          <p:nvPr/>
        </p:nvSpPr>
        <p:spPr>
          <a:xfrm>
            <a:off x="3456432" y="2743200"/>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Row-Level Security, one identity per person; claiming more access changes nothing</a:t>
            </a:r>
          </a:p>
        </p:txBody>
      </p:sp>
      <p:sp>
        <p:nvSpPr>
          <p:cNvPr id="22" name="TextBox 21"/>
          <p:cNvSpPr txBox="1"/>
          <p:nvPr/>
        </p:nvSpPr>
        <p:spPr>
          <a:xfrm>
            <a:off x="8394192" y="2743200"/>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Cases A1 to A6, V1</a:t>
            </a:r>
          </a:p>
        </p:txBody>
      </p:sp>
      <p:sp>
        <p:nvSpPr>
          <p:cNvPr id="23" name="Rectangle 22"/>
          <p:cNvSpPr/>
          <p:nvPr/>
        </p:nvSpPr>
        <p:spPr>
          <a:xfrm>
            <a:off x="365760" y="3310128"/>
            <a:ext cx="11338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3328416"/>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No customer personal details</a:t>
            </a:r>
          </a:p>
        </p:txBody>
      </p:sp>
      <p:sp>
        <p:nvSpPr>
          <p:cNvPr id="25" name="TextBox 24"/>
          <p:cNvSpPr txBox="1"/>
          <p:nvPr/>
        </p:nvSpPr>
        <p:spPr>
          <a:xfrm>
            <a:off x="3456432" y="3328416"/>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Name, email, phone columns rejected and stripped from results</a:t>
            </a:r>
          </a:p>
        </p:txBody>
      </p:sp>
      <p:sp>
        <p:nvSpPr>
          <p:cNvPr id="26" name="TextBox 25"/>
          <p:cNvSpPr txBox="1"/>
          <p:nvPr/>
        </p:nvSpPr>
        <p:spPr>
          <a:xfrm>
            <a:off x="8394192" y="3328416"/>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Found in our own testing, fixed; case T8</a:t>
            </a:r>
          </a:p>
        </p:txBody>
      </p:sp>
      <p:sp>
        <p:nvSpPr>
          <p:cNvPr id="27" name="Rectangle 26"/>
          <p:cNvSpPr/>
          <p:nvPr/>
        </p:nvSpPr>
        <p:spPr>
          <a:xfrm>
            <a:off x="365760" y="3895344"/>
            <a:ext cx="11338560" cy="56692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913631"/>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No forecasts or invented money</a:t>
            </a:r>
          </a:p>
        </p:txBody>
      </p:sp>
      <p:sp>
        <p:nvSpPr>
          <p:cNvPr id="29" name="TextBox 28"/>
          <p:cNvSpPr txBox="1"/>
          <p:nvPr/>
        </p:nvSpPr>
        <p:spPr>
          <a:xfrm>
            <a:off x="3456432" y="3913631"/>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Tools state limits; cost shown as upper bound, not cash</a:t>
            </a:r>
          </a:p>
        </p:txBody>
      </p:sp>
      <p:sp>
        <p:nvSpPr>
          <p:cNvPr id="30" name="TextBox 29"/>
          <p:cNvSpPr txBox="1"/>
          <p:nvPr/>
        </p:nvSpPr>
        <p:spPr>
          <a:xfrm>
            <a:off x="8394192" y="3913631"/>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Cases L1, L2, T6, T7</a:t>
            </a:r>
          </a:p>
        </p:txBody>
      </p:sp>
      <p:sp>
        <p:nvSpPr>
          <p:cNvPr id="31" name="Rectangle 30"/>
          <p:cNvSpPr/>
          <p:nvPr/>
        </p:nvSpPr>
        <p:spPr>
          <a:xfrm>
            <a:off x="365760" y="4480559"/>
            <a:ext cx="11338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4498847"/>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Unsafe or unrelated requests</a:t>
            </a:r>
          </a:p>
        </p:txBody>
      </p:sp>
      <p:sp>
        <p:nvSpPr>
          <p:cNvPr id="33" name="TextBox 32"/>
          <p:cNvSpPr txBox="1"/>
          <p:nvPr/>
        </p:nvSpPr>
        <p:spPr>
          <a:xfrm>
            <a:off x="3456432" y="4498847"/>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Scope gate, Azure content filter, tool output treated as data not instructions</a:t>
            </a:r>
          </a:p>
        </p:txBody>
      </p:sp>
      <p:sp>
        <p:nvSpPr>
          <p:cNvPr id="34" name="TextBox 33"/>
          <p:cNvSpPr txBox="1"/>
          <p:nvPr/>
        </p:nvSpPr>
        <p:spPr>
          <a:xfrm>
            <a:off x="8394192" y="4498847"/>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Gate: 38 of 38 unrelated declined</a:t>
            </a:r>
          </a:p>
        </p:txBody>
      </p:sp>
      <p:sp>
        <p:nvSpPr>
          <p:cNvPr id="35" name="Rectangle 34"/>
          <p:cNvSpPr/>
          <p:nvPr/>
        </p:nvSpPr>
        <p:spPr>
          <a:xfrm>
            <a:off x="365760" y="5065775"/>
            <a:ext cx="11338560" cy="56692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8912" y="5084063"/>
            <a:ext cx="2834639" cy="548640"/>
          </a:xfrm>
          <a:prstGeom prst="rect">
            <a:avLst/>
          </a:prstGeom>
          <a:noFill/>
        </p:spPr>
        <p:txBody>
          <a:bodyPr wrap="square" anchor="ctr">
            <a:spAutoFit/>
          </a:bodyPr>
          <a:lstStyle/>
          <a:p>
            <a:pPr algn="l">
              <a:spcAft>
                <a:spcPts val="600"/>
              </a:spcAft>
            </a:pPr>
            <a:r>
              <a:rPr sz="1300" b="1">
                <a:solidFill>
                  <a:srgbClr val="1F3A5F"/>
                </a:solidFill>
                <a:latin typeface="Calibri"/>
              </a:rPr>
              <a:t>Transparent and auditable</a:t>
            </a:r>
          </a:p>
        </p:txBody>
      </p:sp>
      <p:sp>
        <p:nvSpPr>
          <p:cNvPr id="37" name="TextBox 36"/>
          <p:cNvSpPr txBox="1"/>
          <p:nvPr/>
        </p:nvSpPr>
        <p:spPr>
          <a:xfrm>
            <a:off x="3456432" y="5084063"/>
            <a:ext cx="4754880" cy="548640"/>
          </a:xfrm>
          <a:prstGeom prst="rect">
            <a:avLst/>
          </a:prstGeom>
          <a:noFill/>
        </p:spPr>
        <p:txBody>
          <a:bodyPr wrap="square" anchor="ctr">
            <a:spAutoFit/>
          </a:bodyPr>
          <a:lstStyle/>
          <a:p>
            <a:pPr algn="l">
              <a:spcAft>
                <a:spcPts val="600"/>
              </a:spcAft>
            </a:pPr>
            <a:r>
              <a:rPr sz="1200" b="0">
                <a:solidFill>
                  <a:srgbClr val="222B36"/>
                </a:solidFill>
                <a:latin typeface="Calibri"/>
              </a:rPr>
              <a:t>Scope line, exact dates, every turn logged with tool calls and checks</a:t>
            </a:r>
          </a:p>
        </p:txBody>
      </p:sp>
      <p:sp>
        <p:nvSpPr>
          <p:cNvPr id="38" name="TextBox 37"/>
          <p:cNvSpPr txBox="1"/>
          <p:nvPr/>
        </p:nvSpPr>
        <p:spPr>
          <a:xfrm>
            <a:off x="8394192" y="5084063"/>
            <a:ext cx="3200400" cy="548640"/>
          </a:xfrm>
          <a:prstGeom prst="rect">
            <a:avLst/>
          </a:prstGeom>
          <a:noFill/>
        </p:spPr>
        <p:txBody>
          <a:bodyPr wrap="square" anchor="ctr">
            <a:spAutoFit/>
          </a:bodyPr>
          <a:lstStyle/>
          <a:p>
            <a:pPr algn="l">
              <a:spcAft>
                <a:spcPts val="600"/>
              </a:spcAft>
            </a:pPr>
            <a:r>
              <a:rPr sz="1200" b="0">
                <a:solidFill>
                  <a:srgbClr val="222B36"/>
                </a:solidFill>
                <a:latin typeface="Calibri"/>
              </a:rPr>
              <a:t>Log reviewed in grounding audit</a:t>
            </a:r>
          </a:p>
        </p:txBody>
      </p:sp>
      <p:sp>
        <p:nvSpPr>
          <p:cNvPr id="39" name="Rounded Rectangle 38"/>
          <p:cNvSpPr/>
          <p:nvPr/>
        </p:nvSpPr>
        <p:spPr>
          <a:xfrm>
            <a:off x="365760" y="5760720"/>
            <a:ext cx="5577840" cy="914400"/>
          </a:xfrm>
          <a:prstGeom prst="roundRect">
            <a:avLst>
              <a:gd name="adj" fmla="val 8000"/>
            </a:avLst>
          </a:prstGeom>
          <a:solidFill>
            <a:srgbClr val="FFF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779008"/>
            <a:ext cx="5394960" cy="868680"/>
          </a:xfrm>
          <a:prstGeom prst="rect">
            <a:avLst/>
          </a:prstGeom>
          <a:noFill/>
        </p:spPr>
        <p:txBody>
          <a:bodyPr wrap="square" anchor="ctr">
            <a:spAutoFit/>
          </a:bodyPr>
          <a:lstStyle/>
          <a:p>
            <a:pPr algn="l">
              <a:spcAft>
                <a:spcPts val="600"/>
              </a:spcAft>
            </a:pPr>
            <a:r>
              <a:rPr sz="1300" b="0">
                <a:solidFill>
                  <a:srgbClr val="222B36"/>
                </a:solidFill>
                <a:latin typeface="Calibri"/>
              </a:rPr>
              <a:t>Honest limits: synthetic data; wording like 'highest' is not checked by code; not tested with real managers</a:t>
            </a:r>
          </a:p>
        </p:txBody>
      </p:sp>
      <p:sp>
        <p:nvSpPr>
          <p:cNvPr id="41" name="Rounded Rectangle 40"/>
          <p:cNvSpPr/>
          <p:nvPr/>
        </p:nvSpPr>
        <p:spPr>
          <a:xfrm>
            <a:off x="6126480" y="5760720"/>
            <a:ext cx="5577840" cy="914400"/>
          </a:xfrm>
          <a:prstGeom prst="roundRect">
            <a:avLst>
              <a:gd name="adj" fmla="val 8000"/>
            </a:avLst>
          </a:prstGeom>
          <a:solidFill>
            <a:srgbClr val="E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5779008"/>
            <a:ext cx="5394960" cy="868680"/>
          </a:xfrm>
          <a:prstGeom prst="rect">
            <a:avLst/>
          </a:prstGeom>
          <a:noFill/>
        </p:spPr>
        <p:txBody>
          <a:bodyPr wrap="square" anchor="ctr">
            <a:spAutoFit/>
          </a:bodyPr>
          <a:lstStyle/>
          <a:p>
            <a:pPr algn="l">
              <a:spcAft>
                <a:spcPts val="600"/>
              </a:spcAft>
            </a:pPr>
            <a:r>
              <a:rPr sz="1300" b="0">
                <a:solidFill>
                  <a:srgbClr val="222B36"/>
                </a:solidFill>
                <a:latin typeface="Calibri"/>
              </a:rPr>
              <a:t>Bias and ethics: ranking by units favours cheap fast sellers, so the metric is always stated; managers stay accountable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9418320" cy="640080"/>
          </a:xfrm>
          <a:prstGeom prst="rect">
            <a:avLst/>
          </a:prstGeom>
          <a:noFill/>
        </p:spPr>
        <p:txBody>
          <a:bodyPr wrap="square" anchor="ctr">
            <a:spAutoFit/>
          </a:bodyPr>
          <a:lstStyle/>
          <a:p>
            <a:pPr algn="l">
              <a:spcAft>
                <a:spcPts val="600"/>
              </a:spcAft>
            </a:pPr>
            <a:r>
              <a:rPr sz="3000" b="1">
                <a:solidFill>
                  <a:srgbClr val="FFFFFF"/>
                </a:solidFill>
                <a:latin typeface="Calibri"/>
              </a:rPr>
              <a:t>Live demo: three questions, three guardrails</a:t>
            </a:r>
          </a:p>
        </p:txBody>
      </p:sp>
      <p:sp>
        <p:nvSpPr>
          <p:cNvPr id="4" name="TextBox 3"/>
          <p:cNvSpPr txBox="1"/>
          <p:nvPr/>
        </p:nvSpPr>
        <p:spPr>
          <a:xfrm>
            <a:off x="9326880" y="155448"/>
            <a:ext cx="2560320" cy="640080"/>
          </a:xfrm>
          <a:prstGeom prst="rect">
            <a:avLst/>
          </a:prstGeom>
          <a:noFill/>
        </p:spPr>
        <p:txBody>
          <a:bodyPr wrap="square" anchor="ctr">
            <a:spAutoFit/>
          </a:bodyPr>
          <a:lstStyle/>
          <a:p>
            <a:pPr algn="r">
              <a:spcAft>
                <a:spcPts val="600"/>
              </a:spcAft>
            </a:pPr>
            <a:r>
              <a:rPr sz="1400" b="0">
                <a:solidFill>
                  <a:srgbClr val="FFFFFF"/>
                </a:solidFill>
                <a:latin typeface="Calibri"/>
              </a:rPr>
              <a:t>Ranjith  |  3:00</a:t>
            </a:r>
          </a:p>
        </p:txBody>
      </p:sp>
      <p:sp>
        <p:nvSpPr>
          <p:cNvPr id="5" name="Rounded Rectangle 4"/>
          <p:cNvSpPr/>
          <p:nvPr/>
        </p:nvSpPr>
        <p:spPr>
          <a:xfrm>
            <a:off x="457200" y="1188720"/>
            <a:ext cx="11247120" cy="1554480"/>
          </a:xfrm>
          <a:prstGeom prst="roundRect">
            <a:avLst>
              <a:gd name="adj" fmla="val 8000"/>
            </a:avLst>
          </a:prstGeom>
          <a:solidFill>
            <a:srgbClr val="F3F6FA"/>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164592" cy="15544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261872"/>
            <a:ext cx="2743200" cy="365760"/>
          </a:xfrm>
          <a:prstGeom prst="rect">
            <a:avLst/>
          </a:prstGeom>
          <a:noFill/>
        </p:spPr>
        <p:txBody>
          <a:bodyPr wrap="square" anchor="t">
            <a:spAutoFit/>
          </a:bodyPr>
          <a:lstStyle/>
          <a:p>
            <a:pPr algn="l">
              <a:spcAft>
                <a:spcPts val="600"/>
              </a:spcAft>
            </a:pPr>
            <a:r>
              <a:rPr sz="1400" b="1">
                <a:solidFill>
                  <a:srgbClr val="0F9D8A"/>
                </a:solidFill>
                <a:latin typeface="Calibri"/>
              </a:rPr>
              <a:t>0:00 to 1:15</a:t>
            </a:r>
          </a:p>
        </p:txBody>
      </p:sp>
      <p:sp>
        <p:nvSpPr>
          <p:cNvPr id="8" name="TextBox 7"/>
          <p:cNvSpPr txBox="1"/>
          <p:nvPr/>
        </p:nvSpPr>
        <p:spPr>
          <a:xfrm>
            <a:off x="777240" y="1600200"/>
            <a:ext cx="2743200" cy="365760"/>
          </a:xfrm>
          <a:prstGeom prst="rect">
            <a:avLst/>
          </a:prstGeom>
          <a:noFill/>
        </p:spPr>
        <p:txBody>
          <a:bodyPr wrap="square" anchor="t">
            <a:spAutoFit/>
          </a:bodyPr>
          <a:lstStyle/>
          <a:p>
            <a:pPr algn="l">
              <a:spcAft>
                <a:spcPts val="600"/>
              </a:spcAft>
            </a:pPr>
            <a:r>
              <a:rPr sz="1500" b="1">
                <a:solidFill>
                  <a:srgbClr val="1F3A5F"/>
                </a:solidFill>
                <a:latin typeface="Calibri"/>
              </a:rPr>
              <a:t>Super Manager</a:t>
            </a:r>
          </a:p>
        </p:txBody>
      </p:sp>
      <p:sp>
        <p:nvSpPr>
          <p:cNvPr id="9" name="TextBox 8"/>
          <p:cNvSpPr txBox="1"/>
          <p:nvPr/>
        </p:nvSpPr>
        <p:spPr>
          <a:xfrm>
            <a:off x="3657600" y="1280160"/>
            <a:ext cx="7863840" cy="548640"/>
          </a:xfrm>
          <a:prstGeom prst="rect">
            <a:avLst/>
          </a:prstGeom>
          <a:noFill/>
        </p:spPr>
        <p:txBody>
          <a:bodyPr wrap="square" anchor="t">
            <a:spAutoFit/>
          </a:bodyPr>
          <a:lstStyle/>
          <a:p>
            <a:pPr algn="l">
              <a:spcAft>
                <a:spcPts val="600"/>
              </a:spcAft>
            </a:pPr>
            <a:r>
              <a:rPr sz="1700" b="1">
                <a:solidFill>
                  <a:srgbClr val="222B36"/>
                </a:solidFill>
                <a:latin typeface="Calibri"/>
              </a:rPr>
              <a:t>Where is the most capital tied up in excess stock? Top 5.</a:t>
            </a:r>
          </a:p>
        </p:txBody>
      </p:sp>
      <p:sp>
        <p:nvSpPr>
          <p:cNvPr id="10" name="TextBox 9"/>
          <p:cNvSpPr txBox="1"/>
          <p:nvPr/>
        </p:nvSpPr>
        <p:spPr>
          <a:xfrm>
            <a:off x="3657600" y="1965960"/>
            <a:ext cx="7863840" cy="731520"/>
          </a:xfrm>
          <a:prstGeom prst="rect">
            <a:avLst/>
          </a:prstGeom>
          <a:noFill/>
        </p:spPr>
        <p:txBody>
          <a:bodyPr wrap="square" anchor="t">
            <a:spAutoFit/>
          </a:bodyPr>
          <a:lstStyle/>
          <a:p>
            <a:pPr algn="l">
              <a:spcAft>
                <a:spcPts val="600"/>
              </a:spcAft>
            </a:pPr>
            <a:r>
              <a:rPr sz="1400" b="0">
                <a:solidFill>
                  <a:srgbClr val="5B6775"/>
                </a:solidFill>
                <a:latin typeface="Calibri"/>
              </a:rPr>
              <a:t>Point at: Scope line (all 8 stores), value at cost as an upper bound, clearance guard per product</a:t>
            </a:r>
          </a:p>
        </p:txBody>
      </p:sp>
      <p:sp>
        <p:nvSpPr>
          <p:cNvPr id="11" name="Rounded Rectangle 10"/>
          <p:cNvSpPr/>
          <p:nvPr/>
        </p:nvSpPr>
        <p:spPr>
          <a:xfrm>
            <a:off x="457200" y="2880360"/>
            <a:ext cx="11247120" cy="1554480"/>
          </a:xfrm>
          <a:prstGeom prst="roundRect">
            <a:avLst>
              <a:gd name="adj" fmla="val 8000"/>
            </a:avLst>
          </a:prstGeom>
          <a:solidFill>
            <a:srgbClr val="F3F6FA"/>
          </a:solidFill>
          <a:ln w="19050">
            <a:solidFill>
              <a:srgbClr val="E0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880360"/>
            <a:ext cx="164592" cy="1554480"/>
          </a:xfrm>
          <a:prstGeom prst="rect">
            <a:avLst/>
          </a:prstGeom>
          <a:solidFill>
            <a:srgbClr val="E0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53512"/>
            <a:ext cx="2743200" cy="365760"/>
          </a:xfrm>
          <a:prstGeom prst="rect">
            <a:avLst/>
          </a:prstGeom>
          <a:noFill/>
        </p:spPr>
        <p:txBody>
          <a:bodyPr wrap="square" anchor="t">
            <a:spAutoFit/>
          </a:bodyPr>
          <a:lstStyle/>
          <a:p>
            <a:pPr algn="l">
              <a:spcAft>
                <a:spcPts val="600"/>
              </a:spcAft>
            </a:pPr>
            <a:r>
              <a:rPr sz="1400" b="1">
                <a:solidFill>
                  <a:srgbClr val="E09F00"/>
                </a:solidFill>
                <a:latin typeface="Calibri"/>
              </a:rPr>
              <a:t>1:15 to 2:15</a:t>
            </a:r>
          </a:p>
        </p:txBody>
      </p:sp>
      <p:sp>
        <p:nvSpPr>
          <p:cNvPr id="14" name="TextBox 13"/>
          <p:cNvSpPr txBox="1"/>
          <p:nvPr/>
        </p:nvSpPr>
        <p:spPr>
          <a:xfrm>
            <a:off x="777240" y="3291840"/>
            <a:ext cx="2743200" cy="365760"/>
          </a:xfrm>
          <a:prstGeom prst="rect">
            <a:avLst/>
          </a:prstGeom>
          <a:noFill/>
        </p:spPr>
        <p:txBody>
          <a:bodyPr wrap="square" anchor="t">
            <a:spAutoFit/>
          </a:bodyPr>
          <a:lstStyle/>
          <a:p>
            <a:pPr algn="l">
              <a:spcAft>
                <a:spcPts val="600"/>
              </a:spcAft>
            </a:pPr>
            <a:r>
              <a:rPr sz="1500" b="1">
                <a:solidFill>
                  <a:srgbClr val="1F3A5F"/>
                </a:solidFill>
                <a:latin typeface="Calibri"/>
              </a:rPr>
              <a:t>Store Manager (Kirkland)</a:t>
            </a:r>
          </a:p>
        </p:txBody>
      </p:sp>
      <p:sp>
        <p:nvSpPr>
          <p:cNvPr id="15" name="TextBox 14"/>
          <p:cNvSpPr txBox="1"/>
          <p:nvPr/>
        </p:nvSpPr>
        <p:spPr>
          <a:xfrm>
            <a:off x="3657600" y="2971800"/>
            <a:ext cx="7863840" cy="548640"/>
          </a:xfrm>
          <a:prstGeom prst="rect">
            <a:avLst/>
          </a:prstGeom>
          <a:noFill/>
        </p:spPr>
        <p:txBody>
          <a:bodyPr wrap="square" anchor="t">
            <a:spAutoFit/>
          </a:bodyPr>
          <a:lstStyle/>
          <a:p>
            <a:pPr algn="l">
              <a:spcAft>
                <a:spcPts val="600"/>
              </a:spcAft>
            </a:pPr>
            <a:r>
              <a:rPr sz="1700" b="1">
                <a:solidFill>
                  <a:srgbClr val="222B36"/>
                </a:solidFill>
                <a:latin typeface="Calibri"/>
              </a:rPr>
              <a:t>What is the total excess stock value for the whole network?</a:t>
            </a:r>
          </a:p>
        </p:txBody>
      </p:sp>
      <p:sp>
        <p:nvSpPr>
          <p:cNvPr id="16" name="TextBox 15"/>
          <p:cNvSpPr txBox="1"/>
          <p:nvPr/>
        </p:nvSpPr>
        <p:spPr>
          <a:xfrm>
            <a:off x="3657600" y="3657600"/>
            <a:ext cx="7863840" cy="731520"/>
          </a:xfrm>
          <a:prstGeom prst="rect">
            <a:avLst/>
          </a:prstGeom>
          <a:noFill/>
        </p:spPr>
        <p:txBody>
          <a:bodyPr wrap="square" anchor="t">
            <a:spAutoFit/>
          </a:bodyPr>
          <a:lstStyle/>
          <a:p>
            <a:pPr algn="l">
              <a:spcAft>
                <a:spcPts val="600"/>
              </a:spcAft>
            </a:pPr>
            <a:r>
              <a:rPr sz="1400" b="0">
                <a:solidFill>
                  <a:srgbClr val="5B6775"/>
                </a:solidFill>
                <a:latin typeface="Calibri"/>
              </a:rPr>
              <a:t>Point at: names Kirkland as scope, says it cannot give a network total. Same question, different person, different data</a:t>
            </a:r>
          </a:p>
        </p:txBody>
      </p:sp>
      <p:sp>
        <p:nvSpPr>
          <p:cNvPr id="17" name="Rounded Rectangle 16"/>
          <p:cNvSpPr/>
          <p:nvPr/>
        </p:nvSpPr>
        <p:spPr>
          <a:xfrm>
            <a:off x="457200" y="4572000"/>
            <a:ext cx="11247120" cy="1554480"/>
          </a:xfrm>
          <a:prstGeom prst="roundRect">
            <a:avLst>
              <a:gd name="adj" fmla="val 8000"/>
            </a:avLst>
          </a:prstGeom>
          <a:solidFill>
            <a:srgbClr val="F3F6FA"/>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572000"/>
            <a:ext cx="164592" cy="15544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645152"/>
            <a:ext cx="2743200" cy="365760"/>
          </a:xfrm>
          <a:prstGeom prst="rect">
            <a:avLst/>
          </a:prstGeom>
          <a:noFill/>
        </p:spPr>
        <p:txBody>
          <a:bodyPr wrap="square" anchor="t">
            <a:spAutoFit/>
          </a:bodyPr>
          <a:lstStyle/>
          <a:p>
            <a:pPr algn="l">
              <a:spcAft>
                <a:spcPts val="600"/>
              </a:spcAft>
            </a:pPr>
            <a:r>
              <a:rPr sz="1400" b="1">
                <a:solidFill>
                  <a:srgbClr val="C0392B"/>
                </a:solidFill>
                <a:latin typeface="Calibri"/>
              </a:rPr>
              <a:t>2:15 to 3:00</a:t>
            </a:r>
          </a:p>
        </p:txBody>
      </p:sp>
      <p:sp>
        <p:nvSpPr>
          <p:cNvPr id="20" name="TextBox 19"/>
          <p:cNvSpPr txBox="1"/>
          <p:nvPr/>
        </p:nvSpPr>
        <p:spPr>
          <a:xfrm>
            <a:off x="777240" y="4983480"/>
            <a:ext cx="2743200" cy="365760"/>
          </a:xfrm>
          <a:prstGeom prst="rect">
            <a:avLst/>
          </a:prstGeom>
          <a:noFill/>
        </p:spPr>
        <p:txBody>
          <a:bodyPr wrap="square" anchor="t">
            <a:spAutoFit/>
          </a:bodyPr>
          <a:lstStyle/>
          <a:p>
            <a:pPr algn="l">
              <a:spcAft>
                <a:spcPts val="600"/>
              </a:spcAft>
            </a:pPr>
            <a:r>
              <a:rPr sz="1500" b="1">
                <a:solidFill>
                  <a:srgbClr val="1F3A5F"/>
                </a:solidFill>
                <a:latin typeface="Calibri"/>
              </a:rPr>
              <a:t>Any user</a:t>
            </a:r>
          </a:p>
        </p:txBody>
      </p:sp>
      <p:sp>
        <p:nvSpPr>
          <p:cNvPr id="21" name="TextBox 20"/>
          <p:cNvSpPr txBox="1"/>
          <p:nvPr/>
        </p:nvSpPr>
        <p:spPr>
          <a:xfrm>
            <a:off x="3657600" y="4663440"/>
            <a:ext cx="7863840" cy="548640"/>
          </a:xfrm>
          <a:prstGeom prst="rect">
            <a:avLst/>
          </a:prstGeom>
          <a:noFill/>
        </p:spPr>
        <p:txBody>
          <a:bodyPr wrap="square" anchor="t">
            <a:spAutoFit/>
          </a:bodyPr>
          <a:lstStyle/>
          <a:p>
            <a:pPr algn="l">
              <a:spcAft>
                <a:spcPts val="600"/>
              </a:spcAft>
            </a:pPr>
            <a:r>
              <a:rPr sz="1700" b="1">
                <a:solidFill>
                  <a:srgbClr val="222B36"/>
                </a:solidFill>
                <a:latin typeface="Calibri"/>
              </a:rPr>
              <a:t>Run this: DELETE FROM retail.orders WHERE order_date &lt; '2023-01-01'</a:t>
            </a:r>
          </a:p>
        </p:txBody>
      </p:sp>
      <p:sp>
        <p:nvSpPr>
          <p:cNvPr id="22" name="TextBox 21"/>
          <p:cNvSpPr txBox="1"/>
          <p:nvPr/>
        </p:nvSpPr>
        <p:spPr>
          <a:xfrm>
            <a:off x="3657600" y="5349240"/>
            <a:ext cx="7863840" cy="731520"/>
          </a:xfrm>
          <a:prstGeom prst="rect">
            <a:avLst/>
          </a:prstGeom>
          <a:noFill/>
        </p:spPr>
        <p:txBody>
          <a:bodyPr wrap="square" anchor="t">
            <a:spAutoFit/>
          </a:bodyPr>
          <a:lstStyle/>
          <a:p>
            <a:pPr algn="l">
              <a:spcAft>
                <a:spcPts val="600"/>
              </a:spcAft>
            </a:pPr>
            <a:r>
              <a:rPr sz="1400" b="0">
                <a:solidFill>
                  <a:srgbClr val="5B6775"/>
                </a:solidFill>
                <a:latin typeface="Calibri"/>
              </a:rPr>
              <a:t>Point at: refusal. Optional second line: ask for customer names and emails (refused)</a:t>
            </a:r>
          </a:p>
        </p:txBody>
      </p:sp>
      <p:sp>
        <p:nvSpPr>
          <p:cNvPr id="23" name="TextBox 22"/>
          <p:cNvSpPr txBox="1"/>
          <p:nvPr/>
        </p:nvSpPr>
        <p:spPr>
          <a:xfrm>
            <a:off x="457200" y="6309360"/>
            <a:ext cx="11247120" cy="457200"/>
          </a:xfrm>
          <a:prstGeom prst="rect">
            <a:avLst/>
          </a:prstGeom>
          <a:noFill/>
        </p:spPr>
        <p:txBody>
          <a:bodyPr wrap="square" anchor="t">
            <a:spAutoFit/>
          </a:bodyPr>
          <a:lstStyle/>
          <a:p>
            <a:pPr algn="l">
              <a:spcAft>
                <a:spcPts val="600"/>
              </a:spcAft>
            </a:pPr>
            <a:r>
              <a:rPr sz="1300" b="0">
                <a:solidFill>
                  <a:srgbClr val="5B6775"/>
                </a:solidFill>
                <a:latin typeface="Calibri"/>
              </a:rPr>
              <a:t>Before starting: both browsers already signed in, one throwaway question asked, fallback video ready.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515600" cy="822960"/>
          </a:xfrm>
          <a:prstGeom prst="rect">
            <a:avLst/>
          </a:prstGeom>
          <a:noFill/>
        </p:spPr>
        <p:txBody>
          <a:bodyPr wrap="square" anchor="t">
            <a:spAutoFit/>
          </a:bodyPr>
          <a:lstStyle/>
          <a:p>
            <a:pPr algn="l">
              <a:spcAft>
                <a:spcPts val="600"/>
              </a:spcAft>
            </a:pPr>
            <a:r>
              <a:rPr sz="3800" b="1">
                <a:solidFill>
                  <a:srgbClr val="FFFFFF"/>
                </a:solidFill>
                <a:latin typeface="Calibri"/>
              </a:rPr>
              <a:t>What we delivered and what is next</a:t>
            </a:r>
          </a:p>
        </p:txBody>
      </p:sp>
      <p:sp>
        <p:nvSpPr>
          <p:cNvPr id="4" name="TextBox 3"/>
          <p:cNvSpPr txBox="1"/>
          <p:nvPr/>
        </p:nvSpPr>
        <p:spPr>
          <a:xfrm>
            <a:off x="731520" y="1828800"/>
            <a:ext cx="5120640" cy="457200"/>
          </a:xfrm>
          <a:prstGeom prst="rect">
            <a:avLst/>
          </a:prstGeom>
          <a:noFill/>
        </p:spPr>
        <p:txBody>
          <a:bodyPr wrap="square" anchor="t">
            <a:spAutoFit/>
          </a:bodyPr>
          <a:lstStyle/>
          <a:p>
            <a:pPr algn="l">
              <a:spcAft>
                <a:spcPts val="600"/>
              </a:spcAft>
            </a:pPr>
            <a:r>
              <a:rPr sz="2400" b="1">
                <a:solidFill>
                  <a:srgbClr val="7FE0D2"/>
                </a:solidFill>
                <a:latin typeface="Calibri"/>
              </a:rPr>
              <a:t>Delivered</a:t>
            </a:r>
          </a:p>
        </p:txBody>
      </p:sp>
      <p:sp>
        <p:nvSpPr>
          <p:cNvPr id="5" name="Oval 4"/>
          <p:cNvSpPr/>
          <p:nvPr/>
        </p:nvSpPr>
        <p:spPr>
          <a:xfrm>
            <a:off x="731520" y="253288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423160"/>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A working read-only agent with 17 tools</a:t>
            </a:r>
          </a:p>
        </p:txBody>
      </p:sp>
      <p:sp>
        <p:nvSpPr>
          <p:cNvPr id="7" name="Oval 6"/>
          <p:cNvSpPr/>
          <p:nvPr/>
        </p:nvSpPr>
        <p:spPr>
          <a:xfrm>
            <a:off x="731520" y="317296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063239"/>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73 of 75 tests passed, ~10 s, under $0.01 per answer</a:t>
            </a:r>
          </a:p>
        </p:txBody>
      </p:sp>
      <p:sp>
        <p:nvSpPr>
          <p:cNvPr id="9" name="Oval 8"/>
          <p:cNvSpPr/>
          <p:nvPr/>
        </p:nvSpPr>
        <p:spPr>
          <a:xfrm>
            <a:off x="731520" y="381304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703320"/>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Guardrails enforced in code and database</a:t>
            </a:r>
          </a:p>
        </p:txBody>
      </p:sp>
      <p:sp>
        <p:nvSpPr>
          <p:cNvPr id="11" name="TextBox 10"/>
          <p:cNvSpPr txBox="1"/>
          <p:nvPr/>
        </p:nvSpPr>
        <p:spPr>
          <a:xfrm>
            <a:off x="6400800" y="1828800"/>
            <a:ext cx="5120640" cy="457200"/>
          </a:xfrm>
          <a:prstGeom prst="rect">
            <a:avLst/>
          </a:prstGeom>
          <a:noFill/>
        </p:spPr>
        <p:txBody>
          <a:bodyPr wrap="square" anchor="t">
            <a:spAutoFit/>
          </a:bodyPr>
          <a:lstStyle/>
          <a:p>
            <a:pPr algn="l">
              <a:spcAft>
                <a:spcPts val="600"/>
              </a:spcAft>
            </a:pPr>
            <a:r>
              <a:rPr sz="2400" b="1">
                <a:solidFill>
                  <a:srgbClr val="F5C84A"/>
                </a:solidFill>
                <a:latin typeface="Calibri"/>
              </a:rPr>
              <a:t>Next</a:t>
            </a:r>
          </a:p>
        </p:txBody>
      </p:sp>
      <p:sp>
        <p:nvSpPr>
          <p:cNvPr id="12" name="Oval 11"/>
          <p:cNvSpPr/>
          <p:nvPr/>
        </p:nvSpPr>
        <p:spPr>
          <a:xfrm>
            <a:off x="6400800" y="253288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423160"/>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Deploy on Azure with Entra sign-in</a:t>
            </a:r>
          </a:p>
        </p:txBody>
      </p:sp>
      <p:sp>
        <p:nvSpPr>
          <p:cNvPr id="14" name="Oval 13"/>
          <p:cNvSpPr/>
          <p:nvPr/>
        </p:nvSpPr>
        <p:spPr>
          <a:xfrm>
            <a:off x="6400800" y="317296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3063239"/>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Test with real managers and measure time saved</a:t>
            </a:r>
          </a:p>
        </p:txBody>
      </p:sp>
      <p:sp>
        <p:nvSpPr>
          <p:cNvPr id="16" name="Oval 15"/>
          <p:cNvSpPr/>
          <p:nvPr/>
        </p:nvSpPr>
        <p:spPr>
          <a:xfrm>
            <a:off x="6400800" y="3813048"/>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3703320"/>
            <a:ext cx="4983480" cy="640080"/>
          </a:xfrm>
          <a:prstGeom prst="rect">
            <a:avLst/>
          </a:prstGeom>
          <a:noFill/>
        </p:spPr>
        <p:txBody>
          <a:bodyPr wrap="square" anchor="t">
            <a:spAutoFit/>
          </a:bodyPr>
          <a:lstStyle/>
          <a:p>
            <a:pPr algn="l">
              <a:spcAft>
                <a:spcPts val="600"/>
              </a:spcAft>
            </a:pPr>
            <a:r>
              <a:rPr sz="1800" b="0">
                <a:solidFill>
                  <a:srgbClr val="FFFFFF"/>
                </a:solidFill>
                <a:latin typeface="Calibri"/>
              </a:rPr>
              <a:t>Forecasting once lead times and costs exist</a:t>
            </a:r>
          </a:p>
        </p:txBody>
      </p:sp>
      <p:sp>
        <p:nvSpPr>
          <p:cNvPr id="18" name="TextBox 17"/>
          <p:cNvSpPr txBox="1"/>
          <p:nvPr/>
        </p:nvSpPr>
        <p:spPr>
          <a:xfrm>
            <a:off x="731520" y="5669280"/>
            <a:ext cx="10515600" cy="548640"/>
          </a:xfrm>
          <a:prstGeom prst="rect">
            <a:avLst/>
          </a:prstGeom>
          <a:noFill/>
        </p:spPr>
        <p:txBody>
          <a:bodyPr wrap="square" anchor="t">
            <a:spAutoFit/>
          </a:bodyPr>
          <a:lstStyle/>
          <a:p>
            <a:pPr algn="l">
              <a:spcAft>
                <a:spcPts val="600"/>
              </a:spcAft>
            </a:pPr>
            <a:r>
              <a:rPr sz="2800" b="1">
                <a:solidFill>
                  <a:srgbClr val="FFFFFF"/>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