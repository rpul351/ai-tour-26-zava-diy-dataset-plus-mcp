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1.jpg" ContentType="image/jpg"/>
  <Override PartName="/ppt/media/image7.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77" r:id="rId5"/>
    <p:sldId id="268" r:id="rId6"/>
    <p:sldId id="276" r:id="rId7"/>
    <p:sldId id="260" r:id="rId8"/>
    <p:sldId id="262" r:id="rId9"/>
    <p:sldId id="263" r:id="rId10"/>
    <p:sldId id="265" r:id="rId11"/>
    <p:sldId id="266" r:id="rId12"/>
    <p:sldId id="267" r:id="rId13"/>
    <p:sldId id="278" r:id="rId14"/>
    <p:sldId id="279" r:id="rId15"/>
    <p:sldId id="269" r:id="rId16"/>
    <p:sldId id="270" r:id="rId17"/>
    <p:sldId id="271"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18" d="100"/>
          <a:sy n="118" d="100"/>
        </p:scale>
        <p:origin x="276" y="-2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1F3864"/>
                </a:solidFill>
                <a:latin typeface="Arial"/>
              </a:defRPr>
            </a:pPr>
            <a:r>
              <a:rPr lang="en-US" sz="1400" b="0" i="0" u="none" strike="noStrike">
                <a:solidFill>
                  <a:srgbClr val="1F3864"/>
                </a:solidFill>
                <a:latin typeface="Arial"/>
              </a:rPr>
              <a:t>Stock on hand vs. a year of sales</a:t>
            </a:r>
          </a:p>
        </c:rich>
      </c:tx>
      <c:overlay val="0"/>
    </c:title>
    <c:autoTitleDeleted val="0"/>
    <c:plotArea>
      <c:layout/>
      <c:barChart>
        <c:barDir val="bar"/>
        <c:grouping val="clustered"/>
        <c:varyColors val="0"/>
        <c:ser>
          <c:idx val="0"/>
          <c:order val="0"/>
          <c:tx>
            <c:strRef>
              <c:f>Sheet1!$B$1</c:f>
              <c:strCache>
                <c:ptCount val="1"/>
                <c:pt idx="0">
                  <c:v>Units</c:v>
                </c:pt>
              </c:strCache>
            </c:strRef>
          </c:tx>
          <c:spPr>
            <a:solidFill>
              <a:srgbClr val="1F3864"/>
            </a:solidFill>
            <a:effectLst/>
          </c:spPr>
          <c:invertIfNegative val="0"/>
          <c:dPt>
            <c:idx val="0"/>
            <c:invertIfNegative val="0"/>
            <c:bubble3D val="0"/>
            <c:extLst>
              <c:ext xmlns:c16="http://schemas.microsoft.com/office/drawing/2014/chart" uri="{C3380CC4-5D6E-409C-BE32-E72D297353CC}">
                <c16:uniqueId val="{00000001-42EB-4FDB-B4AB-1CF792272E1C}"/>
              </c:ext>
            </c:extLst>
          </c:dPt>
          <c:dPt>
            <c:idx val="1"/>
            <c:invertIfNegative val="0"/>
            <c:bubble3D val="0"/>
            <c:spPr>
              <a:solidFill>
                <a:srgbClr val="F2A900"/>
              </a:solidFill>
              <a:effectLst/>
            </c:spPr>
            <c:extLst>
              <c:ext xmlns:c16="http://schemas.microsoft.com/office/drawing/2014/chart" uri="{C3380CC4-5D6E-409C-BE32-E72D297353CC}">
                <c16:uniqueId val="{00000003-42EB-4FDB-B4AB-1CF792272E1C}"/>
              </c:ext>
            </c:extLst>
          </c:dPt>
          <c:dLbls>
            <c:numFmt formatCode="#,##0" sourceLinked="0"/>
            <c:spPr>
              <a:noFill/>
              <a:ln>
                <a:noFill/>
              </a:ln>
              <a:effectLst/>
            </c:spPr>
            <c:txPr>
              <a:bodyPr/>
              <a:lstStyle/>
              <a:p>
                <a:pPr>
                  <a:defRPr sz="1200" b="0" i="0" u="none" strike="noStrike">
                    <a:solidFill>
                      <a:srgbClr val="222B3A"/>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Units in stock</c:v>
                </c:pt>
                <c:pt idx="1">
                  <c:v>Units sold, last 12 months</c:v>
                </c:pt>
              </c:strCache>
            </c:strRef>
          </c:cat>
          <c:val>
            <c:numRef>
              <c:f>Sheet1!$B$2:$B$3</c:f>
              <c:numCache>
                <c:formatCode>General</c:formatCode>
                <c:ptCount val="2"/>
                <c:pt idx="0">
                  <c:v>3997159</c:v>
                </c:pt>
                <c:pt idx="1">
                  <c:v>116600</c:v>
                </c:pt>
              </c:numCache>
            </c:numRef>
          </c:val>
          <c:extLst>
            <c:ext xmlns:c16="http://schemas.microsoft.com/office/drawing/2014/chart" uri="{C3380CC4-5D6E-409C-BE32-E72D297353CC}">
              <c16:uniqueId val="{00000004-42EB-4FDB-B4AB-1CF792272E1C}"/>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B3A"/>
                </a:solidFill>
                <a:latin typeface="Arial"/>
              </a:defRPr>
            </a:pPr>
            <a:endParaRPr lang="en-US"/>
          </a:p>
        </c:txPr>
        <c:crossAx val="2094734552"/>
        <c:crosses val="autoZero"/>
        <c:auto val="1"/>
        <c:lblAlgn val="ctr"/>
        <c:lblOffset val="100"/>
        <c:noMultiLvlLbl val="1"/>
      </c:catAx>
      <c:valAx>
        <c:axId val="2094734552"/>
        <c:scaling>
          <c:orientation val="minMax"/>
          <c:max val="48000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Result</c:v>
                </c:pt>
              </c:strCache>
            </c:strRef>
          </c:tx>
          <c:spPr>
            <a:solidFill>
              <a:schemeClr val="accent1"/>
            </a:solidFill>
            <a:ln w="9525" cap="flat">
              <a:solidFill>
                <a:srgbClr val="F9F9F9"/>
              </a:solidFill>
              <a:prstDash val="solid"/>
              <a:round/>
            </a:ln>
            <a:effectLst/>
          </c:spPr>
          <c:dPt>
            <c:idx val="0"/>
            <c:bubble3D val="0"/>
            <c:spPr>
              <a:solidFill>
                <a:srgbClr val="1F3864"/>
              </a:solidFill>
              <a:effectLst/>
            </c:spPr>
            <c:extLst>
              <c:ext xmlns:c16="http://schemas.microsoft.com/office/drawing/2014/chart" uri="{C3380CC4-5D6E-409C-BE32-E72D297353CC}">
                <c16:uniqueId val="{00000001-C688-4095-BEF8-5DD9829A8ABA}"/>
              </c:ext>
            </c:extLst>
          </c:dPt>
          <c:dPt>
            <c:idx val="1"/>
            <c:bubble3D val="0"/>
            <c:spPr>
              <a:solidFill>
                <a:srgbClr val="F2A900"/>
              </a:solidFill>
              <a:effectLst/>
            </c:spPr>
            <c:extLst>
              <c:ext xmlns:c16="http://schemas.microsoft.com/office/drawing/2014/chart" uri="{C3380CC4-5D6E-409C-BE32-E72D297353CC}">
                <c16:uniqueId val="{00000003-C688-4095-BEF8-5DD9829A8ABA}"/>
              </c:ext>
            </c:extLst>
          </c:dPt>
          <c:cat>
            <c:strRef>
              <c:f>Sheet1!$A$2:$A$3</c:f>
              <c:strCache>
                <c:ptCount val="2"/>
                <c:pt idx="0">
                  <c:v>Passed</c:v>
                </c:pt>
                <c:pt idx="1">
                  <c:v>Missed (wording)</c:v>
                </c:pt>
              </c:strCache>
            </c:strRef>
          </c:cat>
          <c:val>
            <c:numRef>
              <c:f>Sheet1!$B$2:$B$3</c:f>
              <c:numCache>
                <c:formatCode>General</c:formatCode>
                <c:ptCount val="2"/>
                <c:pt idx="0">
                  <c:v>73</c:v>
                </c:pt>
                <c:pt idx="1">
                  <c:v>2</c:v>
                </c:pt>
              </c:numCache>
            </c:numRef>
          </c:val>
          <c:extLst>
            <c:ext xmlns:c16="http://schemas.microsoft.com/office/drawing/2014/chart" uri="{C3380CC4-5D6E-409C-BE32-E72D297353CC}">
              <c16:uniqueId val="{00000004-C688-4095-BEF8-5DD9829A8ABA}"/>
            </c:ext>
          </c:extLst>
        </c:ser>
        <c:dLbls>
          <c:showLegendKey val="0"/>
          <c:showVal val="0"/>
          <c:showCatName val="0"/>
          <c:showSerName val="0"/>
          <c:showPercent val="0"/>
          <c:showBubbleSize val="0"/>
          <c:showLeaderLines val="0"/>
        </c:dLbls>
        <c:firstSliceAng val="0"/>
        <c:holeSize val="68"/>
      </c:doughnutChart>
      <c:spPr>
        <a:noFill/>
        <a:ln>
          <a:noFill/>
        </a:ln>
        <a:effectLst/>
      </c:spPr>
    </c:plotArea>
    <c:legend>
      <c:legendPos val="b"/>
      <c:overlay val="0"/>
      <c:txPr>
        <a:bodyPr/>
        <a:lstStyle/>
        <a:p>
          <a:pPr>
            <a:defRPr sz="1200">
              <a:solidFill>
                <a:srgbClr val="222B3A"/>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B8B490CC-3775-4794-8843-0BFD45045495}" type="datetimeFigureOut">
              <a:t>10/28/2026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6D99D37-FF0F-45D8-96B7-57294A6E9039}" type="slidenum">
              <a:t>‹#›</a:t>
            </a:fld>
            <a:endParaRPr lang="en-US"/>
          </a:p>
        </p:txBody>
      </p:sp>
    </p:spTree>
    <p:extLst>
      <p:ext uri="{BB962C8B-B14F-4D97-AF65-F5344CB8AC3E}">
        <p14:creationId xmlns:p14="http://schemas.microsoft.com/office/powerpoint/2010/main" val="2991845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Welcome everyone. We are Team BlueBird and we chose the Inventory Optimisation Agent use case for Zava DIY. Our proof of concept is the Zava Inventory Advisor: a chat-based, read-only agent that answers inventory questions from the Zava database, checks every figure before the user sees it, and presents every recommendation as a draft for a person to approve. Each of us will present the part we owned.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Quick running order. I cover the problem and how we measured success. Ruthvik shows the evidence in the data and what our testing taught us about our assumptions. Navneet explains why we chose an agent and walks through the architecture. Ranjith shows how a question is answered end to end and our evaluation results. Ankur closes with governance, risks and responsible use. I will finish with next steps and questions.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Zava DIY runs multiple stores. Demand, seasonal trends and availability differ by store, so some stores sit on excess stock while others could run short. Our users are the Super Manager, who sees all eight stores, and Store Managers, who see only their own. The decision they make is what to stop buying, move or clear first. Getting it wrong costs sales, storage and transport, and can leave seasonal stock unsold. For example, if Seattle runs out of a popular product while Everett has excess, Zava loses sales despite having enough stock overall.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D5C7C-87EF-0D07-B831-2742DE7073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1430AE-4431-02F6-2041-B9EB2655BC38}"/>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8251B0EE-9DC4-3A49-5502-96C53153C705}"/>
              </a:ext>
            </a:extLst>
          </p:cNvPr>
          <p:cNvSpPr>
            <a:spLocks noGrp="1"/>
          </p:cNvSpPr>
          <p:nvPr>
            <p:ph type="body" idx="1"/>
          </p:nvPr>
        </p:nvSpPr>
        <p:spPr/>
        <p:txBody>
          <a:bodyPr/>
          <a:lstStyle/>
          <a:p>
            <a:r>
              <a:rPr lang="en-US" dirty="0"/>
              <a:t>PRESENTER: Sateesh (Project Lead)
We set six success criteria at the start. Four are met. The headline is 73 of 75 test cases passed, 97.3% against a 90% target; the two misses were wording differences, not wrong figures. The excess-stock ranking matches independent SQL. The transfer tool works, but no store is short in this data, so the agent honestly says no transfer is needed. Two are open: we did not run a timing study with real users to prove the 50% effort reduction, and the final demo and presentation are in progress. A typical answer takes about 10.5 seconds and costs about US$0.007.</a:t>
            </a:r>
          </a:p>
        </p:txBody>
      </p:sp>
      <p:sp>
        <p:nvSpPr>
          <p:cNvPr id="4" name="Slide Number Placeholder 3">
            <a:extLst>
              <a:ext uri="{FF2B5EF4-FFF2-40B4-BE49-F238E27FC236}">
                <a16:creationId xmlns:a16="http://schemas.microsoft.com/office/drawing/2014/main" id="{49E43566-DA68-170D-33E7-D9CE4486BC76}"/>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5392076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Ranjith (Implementation Lead)
Weeks 6 to 8 were planning: use case and plan, data exploration and success criteria, then architecture and governance practices. Build started in week 10 with a working agent and per-person row-level security. Week 11 added charts and exports, grounded product lookup, role sign-in, saved chats and the scope gate. Week 12 was the team prompt review, privacy and read-only guards and the 75-case evaluation. The report and this presentation are the final step. I will hand over to Ankur for governance.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Ruthvik (Data &amp; Problem Analyst)
We first confirmed the problem is real in the data. Zava holds 3,997,159 units, worth $193,657,843.57 at cost, against roughly 116,600 units sold in the last 12 months. Stock above six months of cover is worth $190,839,018.92 at cost, and 99% of product-store records hold more than five years of stock. The largest single excess is the Sliding Miter Saw 12-inch, at $4,431,750.00. Two more findings shaped the agent: seasonal peaks are reliable, for example Garden &amp; Outdoor peaks every April from 2020 to 2026, and no store is short today, with the lowest stock cover about 375 days. The dataset is synthetic, so these sizes show the shape of the problem, not a real financial loss. Source: data/database/all_7_analysis_db.ipynb, questions 5 and 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Navneet (Solution Architect)
A SQL query can list stores with excess stock, but it cannot decide what to look at next or judge whether the evidence supports an action, and the user needs technical skills to write it. The agent goes beyond reporting: it chooses its tools and their order, checks the category seasonal peak before recommending a clearance, reads the results and drafts a recommendation with the figures behind it. A concrete example: the largest excess is in power tools, but the Electrical peak is two months away, so the agent says do not clear. And where no store is short, it says so instead of inventing a transfer.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Navneet (Solution Architect)
This is the implemented design. A manager signs in on the chat page. The web app on port 8005 checks the sign-in, saves the chat for that person and passes the question to the agent service on port 8006. The service looks up which stores the person may see and runs the question as that person. A scope gate declines unrelated questions; gpt-5-mini then picks tools for up to ten rounds. Tools sit on three MCP servers that query PostgreSQL with the person's identity, so row-level security decides which stores are visible. Before an answer is shown, code checks every figure, product code, scope claim and calculation; a failing draft is rewritten up to twice. The seven numbered controls along the bottom are what Ankur will cover in governance.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Navneet (Solution Architect)
On the left is the stack. PostgreSQL with pgvector holds the data and enforces row-level security. Azure OpenAI gpt-5-mini chooses tools and writes answers, and text-embedding-3-small powers search by meaning. Three MCP servers built with the Python SDK expose 17 tested SQL tools. FastAPI runs the agent service and the web app. Azure Identity means no key is stored in code. On the right are the decisions that matter most: one agent, rules in code, access control in the database, arithmetic in a tool, MCP for data access, store names not ids, read-only by design, and a small fast model. Over to Ranjith for how it runs.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Ranjith (Implementation Lead)
Here is the journey of one question, top row left to right, then bottom row right to left. One: the manager signs in by role. Two: the service maps the person to their stores and runs as that person, so row-level security applies. Three: a scope gate declines unrelated questions before any tool runs; we checked it on 38 unrelated messages. Four: gpt-5-mini calls tools for up to ten rounds; SQL is read-only and personal-detail columns are refused. Five: the draft starts with a Scope line naming the stores, metric and dates. Six, the key step: code verifies every figure, product code, scope claim and calculation, with up to two rewrites, otherwise a visible verification note. Seven: the answer streams back as text, tables, charts or downloads, as a draft. Eight: the turn is logged for audit.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Ranjith (Implementation Lead)
We built 75 evaluation cases and rerun them after every change. 73 passed, 97.3%; the two misses were wording in answers about the agent itself. A grounding audit of 29 answers found zero invented product names, zero invented SKUs and zero unsupported large figures. Median response is about 10.5 seconds at about US$0.007 per question. Testing also caught a real defect on 25 October: the agent would return customers' names, emails and phone numbers when asked. We fixed it in three places, refusing the request, rejecting queries that name those columns and stripping them from results, and added case T8 so it stays fixed.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F3F26E-9F83-CA4A-2169-BE705F6F95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26765-F472-63CE-C499-3D76CE77F50E}"/>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1E2BDAEA-4E0D-86D3-49CA-F441ABB9E173}"/>
              </a:ext>
            </a:extLst>
          </p:cNvPr>
          <p:cNvSpPr>
            <a:spLocks noGrp="1"/>
          </p:cNvSpPr>
          <p:nvPr>
            <p:ph type="body" idx="1"/>
          </p:nvPr>
        </p:nvSpPr>
        <p:spPr/>
        <p:txBody>
          <a:bodyPr/>
          <a:lstStyle/>
          <a:p>
            <a:r>
              <a:t>PRESENTER: Ranjith (Implementation Lead)</a:t>
            </a:r>
          </a:p>
          <a:p/>
          <a:p>
            <a:r>
              <a:t>This is the finished portal signed in as a Super Manager. The badge shows all 8 stores in scope, and the answer arrives as text and a table with a Scope line naming stores, metric and dates. The eight stores add up to 3,997,159 units on hand. Saved chats are private to each person, and the role comes from the access list at sign-in, not from anything the user types.</a:t>
            </a:r>
          </a:p>
        </p:txBody>
      </p:sp>
      <p:sp>
        <p:nvSpPr>
          <p:cNvPr id="4" name="Slide Number Placeholder 3">
            <a:extLst>
              <a:ext uri="{FF2B5EF4-FFF2-40B4-BE49-F238E27FC236}">
                <a16:creationId xmlns:a16="http://schemas.microsoft.com/office/drawing/2014/main" id="{B84359E6-763F-5D0C-4194-908F15920F1B}"/>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41250273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6EE4D-B667-312C-1A90-BA13E50833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24EA02-F04E-173B-6C26-49E94255E0DF}"/>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59A65805-AEFB-CE1D-CEE5-C87E688F425C}"/>
              </a:ext>
            </a:extLst>
          </p:cNvPr>
          <p:cNvSpPr>
            <a:spLocks noGrp="1"/>
          </p:cNvSpPr>
          <p:nvPr>
            <p:ph type="body" idx="1"/>
          </p:nvPr>
        </p:nvSpPr>
        <p:spPr/>
        <p:txBody>
          <a:bodyPr/>
          <a:lstStyle/>
          <a:p>
            <a:r>
              <a:t>PRESENTER: Ranjith (Implementation Lead)</a:t>
            </a:r>
          </a:p>
          <a:p/>
          <a:p>
            <a:r>
              <a:t>Same portal, signed in as a Store Manager for Kirkland. The store is fixed by the sign-in, and row-level security in the database means other stores' rows are never returned, even if the user asks. Kirkland holds 119,941 units, compared with 3,997,159 across the network for the Super Manager. The four starter questions map to our use cases: excess stock, best sellers, capital tied up and seasonal pattern. The footer reminds users to check important decisions.</a:t>
            </a:r>
          </a:p>
        </p:txBody>
      </p:sp>
      <p:sp>
        <p:nvSpPr>
          <p:cNvPr id="4" name="Slide Number Placeholder 3">
            <a:extLst>
              <a:ext uri="{FF2B5EF4-FFF2-40B4-BE49-F238E27FC236}">
                <a16:creationId xmlns:a16="http://schemas.microsoft.com/office/drawing/2014/main" id="{2C3A47AB-4C6A-8B07-079D-7B03E9365ED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5854950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Ankur (AI Governance Lead)
Our governance principle is defence in depth: no single control is relied on. Identity and row-level security decide who sees what. The scope gate decides what is asked. The read-only transaction decides what can change. The answer verifier decides what is claimed. The privacy guard keeps customer personal details out. The audit log records what happened, and the Azure content filter covers what is generated. Above all of these, a person approves every action; the agent only drafts. Each control has its own test evidence, shown on each card.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Ankur (AI Governance Lead)
These are the seven main risks. The four high-impact risks are hallucination, seeing the wrong stores, prompt injection or write requests, and exposing customer personal details. Each is mitigated in code or the database, and each has test cases. The two high-likelihood risks are that synthetic data misleads, which we handle by stating limits every time, and inconsistent answers, found by a tester on 25 October, which we handle with fixed procedures in tools and a repeat-run check. Model latency and cost are medium and managed with timeouts, retries and a planned fallback demo video.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Ankur (AI Governance Lead)
On privacy: the data is synthetic, store access is enforced in the database, and after the defect we found on 25 October customer personal details are never returned. Saved chats belong to the signed-in person only. We are open about limitations: synthetic data shows the method, not real savings; some wording like highest or fell is not checked by code; the model occasionally adds general-knowledge remarks; and we have not yet tested with real managers. On bias: rankings default to units sold, which favours cheap fast-moving items, so the metric is always stated; we never profile individual customers; seasons are northern hemisphere; and managers remain accountable for every decision.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To wrap up: the proof of concept delivers a working, read-only advisor with verified answers, seasonal awareness, role-based access and a strong evaluation. The path to production is clear: forecasting once lead times and safety stock exist, executing actions through an approval workflow, hosting in Azure AI Foundry with Entra sign-in, scheduled alerts, integration with ERP, POS and supplier systems, cost modelling, and a timing study with real managers to prove the 50% effort target.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r>
              <a:rPr lang="en-US" dirty="0"/>
              <a:t>PRESENTER: Sateesh (Project Lead), whole team for Q&amp;A
Three takeaways: the agent is verified, because every figure is checked in code; it is safe, because it is read-only, role-based, privacy-guarded and human-approved; and it is proven, with 73 of 75 cases passing. Thank you. We are happy to take questions or run the live demo (guide in docs/demo.md).
Suggested Q&amp;A owners: data questions to Ruthvik; architecture to Navneet; code and evaluation to Ranjith; privacy and risk to Ankur; scope and plan to Sateesh.
[Sources] Visual on this slide was generated with Microsoft Copilot.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82778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7.jp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chart" Target="../charts/chart1.xml"/><Relationship Id="rId5" Type="http://schemas.openxmlformats.org/officeDocument/2006/relationships/image" Target="../media/image14.png"/><Relationship Id="rId6"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16.png"/><Relationship Id="rId5" Type="http://schemas.openxmlformats.org/officeDocument/2006/relationships/image" Target="../media/image20.png"/><Relationship Id="rId6" Type="http://schemas.openxmlformats.org/officeDocument/2006/relationships/image" Target="../media/image21.png"/><Relationship Id="rId7" Type="http://schemas.openxmlformats.org/officeDocument/2006/relationships/image" Target="../media/image22.png"/><Relationship Id="rId8" Type="http://schemas.openxmlformats.org/officeDocument/2006/relationships/image" Target="../media/image23.png"/><Relationship Id="rId9" Type="http://schemas.openxmlformats.org/officeDocument/2006/relationships/image" Target="../media/image15.png"/><Relationship Id="rId10"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15.png"/><Relationship Id="rId10" Type="http://schemas.openxmlformats.org/officeDocument/2006/relationships/image" Target="../media/image30.png"/><Relationship Id="rId11" Type="http://schemas.openxmlformats.org/officeDocument/2006/relationships/image" Target="../media/image3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6.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15.png"/><Relationship Id="rId8" Type="http://schemas.openxmlformats.org/officeDocument/2006/relationships/image" Target="../media/image36.png"/><Relationship Id="rId9" Type="http://schemas.openxmlformats.org/officeDocument/2006/relationships/image" Target="../media/image31.png"/><Relationship Id="rId10" Type="http://schemas.openxmlformats.org/officeDocument/2006/relationships/image" Target="../media/image3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png"/><Relationship Id="rId4" Type="http://schemas.openxmlformats.org/officeDocument/2006/relationships/image" Target="../media/image36.png"/><Relationship Id="rId5" Type="http://schemas.openxmlformats.org/officeDocument/2006/relationships/image" Target="../media/image11.png"/><Relationship Id="rId6"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15.png"/><Relationship Id="rId5" Type="http://schemas.openxmlformats.org/officeDocument/2006/relationships/image" Target="../media/image35.png"/><Relationship Id="rId6" Type="http://schemas.openxmlformats.org/officeDocument/2006/relationships/image" Target="../media/image3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pic>
        <p:nvPicPr>
          <p:cNvPr id="2" name="Image 0" descr="img_a.jpg"/>
          <p:cNvPicPr>
            <a:picLocks noChangeAspect="1"/>
          </p:cNvPicPr>
          <p:nvPr/>
        </p:nvPicPr>
        <p:blipFill>
          <a:blip r:embed="rId3"/>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A33">
              <a:alpha val="78000"/>
            </a:srgbClr>
          </a:solidFill>
          <a:ln w="12700">
            <a:solidFill>
              <a:srgbClr val="0E1A33">
                <a:alpha val="0"/>
              </a:srgbClr>
            </a:solidFill>
            <a:prstDash val="solid"/>
          </a:ln>
        </p:spPr>
        <p:txBody>
          <a:bodyPr/>
          <a:lstStyle/>
          <a:p>
            <a:endParaRPr lang="en-NZ"/>
          </a:p>
        </p:txBody>
      </p:sp>
      <p:sp>
        <p:nvSpPr>
          <p:cNvPr id="4" name="Shape 1"/>
          <p:cNvSpPr/>
          <p:nvPr/>
        </p:nvSpPr>
        <p:spPr>
          <a:xfrm>
            <a:off x="45720" y="0"/>
            <a:ext cx="7680960" cy="6858000"/>
          </a:xfrm>
          <a:prstGeom prst="rect">
            <a:avLst/>
          </a:prstGeom>
          <a:solidFill>
            <a:srgbClr val="0E1A33">
              <a:alpha val="85000"/>
            </a:srgbClr>
          </a:solidFill>
          <a:ln w="12700">
            <a:solidFill>
              <a:srgbClr val="0E1A33">
                <a:alpha val="0"/>
              </a:srgbClr>
            </a:solidFill>
            <a:prstDash val="solid"/>
          </a:ln>
        </p:spPr>
        <p:txBody>
          <a:bodyPr/>
          <a:lstStyle/>
          <a:p>
            <a:endParaRPr lang="en-NZ"/>
          </a:p>
        </p:txBody>
      </p:sp>
      <p:sp>
        <p:nvSpPr>
          <p:cNvPr id="5" name="Text 2"/>
          <p:cNvSpPr txBox="1"/>
          <p:nvPr/>
        </p:nvSpPr>
        <p:spPr>
          <a:xfrm>
            <a:off x="731520" y="1188720"/>
            <a:ext cx="6858000" cy="365760"/>
          </a:xfrm>
          <a:prstGeom prst="rect">
            <a:avLst/>
          </a:prstGeom>
          <a:noFill/>
          <a:ln/>
        </p:spPr>
        <p:txBody>
          <a:bodyPr wrap="square" lIns="0" tIns="0" rIns="0" bIns="0" rtlCol="0" anchor="t"/>
          <a:lstStyle/>
          <a:p>
            <a:pPr marL="0" indent="0">
              <a:buNone/>
            </a:pPr>
            <a:r>
              <a:rPr lang="en-US" sz="1300" b="1" kern="0" spc="200" dirty="0">
                <a:solidFill>
                  <a:srgbClr val="9DC3E6"/>
                </a:solidFill>
                <a:latin typeface="Arial" pitchFamily="34" charset="0"/>
                <a:ea typeface="Arial" pitchFamily="34" charset="-122"/>
                <a:cs typeface="Arial" pitchFamily="34" charset="-120"/>
              </a:rPr>
              <a:t>COMPSCI 714  ·  </a:t>
            </a:r>
            <a:r>
              <a:rPr lang="en-US" sz="1300" b="1" kern="0" spc="200" dirty="0">
                <a:solidFill>
                  <a:srgbClr val="9DC3E6"/>
                </a:solidFill>
                <a:latin typeface="Arial" pitchFamily="34" charset="0"/>
                <a:cs typeface="Arial" pitchFamily="34" charset="-120"/>
              </a:rPr>
              <a:t>GROUP</a:t>
            </a:r>
            <a:r>
              <a:rPr lang="en-US" sz="1300" b="1" kern="0" spc="200" dirty="0">
                <a:solidFill>
                  <a:srgbClr val="9DC3E6"/>
                </a:solidFill>
                <a:latin typeface="Arial" pitchFamily="34" charset="0"/>
                <a:ea typeface="Arial" pitchFamily="34" charset="-122"/>
                <a:cs typeface="Arial" pitchFamily="34" charset="-120"/>
              </a:rPr>
              <a:t> PROJECT  ·  S2 2026</a:t>
            </a:r>
            <a:endParaRPr lang="en-US" sz="1300" dirty="0"/>
          </a:p>
        </p:txBody>
      </p:sp>
      <p:sp>
        <p:nvSpPr>
          <p:cNvPr id="6" name="Text 3"/>
          <p:cNvSpPr txBox="1"/>
          <p:nvPr/>
        </p:nvSpPr>
        <p:spPr>
          <a:xfrm>
            <a:off x="731520" y="1737360"/>
            <a:ext cx="6858000" cy="1463040"/>
          </a:xfrm>
          <a:prstGeom prst="rect">
            <a:avLst/>
          </a:prstGeom>
          <a:noFill/>
          <a:ln/>
        </p:spPr>
        <p:txBody>
          <a:bodyPr wrap="square" lIns="0" tIns="0" rIns="0" bIns="0" rtlCol="0" anchor="t"/>
          <a:lstStyle/>
          <a:p>
            <a:pPr marL="0" indent="0">
              <a:buNone/>
            </a:pPr>
            <a:r>
              <a:rPr lang="en-US" sz="4600" b="1" dirty="0">
                <a:solidFill>
                  <a:srgbClr val="FFFFFF"/>
                </a:solidFill>
                <a:latin typeface="Arial" pitchFamily="34" charset="0"/>
                <a:ea typeface="Arial" pitchFamily="34" charset="-122"/>
                <a:cs typeface="Arial" pitchFamily="34" charset="-120"/>
              </a:rPr>
              <a:t>Inventory Optimisation Agent</a:t>
            </a:r>
            <a:endParaRPr lang="en-US" sz="4600" dirty="0"/>
          </a:p>
        </p:txBody>
      </p:sp>
      <p:sp>
        <p:nvSpPr>
          <p:cNvPr id="7" name="Text 4"/>
          <p:cNvSpPr txBox="1"/>
          <p:nvPr/>
        </p:nvSpPr>
        <p:spPr>
          <a:xfrm>
            <a:off x="731520" y="3291840"/>
            <a:ext cx="6309360" cy="914400"/>
          </a:xfrm>
          <a:prstGeom prst="rect">
            <a:avLst/>
          </a:prstGeom>
          <a:noFill/>
          <a:ln/>
        </p:spPr>
        <p:txBody>
          <a:bodyPr wrap="square" lIns="0" tIns="0" rIns="0" bIns="0" rtlCol="0" anchor="t"/>
          <a:lstStyle/>
          <a:p>
            <a:pPr marL="0" indent="0">
              <a:buNone/>
            </a:pPr>
            <a:r>
              <a:rPr lang="en-US" sz="1700" dirty="0">
                <a:solidFill>
                  <a:srgbClr val="DCE6F2"/>
                </a:solidFill>
                <a:latin typeface="Arial" pitchFamily="34" charset="0"/>
                <a:ea typeface="Arial" pitchFamily="34" charset="-122"/>
                <a:cs typeface="Arial" pitchFamily="34" charset="-120"/>
              </a:rPr>
              <a:t>Zava Inventory Advisor: a read-only AI agent that turns inventory data into Data-driven recommendations</a:t>
            </a:r>
            <a:endParaRPr lang="en-US" sz="1700" dirty="0"/>
          </a:p>
        </p:txBody>
      </p:sp>
      <p:sp>
        <p:nvSpPr>
          <p:cNvPr id="8" name="Shape 5"/>
          <p:cNvSpPr/>
          <p:nvPr/>
        </p:nvSpPr>
        <p:spPr>
          <a:xfrm>
            <a:off x="731520" y="4526280"/>
            <a:ext cx="1828800" cy="384048"/>
          </a:xfrm>
          <a:prstGeom prst="roundRect">
            <a:avLst>
              <a:gd name="adj" fmla="val 50000"/>
            </a:avLst>
          </a:prstGeom>
          <a:solidFill>
            <a:srgbClr val="F2A900"/>
          </a:solidFill>
          <a:ln w="12700">
            <a:solidFill>
              <a:srgbClr val="F2A900"/>
            </a:solidFill>
            <a:prstDash val="solid"/>
          </a:ln>
        </p:spPr>
        <p:txBody>
          <a:bodyPr/>
          <a:lstStyle/>
          <a:p>
            <a:endParaRPr lang="en-NZ"/>
          </a:p>
        </p:txBody>
      </p:sp>
      <p:sp>
        <p:nvSpPr>
          <p:cNvPr id="9" name="Text 6"/>
          <p:cNvSpPr txBox="1"/>
          <p:nvPr/>
        </p:nvSpPr>
        <p:spPr>
          <a:xfrm>
            <a:off x="731520" y="4526280"/>
            <a:ext cx="1828800" cy="384048"/>
          </a:xfrm>
          <a:prstGeom prst="rect">
            <a:avLst/>
          </a:prstGeom>
          <a:noFill/>
          <a:ln/>
        </p:spPr>
        <p:txBody>
          <a:bodyPr wrap="square" lIns="0" tIns="0" rIns="0" bIns="0" rtlCol="0" anchor="ctr"/>
          <a:lstStyle/>
          <a:p>
            <a:pPr marL="0" indent="0" algn="ctr">
              <a:buNone/>
            </a:pPr>
            <a:r>
              <a:rPr lang="en-US" sz="1200" b="1" dirty="0">
                <a:solidFill>
                  <a:srgbClr val="1F3864"/>
                </a:solidFill>
                <a:latin typeface="Arial" pitchFamily="34" charset="0"/>
                <a:ea typeface="Arial" pitchFamily="34" charset="-122"/>
                <a:cs typeface="Arial" pitchFamily="34" charset="-120"/>
              </a:rPr>
              <a:t>TEAM BLUEBIRD</a:t>
            </a:r>
            <a:endParaRPr lang="en-US" sz="1200" dirty="0"/>
          </a:p>
        </p:txBody>
      </p:sp>
      <p:sp>
        <p:nvSpPr>
          <p:cNvPr id="10" name="Text 7"/>
          <p:cNvSpPr txBox="1"/>
          <p:nvPr/>
        </p:nvSpPr>
        <p:spPr>
          <a:xfrm>
            <a:off x="731520" y="5074920"/>
            <a:ext cx="6400800" cy="365760"/>
          </a:xfrm>
          <a:prstGeom prst="rect">
            <a:avLst/>
          </a:prstGeom>
          <a:noFill/>
          <a:ln/>
        </p:spPr>
        <p:txBody>
          <a:bodyPr wrap="square" lIns="0" tIns="0" rIns="0" bIns="0" rtlCol="0" anchor="t"/>
          <a:lstStyle/>
          <a:p>
            <a:pPr marL="0" indent="0">
              <a:buNone/>
            </a:pPr>
            <a:r>
              <a:rPr lang="en-US" sz="1400" dirty="0">
                <a:solidFill>
                  <a:srgbClr val="FFFFFF"/>
                </a:solidFill>
                <a:latin typeface="Arial" pitchFamily="34" charset="0"/>
                <a:ea typeface="Arial" pitchFamily="34" charset="-122"/>
                <a:cs typeface="Arial" pitchFamily="34" charset="-120"/>
              </a:rPr>
              <a:t>Sateesh  ·  Navneet  ·  Ankur  ·  Ranjith  ·  Ruthvik</a:t>
            </a:r>
            <a:endParaRPr lang="en-US" sz="1400" dirty="0"/>
          </a:p>
        </p:txBody>
      </p:sp>
      <p:sp>
        <p:nvSpPr>
          <p:cNvPr id="11" name="Text 8"/>
          <p:cNvSpPr txBox="1"/>
          <p:nvPr/>
        </p:nvSpPr>
        <p:spPr>
          <a:xfrm>
            <a:off x="731520" y="5440680"/>
            <a:ext cx="6400800" cy="365760"/>
          </a:xfrm>
          <a:prstGeom prst="rect">
            <a:avLst/>
          </a:prstGeom>
          <a:noFill/>
          <a:ln/>
        </p:spPr>
        <p:txBody>
          <a:bodyPr wrap="square" lIns="0" tIns="0" rIns="0" bIns="0" rtlCol="0" anchor="t"/>
          <a:lstStyle/>
          <a:p>
            <a:pPr marL="0" indent="0">
              <a:buNone/>
            </a:pPr>
            <a:r>
              <a:rPr lang="en-US" sz="1200" dirty="0">
                <a:solidFill>
                  <a:srgbClr val="9DC3E6"/>
                </a:solidFill>
                <a:latin typeface="Arial" pitchFamily="34" charset="0"/>
                <a:ea typeface="Arial" pitchFamily="34" charset="-122"/>
                <a:cs typeface="Arial" pitchFamily="34" charset="-120"/>
              </a:rPr>
              <a:t>University of Auckland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Who presents what</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Each team member presents the part of the project they owned</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2</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417320"/>
            <a:ext cx="2097634"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Shape 8"/>
          <p:cNvSpPr/>
          <p:nvPr/>
        </p:nvSpPr>
        <p:spPr>
          <a:xfrm>
            <a:off x="1277417" y="1572768"/>
            <a:ext cx="640080" cy="640080"/>
          </a:xfrm>
          <a:prstGeom prst="ellipse">
            <a:avLst/>
          </a:prstGeom>
          <a:solidFill>
            <a:srgbClr val="1F3864"/>
          </a:solidFill>
          <a:ln w="12700">
            <a:solidFill>
              <a:srgbClr val="1F3864"/>
            </a:solidFill>
            <a:prstDash val="solid"/>
          </a:ln>
        </p:spPr>
        <p:txBody>
          <a:bodyPr/>
          <a:lstStyle/>
          <a:p>
            <a:endParaRPr lang="en-NZ"/>
          </a:p>
        </p:txBody>
      </p:sp>
      <p:pic>
        <p:nvPicPr>
          <p:cNvPr id="12" name="Image 1" descr="preencoded.png"/>
          <p:cNvPicPr>
            <a:picLocks noChangeAspect="1"/>
          </p:cNvPicPr>
          <p:nvPr/>
        </p:nvPicPr>
        <p:blipFill>
          <a:blip r:embed="rId3"/>
          <a:stretch>
            <a:fillRect/>
          </a:stretch>
        </p:blipFill>
        <p:spPr>
          <a:xfrm>
            <a:off x="1437437" y="1732788"/>
            <a:ext cx="320040" cy="320040"/>
          </a:xfrm>
          <a:prstGeom prst="rect">
            <a:avLst/>
          </a:prstGeom>
        </p:spPr>
      </p:pic>
      <p:sp>
        <p:nvSpPr>
          <p:cNvPr id="13" name="Text 9"/>
          <p:cNvSpPr txBox="1"/>
          <p:nvPr/>
        </p:nvSpPr>
        <p:spPr>
          <a:xfrm>
            <a:off x="705917"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PROJECT LEAD</a:t>
            </a:r>
            <a:endParaRPr lang="en-US" sz="1050" dirty="0"/>
          </a:p>
        </p:txBody>
      </p:sp>
      <p:sp>
        <p:nvSpPr>
          <p:cNvPr id="14" name="Text 10"/>
          <p:cNvSpPr txBox="1"/>
          <p:nvPr/>
        </p:nvSpPr>
        <p:spPr>
          <a:xfrm>
            <a:off x="705917"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Sateesh Kumar Puletipalle</a:t>
            </a:r>
            <a:endParaRPr lang="en-US" sz="1450" dirty="0"/>
          </a:p>
        </p:txBody>
      </p:sp>
      <p:sp>
        <p:nvSpPr>
          <p:cNvPr id="15" name="Text 11"/>
          <p:cNvSpPr txBox="1"/>
          <p:nvPr/>
        </p:nvSpPr>
        <p:spPr>
          <a:xfrm>
            <a:off x="751637"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Problem, use case, success criteria and delivery timeline; next steps</a:t>
            </a:r>
            <a:endParaRPr lang="en-US" sz="1200" dirty="0"/>
          </a:p>
        </p:txBody>
      </p:sp>
      <p:sp>
        <p:nvSpPr>
          <p:cNvPr id="16" name="Shape 12"/>
          <p:cNvSpPr/>
          <p:nvPr/>
        </p:nvSpPr>
        <p:spPr>
          <a:xfrm>
            <a:off x="934517"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17" name="Text 13"/>
          <p:cNvSpPr txBox="1"/>
          <p:nvPr/>
        </p:nvSpPr>
        <p:spPr>
          <a:xfrm>
            <a:off x="934517"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3–5, 18–19</a:t>
            </a:r>
            <a:endParaRPr lang="en-US" sz="1050" dirty="0"/>
          </a:p>
        </p:txBody>
      </p:sp>
      <p:sp>
        <p:nvSpPr>
          <p:cNvPr id="18" name="Shape 14"/>
          <p:cNvSpPr/>
          <p:nvPr/>
        </p:nvSpPr>
        <p:spPr>
          <a:xfrm>
            <a:off x="2801722" y="1417320"/>
            <a:ext cx="2097634"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9" name="Shape 15"/>
          <p:cNvSpPr/>
          <p:nvPr/>
        </p:nvSpPr>
        <p:spPr>
          <a:xfrm>
            <a:off x="3530498"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20" name="Image 2" descr="preencoded.png"/>
          <p:cNvPicPr>
            <a:picLocks noChangeAspect="1"/>
          </p:cNvPicPr>
          <p:nvPr/>
        </p:nvPicPr>
        <p:blipFill>
          <a:blip r:embed="rId4"/>
          <a:stretch>
            <a:fillRect/>
          </a:stretch>
        </p:blipFill>
        <p:spPr>
          <a:xfrm>
            <a:off x="3690518" y="1732788"/>
            <a:ext cx="320040" cy="320040"/>
          </a:xfrm>
          <a:prstGeom prst="rect">
            <a:avLst/>
          </a:prstGeom>
        </p:spPr>
      </p:pic>
      <p:sp>
        <p:nvSpPr>
          <p:cNvPr id="21" name="Text 16"/>
          <p:cNvSpPr txBox="1"/>
          <p:nvPr/>
        </p:nvSpPr>
        <p:spPr>
          <a:xfrm>
            <a:off x="2958999"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DATA &amp; PROBLEM ANALYST</a:t>
            </a:r>
            <a:endParaRPr lang="en-US" sz="1050" dirty="0"/>
          </a:p>
        </p:txBody>
      </p:sp>
      <p:sp>
        <p:nvSpPr>
          <p:cNvPr id="22" name="Text 17"/>
          <p:cNvSpPr txBox="1"/>
          <p:nvPr/>
        </p:nvSpPr>
        <p:spPr>
          <a:xfrm>
            <a:off x="2958999"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Ruthvik Kodimela</a:t>
            </a:r>
            <a:endParaRPr lang="en-US" sz="1450" dirty="0"/>
          </a:p>
        </p:txBody>
      </p:sp>
      <p:sp>
        <p:nvSpPr>
          <p:cNvPr id="23" name="Text 18"/>
          <p:cNvSpPr txBox="1"/>
          <p:nvPr/>
        </p:nvSpPr>
        <p:spPr>
          <a:xfrm>
            <a:off x="3004719"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Evidence in the data; assumptions tested</a:t>
            </a:r>
            <a:endParaRPr lang="en-US" sz="1200" dirty="0"/>
          </a:p>
        </p:txBody>
      </p:sp>
      <p:sp>
        <p:nvSpPr>
          <p:cNvPr id="24" name="Shape 19"/>
          <p:cNvSpPr/>
          <p:nvPr/>
        </p:nvSpPr>
        <p:spPr>
          <a:xfrm>
            <a:off x="3187599"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25" name="Text 20"/>
          <p:cNvSpPr txBox="1"/>
          <p:nvPr/>
        </p:nvSpPr>
        <p:spPr>
          <a:xfrm>
            <a:off x="3187599"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6–7</a:t>
            </a:r>
            <a:endParaRPr lang="en-US" sz="1050" dirty="0"/>
          </a:p>
        </p:txBody>
      </p:sp>
      <p:sp>
        <p:nvSpPr>
          <p:cNvPr id="26" name="Shape 21"/>
          <p:cNvSpPr/>
          <p:nvPr/>
        </p:nvSpPr>
        <p:spPr>
          <a:xfrm>
            <a:off x="5054804" y="1417320"/>
            <a:ext cx="2097634"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7" name="Shape 22"/>
          <p:cNvSpPr/>
          <p:nvPr/>
        </p:nvSpPr>
        <p:spPr>
          <a:xfrm>
            <a:off x="5783581"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28" name="Image 3" descr="preencoded.png"/>
          <p:cNvPicPr>
            <a:picLocks noChangeAspect="1"/>
          </p:cNvPicPr>
          <p:nvPr/>
        </p:nvPicPr>
        <p:blipFill>
          <a:blip r:embed="rId5"/>
          <a:stretch>
            <a:fillRect/>
          </a:stretch>
        </p:blipFill>
        <p:spPr>
          <a:xfrm>
            <a:off x="5943601" y="1732788"/>
            <a:ext cx="320040" cy="320040"/>
          </a:xfrm>
          <a:prstGeom prst="rect">
            <a:avLst/>
          </a:prstGeom>
        </p:spPr>
      </p:pic>
      <p:sp>
        <p:nvSpPr>
          <p:cNvPr id="29" name="Text 23"/>
          <p:cNvSpPr txBox="1"/>
          <p:nvPr/>
        </p:nvSpPr>
        <p:spPr>
          <a:xfrm>
            <a:off x="5212081"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SOLUTION ARCHITECT</a:t>
            </a:r>
            <a:endParaRPr lang="en-US" sz="1050" dirty="0"/>
          </a:p>
        </p:txBody>
      </p:sp>
      <p:sp>
        <p:nvSpPr>
          <p:cNvPr id="30" name="Text 24"/>
          <p:cNvSpPr txBox="1"/>
          <p:nvPr/>
        </p:nvSpPr>
        <p:spPr>
          <a:xfrm>
            <a:off x="5212081"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Navneet Kumar Gupta</a:t>
            </a:r>
            <a:endParaRPr lang="en-US" sz="1450" dirty="0"/>
          </a:p>
        </p:txBody>
      </p:sp>
      <p:sp>
        <p:nvSpPr>
          <p:cNvPr id="31" name="Text 25"/>
          <p:cNvSpPr txBox="1"/>
          <p:nvPr/>
        </p:nvSpPr>
        <p:spPr>
          <a:xfrm>
            <a:off x="5257801"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Why an agent; architecture; services and design changes</a:t>
            </a:r>
            <a:endParaRPr lang="en-US" sz="1200" dirty="0"/>
          </a:p>
        </p:txBody>
      </p:sp>
      <p:sp>
        <p:nvSpPr>
          <p:cNvPr id="32" name="Shape 26"/>
          <p:cNvSpPr/>
          <p:nvPr/>
        </p:nvSpPr>
        <p:spPr>
          <a:xfrm>
            <a:off x="5440681"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33" name="Text 27"/>
          <p:cNvSpPr txBox="1"/>
          <p:nvPr/>
        </p:nvSpPr>
        <p:spPr>
          <a:xfrm>
            <a:off x="5440681"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8–10</a:t>
            </a:r>
            <a:endParaRPr lang="en-US" sz="1050" dirty="0"/>
          </a:p>
        </p:txBody>
      </p:sp>
      <p:sp>
        <p:nvSpPr>
          <p:cNvPr id="34" name="Shape 28"/>
          <p:cNvSpPr/>
          <p:nvPr/>
        </p:nvSpPr>
        <p:spPr>
          <a:xfrm>
            <a:off x="7307886" y="1417320"/>
            <a:ext cx="2097634"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5" name="Shape 29"/>
          <p:cNvSpPr/>
          <p:nvPr/>
        </p:nvSpPr>
        <p:spPr>
          <a:xfrm>
            <a:off x="8036663"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36" name="Image 4" descr="preencoded.png"/>
          <p:cNvPicPr>
            <a:picLocks noChangeAspect="1"/>
          </p:cNvPicPr>
          <p:nvPr/>
        </p:nvPicPr>
        <p:blipFill>
          <a:blip r:embed="rId6"/>
          <a:stretch>
            <a:fillRect/>
          </a:stretch>
        </p:blipFill>
        <p:spPr>
          <a:xfrm>
            <a:off x="8196683" y="1732788"/>
            <a:ext cx="320040" cy="320040"/>
          </a:xfrm>
          <a:prstGeom prst="rect">
            <a:avLst/>
          </a:prstGeom>
        </p:spPr>
      </p:pic>
      <p:sp>
        <p:nvSpPr>
          <p:cNvPr id="37" name="Text 30"/>
          <p:cNvSpPr txBox="1"/>
          <p:nvPr/>
        </p:nvSpPr>
        <p:spPr>
          <a:xfrm>
            <a:off x="7465163"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IMPLEMENTATION LEAD</a:t>
            </a:r>
            <a:endParaRPr lang="en-US" sz="1050" dirty="0"/>
          </a:p>
        </p:txBody>
      </p:sp>
      <p:sp>
        <p:nvSpPr>
          <p:cNvPr id="38" name="Text 31"/>
          <p:cNvSpPr txBox="1"/>
          <p:nvPr/>
        </p:nvSpPr>
        <p:spPr>
          <a:xfrm>
            <a:off x="7465163"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Ranjith Kumar Pulluri</a:t>
            </a:r>
            <a:endParaRPr lang="en-US" sz="1450" dirty="0"/>
          </a:p>
        </p:txBody>
      </p:sp>
      <p:sp>
        <p:nvSpPr>
          <p:cNvPr id="39" name="Text 32"/>
          <p:cNvSpPr txBox="1"/>
          <p:nvPr/>
        </p:nvSpPr>
        <p:spPr>
          <a:xfrm>
            <a:off x="7510883"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How a question is answered; evaluation results; live portal views</a:t>
            </a:r>
            <a:endParaRPr lang="en-US" sz="1200" dirty="0"/>
          </a:p>
        </p:txBody>
      </p:sp>
      <p:sp>
        <p:nvSpPr>
          <p:cNvPr id="40" name="Shape 33"/>
          <p:cNvSpPr/>
          <p:nvPr/>
        </p:nvSpPr>
        <p:spPr>
          <a:xfrm>
            <a:off x="7693763"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1" name="Text 34"/>
          <p:cNvSpPr txBox="1"/>
          <p:nvPr/>
        </p:nvSpPr>
        <p:spPr>
          <a:xfrm>
            <a:off x="7693763"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11–14</a:t>
            </a:r>
            <a:endParaRPr lang="en-US" sz="1050" dirty="0"/>
          </a:p>
        </p:txBody>
      </p:sp>
      <p:sp>
        <p:nvSpPr>
          <p:cNvPr id="42" name="Shape 35"/>
          <p:cNvSpPr/>
          <p:nvPr/>
        </p:nvSpPr>
        <p:spPr>
          <a:xfrm>
            <a:off x="9560968" y="1417320"/>
            <a:ext cx="2097634" cy="3017520"/>
          </a:xfrm>
          <a:prstGeom prst="roundRect">
            <a:avLst>
              <a:gd name="adj" fmla="val 5333"/>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3" name="Shape 36"/>
          <p:cNvSpPr/>
          <p:nvPr/>
        </p:nvSpPr>
        <p:spPr>
          <a:xfrm>
            <a:off x="10289745" y="1572768"/>
            <a:ext cx="640080" cy="640080"/>
          </a:xfrm>
          <a:prstGeom prst="ellipse">
            <a:avLst/>
          </a:prstGeom>
          <a:solidFill>
            <a:srgbClr val="2E75B6"/>
          </a:solidFill>
          <a:ln w="12700">
            <a:solidFill>
              <a:srgbClr val="2E75B6"/>
            </a:solidFill>
            <a:prstDash val="solid"/>
          </a:ln>
        </p:spPr>
        <p:txBody>
          <a:bodyPr/>
          <a:lstStyle/>
          <a:p>
            <a:endParaRPr lang="en-NZ"/>
          </a:p>
        </p:txBody>
      </p:sp>
      <p:pic>
        <p:nvPicPr>
          <p:cNvPr id="44" name="Image 5" descr="preencoded.png"/>
          <p:cNvPicPr>
            <a:picLocks noChangeAspect="1"/>
          </p:cNvPicPr>
          <p:nvPr/>
        </p:nvPicPr>
        <p:blipFill>
          <a:blip r:embed="rId7"/>
          <a:stretch>
            <a:fillRect/>
          </a:stretch>
        </p:blipFill>
        <p:spPr>
          <a:xfrm>
            <a:off x="10449765" y="1732788"/>
            <a:ext cx="320040" cy="320040"/>
          </a:xfrm>
          <a:prstGeom prst="rect">
            <a:avLst/>
          </a:prstGeom>
        </p:spPr>
      </p:pic>
      <p:sp>
        <p:nvSpPr>
          <p:cNvPr id="45" name="Text 37"/>
          <p:cNvSpPr txBox="1"/>
          <p:nvPr/>
        </p:nvSpPr>
        <p:spPr>
          <a:xfrm>
            <a:off x="9718245" y="2304288"/>
            <a:ext cx="1783080" cy="347472"/>
          </a:xfrm>
          <a:prstGeom prst="rect">
            <a:avLst/>
          </a:prstGeom>
          <a:noFill/>
          <a:ln/>
        </p:spPr>
        <p:txBody>
          <a:bodyPr wrap="square" lIns="0" tIns="0" rIns="0" bIns="0" rtlCol="0" anchor="t"/>
          <a:lstStyle/>
          <a:p>
            <a:pPr marL="0" indent="0" algn="ctr">
              <a:buNone/>
            </a:pPr>
            <a:r>
              <a:rPr lang="en-US" sz="1050" b="1" kern="0" spc="100" dirty="0">
                <a:solidFill>
                  <a:srgbClr val="2E75B6"/>
                </a:solidFill>
                <a:latin typeface="Arial" pitchFamily="34" charset="0"/>
                <a:ea typeface="Arial" pitchFamily="34" charset="-122"/>
                <a:cs typeface="Arial" pitchFamily="34" charset="-120"/>
              </a:rPr>
              <a:t>AI GOVERNANCE LEAD</a:t>
            </a:r>
            <a:endParaRPr lang="en-US" sz="1050" dirty="0"/>
          </a:p>
        </p:txBody>
      </p:sp>
      <p:sp>
        <p:nvSpPr>
          <p:cNvPr id="46" name="Text 38"/>
          <p:cNvSpPr txBox="1"/>
          <p:nvPr/>
        </p:nvSpPr>
        <p:spPr>
          <a:xfrm>
            <a:off x="9718245" y="2633472"/>
            <a:ext cx="1783080" cy="566928"/>
          </a:xfrm>
          <a:prstGeom prst="rect">
            <a:avLst/>
          </a:prstGeom>
          <a:noFill/>
          <a:ln/>
        </p:spPr>
        <p:txBody>
          <a:bodyPr wrap="square" lIns="0" tIns="0" rIns="0" bIns="0" rtlCol="0" anchor="t"/>
          <a:lstStyle/>
          <a:p>
            <a:pPr marL="0" indent="0" algn="ctr">
              <a:buNone/>
            </a:pPr>
            <a:r>
              <a:rPr lang="en-US" sz="1400" b="1" dirty="0">
                <a:solidFill>
                  <a:srgbClr val="1F3864"/>
                </a:solidFill>
                <a:latin typeface="Arial" pitchFamily="34" charset="0"/>
                <a:ea typeface="Arial" pitchFamily="34" charset="-122"/>
                <a:cs typeface="Arial" pitchFamily="34" charset="-120"/>
              </a:rPr>
              <a:t>Ankur Sharma</a:t>
            </a:r>
            <a:endParaRPr lang="en-US" sz="1450" dirty="0"/>
          </a:p>
        </p:txBody>
      </p:sp>
      <p:sp>
        <p:nvSpPr>
          <p:cNvPr id="47" name="Text 39"/>
          <p:cNvSpPr txBox="1"/>
          <p:nvPr/>
        </p:nvSpPr>
        <p:spPr>
          <a:xfrm>
            <a:off x="9763965" y="3200400"/>
            <a:ext cx="1691640" cy="731520"/>
          </a:xfrm>
          <a:prstGeom prst="rect">
            <a:avLst/>
          </a:prstGeom>
          <a:noFill/>
          <a:ln/>
        </p:spPr>
        <p:txBody>
          <a:bodyPr wrap="square" lIns="0" tIns="0" rIns="0" bIns="0" rtlCol="0" anchor="t"/>
          <a:lstStyle/>
          <a:p>
            <a:pPr marL="0" indent="0" algn="ctr">
              <a:buNone/>
            </a:pPr>
            <a:r>
              <a:rPr lang="en-US" sz="1150" dirty="0">
                <a:solidFill>
                  <a:srgbClr val="222B3A"/>
                </a:solidFill>
                <a:latin typeface="Arial" pitchFamily="34" charset="0"/>
                <a:ea typeface="Arial" pitchFamily="34" charset="-122"/>
                <a:cs typeface="Arial" pitchFamily="34" charset="-120"/>
              </a:rPr>
              <a:t>Governance controls; risks; privacy, limits and GenAI use</a:t>
            </a:r>
            <a:endParaRPr lang="en-US" sz="1200" dirty="0"/>
          </a:p>
        </p:txBody>
      </p:sp>
      <p:sp>
        <p:nvSpPr>
          <p:cNvPr id="48" name="Shape 40"/>
          <p:cNvSpPr/>
          <p:nvPr/>
        </p:nvSpPr>
        <p:spPr>
          <a:xfrm>
            <a:off x="9946845" y="4023360"/>
            <a:ext cx="1325880" cy="310896"/>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9" name="Text 41"/>
          <p:cNvSpPr txBox="1"/>
          <p:nvPr/>
        </p:nvSpPr>
        <p:spPr>
          <a:xfrm>
            <a:off x="9946845" y="4023360"/>
            <a:ext cx="1325880" cy="310896"/>
          </a:xfrm>
          <a:prstGeom prst="rect">
            <a:avLst/>
          </a:prstGeom>
          <a:noFill/>
          <a:ln/>
        </p:spPr>
        <p:txBody>
          <a:bodyPr wrap="square" lIns="0" tIns="0" rIns="0" bIns="0" rtlCol="0" anchor="ctr"/>
          <a:lstStyle/>
          <a:p>
            <a:pPr marL="0" indent="0" algn="ctr">
              <a:buNone/>
            </a:pPr>
            <a:r>
              <a:rPr lang="en-US" sz="1050" b="1" dirty="0">
                <a:solidFill>
                  <a:srgbClr val="1F3864"/>
                </a:solidFill>
                <a:latin typeface="Arial" pitchFamily="34" charset="0"/>
                <a:ea typeface="Arial" pitchFamily="34" charset="-122"/>
                <a:cs typeface="Arial" pitchFamily="34" charset="-120"/>
              </a:rPr>
              <a:t>Slides 15–17</a:t>
            </a:r>
            <a:endParaRPr lang="en-US" sz="1050" dirty="0"/>
          </a:p>
        </p:txBody>
      </p:sp>
      <p:sp>
        <p:nvSpPr>
          <p:cNvPr id="50" name="Rounded Rectangle 49"/>
          <p:cNvSpPr/>
          <p:nvPr/>
        </p:nvSpPr>
        <p:spPr>
          <a:xfrm>
            <a:off x="548640" y="4709160"/>
            <a:ext cx="11109960" cy="1508760"/>
          </a:xfrm>
          <a:prstGeom prst="roundRect">
            <a:avLst>
              <a:gd name="adj" fmla="val 8484"/>
            </a:avLst>
          </a:prstGeom>
          <a:solidFill>
            <a:srgbClr val="1F3864"/>
          </a:solidFill>
          <a:ln>
            <a:no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22960" y="4873752"/>
            <a:ext cx="7315200" cy="237744"/>
          </a:xfrm>
          <a:prstGeom prst="rect">
            <a:avLst/>
          </a:prstGeom>
          <a:noFill/>
        </p:spPr>
        <p:txBody>
          <a:bodyPr wrap="square" lIns="0" rIns="0" tIns="0" bIns="0" anchor="ctr">
            <a:spAutoFit/>
          </a:bodyPr>
          <a:lstStyle/>
          <a:p>
            <a:pPr algn="l">
              <a:spcAft>
                <a:spcPts val="0"/>
              </a:spcAft>
            </a:pPr>
            <a:r>
              <a:rPr sz="1000" b="1" spc="150">
                <a:solidFill>
                  <a:srgbClr val="F2A900"/>
                </a:solidFill>
                <a:latin typeface="Arial"/>
              </a:rPr>
              <a:t>THE PROJECT IN NUMBERS</a:t>
            </a:r>
          </a:p>
        </p:txBody>
      </p:sp>
      <p:sp>
        <p:nvSpPr>
          <p:cNvPr id="52" name="TextBox 51"/>
          <p:cNvSpPr txBox="1"/>
          <p:nvPr/>
        </p:nvSpPr>
        <p:spPr>
          <a:xfrm>
            <a:off x="82296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17</a:t>
            </a:r>
          </a:p>
        </p:txBody>
      </p:sp>
      <p:sp>
        <p:nvSpPr>
          <p:cNvPr id="53" name="TextBox 52"/>
          <p:cNvSpPr txBox="1"/>
          <p:nvPr/>
        </p:nvSpPr>
        <p:spPr>
          <a:xfrm>
            <a:off x="822960" y="5669280"/>
            <a:ext cx="2320290" cy="50292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tools across 3 MCP servers, every query run as the signed-in person</a:t>
            </a:r>
          </a:p>
        </p:txBody>
      </p:sp>
      <p:sp>
        <p:nvSpPr>
          <p:cNvPr id="54" name="Rectangle 53"/>
          <p:cNvSpPr/>
          <p:nvPr/>
        </p:nvSpPr>
        <p:spPr>
          <a:xfrm>
            <a:off x="3298698" y="5212080"/>
            <a:ext cx="9525" cy="82296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346329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73 / 75</a:t>
            </a:r>
          </a:p>
        </p:txBody>
      </p:sp>
      <p:sp>
        <p:nvSpPr>
          <p:cNvPr id="56" name="TextBox 55"/>
          <p:cNvSpPr txBox="1"/>
          <p:nvPr/>
        </p:nvSpPr>
        <p:spPr>
          <a:xfrm>
            <a:off x="3463290" y="5669280"/>
            <a:ext cx="2320290" cy="50292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evaluation cases passed (97.3%), rerun after every change</a:t>
            </a:r>
          </a:p>
        </p:txBody>
      </p:sp>
      <p:sp>
        <p:nvSpPr>
          <p:cNvPr id="57" name="Rectangle 56"/>
          <p:cNvSpPr/>
          <p:nvPr/>
        </p:nvSpPr>
        <p:spPr>
          <a:xfrm>
            <a:off x="5939028" y="5212080"/>
            <a:ext cx="9525" cy="82296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610362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0</a:t>
            </a:r>
          </a:p>
        </p:txBody>
      </p:sp>
      <p:sp>
        <p:nvSpPr>
          <p:cNvPr id="59" name="TextBox 58"/>
          <p:cNvSpPr txBox="1"/>
          <p:nvPr/>
        </p:nvSpPr>
        <p:spPr>
          <a:xfrm>
            <a:off x="6103620" y="5669280"/>
            <a:ext cx="2320290" cy="50292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invented SKUs or unsupported large figures (29-answer audit)</a:t>
            </a:r>
          </a:p>
        </p:txBody>
      </p:sp>
      <p:sp>
        <p:nvSpPr>
          <p:cNvPr id="60" name="Rectangle 59"/>
          <p:cNvSpPr/>
          <p:nvPr/>
        </p:nvSpPr>
        <p:spPr>
          <a:xfrm>
            <a:off x="8579358" y="5212080"/>
            <a:ext cx="9525" cy="82296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874395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~10.5 s</a:t>
            </a:r>
          </a:p>
        </p:txBody>
      </p:sp>
      <p:sp>
        <p:nvSpPr>
          <p:cNvPr id="62" name="TextBox 61"/>
          <p:cNvSpPr txBox="1"/>
          <p:nvPr/>
        </p:nvSpPr>
        <p:spPr>
          <a:xfrm>
            <a:off x="8743950" y="5669280"/>
            <a:ext cx="2320290" cy="50292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median time per answer at about US$0.007 per question</a:t>
            </a:r>
          </a:p>
        </p:txBody>
      </p:sp>
      <p:sp>
        <p:nvSpPr>
          <p:cNvPr id="63" name="Rectangle 62"/>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39" y="382987"/>
            <a:ext cx="8549641" cy="640080"/>
          </a:xfrm>
          <a:prstGeom prst="rect">
            <a:avLst/>
          </a:prstGeom>
          <a:noFill/>
          <a:ln/>
        </p:spPr>
        <p:txBody>
          <a:bodyPr wrap="square" lIns="0" tIns="0" rIns="0" bIns="0" rtlCol="0" anchor="ctr"/>
          <a:lstStyle/>
          <a:p>
            <a:r>
              <a:rPr lang="en-US" sz="2800" b="1" dirty="0">
                <a:solidFill>
                  <a:srgbClr val="1F3864"/>
                </a:solidFill>
                <a:latin typeface="Arial" pitchFamily="34" charset="0"/>
                <a:ea typeface="Arial" pitchFamily="34" charset="-122"/>
                <a:cs typeface="Arial" pitchFamily="34" charset="-120"/>
              </a:rPr>
              <a:t>The problem</a:t>
            </a:r>
            <a:r>
              <a:rPr lang="en-US" sz="2800" b="1" dirty="0">
                <a:solidFill>
                  <a:srgbClr val="1F3864"/>
                </a:solidFill>
                <a:latin typeface="Arial" pitchFamily="34" charset="0"/>
                <a:cs typeface="Arial" pitchFamily="34" charset="-120"/>
              </a:rPr>
              <a:t>: </a:t>
            </a:r>
            <a:r>
              <a:rPr lang="en-NZ" sz="2400" dirty="0">
                <a:solidFill>
                  <a:srgbClr val="1F3864"/>
                </a:solidFill>
                <a:latin typeface="Arial" pitchFamily="34" charset="0"/>
                <a:cs typeface="Arial" pitchFamily="34" charset="-120"/>
              </a:rPr>
              <a:t>Inventory Allocation Misaligned with Demand</a:t>
            </a:r>
            <a:endParaRPr lang="en-US" sz="2800" dirty="0">
              <a:solidFill>
                <a:srgbClr val="1F3864"/>
              </a:solidFill>
              <a:latin typeface="Arial" pitchFamily="34" charset="0"/>
              <a:cs typeface="Arial" pitchFamily="34" charset="-120"/>
            </a:endParaRPr>
          </a:p>
        </p:txBody>
      </p:sp>
      <p:sp>
        <p:nvSpPr>
          <p:cNvPr id="7" name="Text 4"/>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3</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pic>
        <p:nvPicPr>
          <p:cNvPr id="9" name="Image 1" descr="img_b.jpg"/>
          <p:cNvPicPr>
            <a:picLocks noChangeAspect="1"/>
          </p:cNvPicPr>
          <p:nvPr/>
        </p:nvPicPr>
        <p:blipFill>
          <a:blip r:embed="rId3"/>
          <a:srcRect l="22338" r="22338"/>
          <a:stretch/>
        </p:blipFill>
        <p:spPr>
          <a:xfrm>
            <a:off x="9098280" y="1325880"/>
            <a:ext cx="2542032" cy="3063240"/>
          </a:xfrm>
          <a:prstGeom prst="rect">
            <a:avLst/>
          </a:prstGeom>
        </p:spPr>
      </p:pic>
      <p:sp>
        <p:nvSpPr>
          <p:cNvPr id="10" name="Shape 6"/>
          <p:cNvSpPr/>
          <p:nvPr/>
        </p:nvSpPr>
        <p:spPr>
          <a:xfrm>
            <a:off x="548640" y="1417320"/>
            <a:ext cx="566928" cy="566928"/>
          </a:xfrm>
          <a:prstGeom prst="ellipse">
            <a:avLst/>
          </a:prstGeom>
          <a:solidFill>
            <a:srgbClr val="2E75B6"/>
          </a:solidFill>
          <a:ln w="12700">
            <a:solidFill>
              <a:srgbClr val="2E75B6"/>
            </a:solidFill>
            <a:prstDash val="solid"/>
          </a:ln>
        </p:spPr>
        <p:txBody>
          <a:bodyPr/>
          <a:lstStyle/>
          <a:p>
            <a:endParaRPr lang="en-NZ"/>
          </a:p>
        </p:txBody>
      </p:sp>
      <p:pic>
        <p:nvPicPr>
          <p:cNvPr id="11" name="Image 2" descr="preencoded.png"/>
          <p:cNvPicPr>
            <a:picLocks noChangeAspect="1"/>
          </p:cNvPicPr>
          <p:nvPr/>
        </p:nvPicPr>
        <p:blipFill>
          <a:blip r:embed="rId4"/>
          <a:stretch>
            <a:fillRect/>
          </a:stretch>
        </p:blipFill>
        <p:spPr>
          <a:xfrm>
            <a:off x="690372" y="1559052"/>
            <a:ext cx="283464" cy="283464"/>
          </a:xfrm>
          <a:prstGeom prst="rect">
            <a:avLst/>
          </a:prstGeom>
        </p:spPr>
      </p:pic>
      <p:sp>
        <p:nvSpPr>
          <p:cNvPr id="12" name="Text 7"/>
          <p:cNvSpPr txBox="1"/>
          <p:nvPr/>
        </p:nvSpPr>
        <p:spPr>
          <a:xfrm>
            <a:off x="1325880" y="1371600"/>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Problem</a:t>
            </a:r>
            <a:endParaRPr lang="en-US" sz="1600" dirty="0"/>
          </a:p>
        </p:txBody>
      </p:sp>
      <p:sp>
        <p:nvSpPr>
          <p:cNvPr id="13" name="Text 8"/>
          <p:cNvSpPr txBox="1"/>
          <p:nvPr/>
        </p:nvSpPr>
        <p:spPr>
          <a:xfrm>
            <a:off x="1325880" y="1719072"/>
            <a:ext cx="7315200" cy="1054796"/>
          </a:xfrm>
          <a:prstGeom prst="rect">
            <a:avLst/>
          </a:prstGeom>
          <a:noFill/>
          <a:ln/>
        </p:spPr>
        <p:txBody>
          <a:bodyPr wrap="square" lIns="0" tIns="0" rIns="0" bIns="0" rtlCol="0" anchor="t"/>
          <a:lstStyle/>
          <a:p>
            <a:r>
              <a:rPr lang="en-NZ" sz="1300" dirty="0">
                <a:solidFill>
                  <a:srgbClr val="222B3A"/>
                </a:solidFill>
                <a:latin typeface="Arial" pitchFamily="34" charset="0"/>
                <a:cs typeface="Arial" pitchFamily="34" charset="-120"/>
              </a:rPr>
              <a:t>Zava DIY faces challenges in aligning inventory levels with actual demand across its stores. Differences in customer demand, seasonal trends, and sales patterns lead to excess stock and inefficient inventory allocation. Currently, store managers spend considerable time manually analysing inventory and sales data to identify stock imbalances and make informed decisions about stock allocation and replenishment.</a:t>
            </a:r>
          </a:p>
        </p:txBody>
      </p:sp>
      <p:sp>
        <p:nvSpPr>
          <p:cNvPr id="14" name="Shape 9"/>
          <p:cNvSpPr/>
          <p:nvPr/>
        </p:nvSpPr>
        <p:spPr>
          <a:xfrm>
            <a:off x="548640" y="2901884"/>
            <a:ext cx="566928" cy="566928"/>
          </a:xfrm>
          <a:prstGeom prst="ellipse">
            <a:avLst/>
          </a:prstGeom>
          <a:solidFill>
            <a:srgbClr val="2E75B6"/>
          </a:solidFill>
          <a:ln w="12700">
            <a:solidFill>
              <a:srgbClr val="2E75B6"/>
            </a:solidFill>
            <a:prstDash val="solid"/>
          </a:ln>
        </p:spPr>
        <p:txBody>
          <a:bodyPr/>
          <a:lstStyle/>
          <a:p>
            <a:endParaRPr lang="en-NZ"/>
          </a:p>
        </p:txBody>
      </p:sp>
      <p:pic>
        <p:nvPicPr>
          <p:cNvPr id="15" name="Image 3" descr="preencoded.png"/>
          <p:cNvPicPr>
            <a:picLocks noChangeAspect="1"/>
          </p:cNvPicPr>
          <p:nvPr/>
        </p:nvPicPr>
        <p:blipFill>
          <a:blip r:embed="rId5"/>
          <a:stretch>
            <a:fillRect/>
          </a:stretch>
        </p:blipFill>
        <p:spPr>
          <a:xfrm>
            <a:off x="690372" y="3079464"/>
            <a:ext cx="283464" cy="283464"/>
          </a:xfrm>
          <a:prstGeom prst="rect">
            <a:avLst/>
          </a:prstGeom>
        </p:spPr>
      </p:pic>
      <p:sp>
        <p:nvSpPr>
          <p:cNvPr id="16" name="Text 10"/>
          <p:cNvSpPr txBox="1"/>
          <p:nvPr/>
        </p:nvSpPr>
        <p:spPr>
          <a:xfrm>
            <a:off x="1325880" y="2856165"/>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Users</a:t>
            </a:r>
            <a:endParaRPr lang="en-US" sz="1600" dirty="0"/>
          </a:p>
        </p:txBody>
      </p:sp>
      <p:sp>
        <p:nvSpPr>
          <p:cNvPr id="17" name="Text 11"/>
          <p:cNvSpPr txBox="1"/>
          <p:nvPr/>
        </p:nvSpPr>
        <p:spPr>
          <a:xfrm>
            <a:off x="1325880" y="3203636"/>
            <a:ext cx="7315200" cy="566928"/>
          </a:xfrm>
          <a:prstGeom prst="rect">
            <a:avLst/>
          </a:prstGeom>
          <a:noFill/>
          <a:ln/>
        </p:spPr>
        <p:txBody>
          <a:bodyPr wrap="square" lIns="0" tIns="0" rIns="0" bIns="0" rtlCol="0" anchor="t"/>
          <a:lstStyle/>
          <a:p>
            <a:pPr marL="0" indent="0">
              <a:buNone/>
            </a:pPr>
            <a:r>
              <a:rPr lang="en-US" sz="1300" dirty="0">
                <a:solidFill>
                  <a:srgbClr val="222B3A"/>
                </a:solidFill>
                <a:latin typeface="Arial" pitchFamily="34" charset="0"/>
                <a:ea typeface="Arial" pitchFamily="34" charset="-122"/>
                <a:cs typeface="Arial" pitchFamily="34" charset="-120"/>
              </a:rPr>
              <a:t>The Super Manager sees all 8 stores; Store Managers see only their own. The agent knows who is asking from the sign-in.</a:t>
            </a:r>
            <a:endParaRPr lang="en-US" sz="1300" dirty="0"/>
          </a:p>
        </p:txBody>
      </p:sp>
      <p:sp>
        <p:nvSpPr>
          <p:cNvPr id="18" name="Shape 12"/>
          <p:cNvSpPr/>
          <p:nvPr/>
        </p:nvSpPr>
        <p:spPr>
          <a:xfrm>
            <a:off x="548640" y="3911304"/>
            <a:ext cx="566928" cy="566928"/>
          </a:xfrm>
          <a:prstGeom prst="ellipse">
            <a:avLst/>
          </a:prstGeom>
          <a:solidFill>
            <a:srgbClr val="2E75B6"/>
          </a:solidFill>
          <a:ln w="12700">
            <a:solidFill>
              <a:srgbClr val="2E75B6"/>
            </a:solidFill>
            <a:prstDash val="solid"/>
          </a:ln>
        </p:spPr>
        <p:txBody>
          <a:bodyPr/>
          <a:lstStyle/>
          <a:p>
            <a:endParaRPr lang="en-NZ"/>
          </a:p>
        </p:txBody>
      </p:sp>
      <p:pic>
        <p:nvPicPr>
          <p:cNvPr id="19" name="Image 4" descr="preencoded.png"/>
          <p:cNvPicPr>
            <a:picLocks noChangeAspect="1"/>
          </p:cNvPicPr>
          <p:nvPr/>
        </p:nvPicPr>
        <p:blipFill>
          <a:blip r:embed="rId6"/>
          <a:stretch>
            <a:fillRect/>
          </a:stretch>
        </p:blipFill>
        <p:spPr>
          <a:xfrm>
            <a:off x="690372" y="4053036"/>
            <a:ext cx="283464" cy="283464"/>
          </a:xfrm>
          <a:prstGeom prst="rect">
            <a:avLst/>
          </a:prstGeom>
        </p:spPr>
      </p:pic>
      <p:sp>
        <p:nvSpPr>
          <p:cNvPr id="20" name="Text 13"/>
          <p:cNvSpPr txBox="1"/>
          <p:nvPr/>
        </p:nvSpPr>
        <p:spPr>
          <a:xfrm>
            <a:off x="1325880" y="3865584"/>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Decision</a:t>
            </a:r>
            <a:endParaRPr lang="en-US" sz="1600" dirty="0"/>
          </a:p>
        </p:txBody>
      </p:sp>
      <p:sp>
        <p:nvSpPr>
          <p:cNvPr id="21" name="Text 14"/>
          <p:cNvSpPr txBox="1"/>
          <p:nvPr/>
        </p:nvSpPr>
        <p:spPr>
          <a:xfrm>
            <a:off x="1325880" y="4213056"/>
            <a:ext cx="7315200" cy="731520"/>
          </a:xfrm>
          <a:prstGeom prst="rect">
            <a:avLst/>
          </a:prstGeom>
          <a:noFill/>
          <a:ln/>
        </p:spPr>
        <p:txBody>
          <a:bodyPr wrap="square" lIns="0" tIns="0" rIns="0" bIns="0" rtlCol="0" anchor="t"/>
          <a:lstStyle/>
          <a:p>
            <a:pPr marL="0" indent="0">
              <a:buNone/>
            </a:pPr>
            <a:r>
              <a:rPr lang="en-US" sz="1300" dirty="0">
                <a:solidFill>
                  <a:srgbClr val="222B3A"/>
                </a:solidFill>
                <a:latin typeface="Arial" pitchFamily="34" charset="0"/>
                <a:ea typeface="Arial" pitchFamily="34" charset="-122"/>
                <a:cs typeface="Arial" pitchFamily="34" charset="-120"/>
              </a:rPr>
              <a:t>Daily/weekly/on-need basis: Agent can help managers with right stock level recommendations across the stores on daily, weekly, need basis or with real-time numbers.</a:t>
            </a:r>
            <a:endParaRPr lang="en-US" sz="1300" dirty="0"/>
          </a:p>
        </p:txBody>
      </p:sp>
      <p:sp>
        <p:nvSpPr>
          <p:cNvPr id="22" name="Shape 15"/>
          <p:cNvSpPr/>
          <p:nvPr/>
        </p:nvSpPr>
        <p:spPr>
          <a:xfrm>
            <a:off x="548640" y="4929690"/>
            <a:ext cx="566928" cy="566928"/>
          </a:xfrm>
          <a:prstGeom prst="ellipse">
            <a:avLst/>
          </a:prstGeom>
          <a:solidFill>
            <a:srgbClr val="C55A11"/>
          </a:solidFill>
          <a:ln w="12700">
            <a:solidFill>
              <a:srgbClr val="C55A11"/>
            </a:solidFill>
            <a:prstDash val="solid"/>
          </a:ln>
        </p:spPr>
        <p:txBody>
          <a:bodyPr/>
          <a:lstStyle/>
          <a:p>
            <a:endParaRPr lang="en-NZ"/>
          </a:p>
        </p:txBody>
      </p:sp>
      <p:pic>
        <p:nvPicPr>
          <p:cNvPr id="23" name="Image 5" descr="preencoded.png"/>
          <p:cNvPicPr>
            <a:picLocks noChangeAspect="1"/>
          </p:cNvPicPr>
          <p:nvPr/>
        </p:nvPicPr>
        <p:blipFill>
          <a:blip r:embed="rId7"/>
          <a:stretch>
            <a:fillRect/>
          </a:stretch>
        </p:blipFill>
        <p:spPr>
          <a:xfrm>
            <a:off x="690372" y="5071422"/>
            <a:ext cx="283464" cy="283464"/>
          </a:xfrm>
          <a:prstGeom prst="rect">
            <a:avLst/>
          </a:prstGeom>
        </p:spPr>
      </p:pic>
      <p:sp>
        <p:nvSpPr>
          <p:cNvPr id="24" name="Text 16"/>
          <p:cNvSpPr txBox="1"/>
          <p:nvPr/>
        </p:nvSpPr>
        <p:spPr>
          <a:xfrm>
            <a:off x="1325880" y="4883970"/>
            <a:ext cx="7315200" cy="320040"/>
          </a:xfrm>
          <a:prstGeom prst="rect">
            <a:avLst/>
          </a:prstGeom>
          <a:noFill/>
          <a:ln/>
        </p:spPr>
        <p:txBody>
          <a:bodyPr wrap="square" lIns="0" tIns="0" rIns="0" bIns="0" rtlCol="0" anchor="t"/>
          <a:lstStyle/>
          <a:p>
            <a:pPr marL="0" indent="0">
              <a:buNone/>
            </a:pPr>
            <a:r>
              <a:rPr lang="en-US" sz="1600" b="1" dirty="0">
                <a:solidFill>
                  <a:srgbClr val="1F3864"/>
                </a:solidFill>
                <a:latin typeface="Arial" pitchFamily="34" charset="0"/>
                <a:ea typeface="Arial" pitchFamily="34" charset="-122"/>
                <a:cs typeface="Arial" pitchFamily="34" charset="-120"/>
              </a:rPr>
              <a:t>Consequence</a:t>
            </a:r>
            <a:endParaRPr lang="en-US" sz="1600" dirty="0"/>
          </a:p>
        </p:txBody>
      </p:sp>
      <p:sp>
        <p:nvSpPr>
          <p:cNvPr id="25" name="Text 17"/>
          <p:cNvSpPr txBox="1"/>
          <p:nvPr/>
        </p:nvSpPr>
        <p:spPr>
          <a:xfrm>
            <a:off x="1325880" y="5231442"/>
            <a:ext cx="7315200" cy="731520"/>
          </a:xfrm>
          <a:prstGeom prst="rect">
            <a:avLst/>
          </a:prstGeom>
          <a:noFill/>
          <a:ln/>
        </p:spPr>
        <p:txBody>
          <a:bodyPr wrap="square" lIns="0" tIns="0" rIns="0" bIns="0" rtlCol="0" anchor="t"/>
          <a:lstStyle/>
          <a:p>
            <a:pPr marL="0" indent="0">
              <a:buNone/>
            </a:pPr>
            <a:r>
              <a:rPr lang="en-US" sz="1300" dirty="0">
                <a:solidFill>
                  <a:srgbClr val="222B3A"/>
                </a:solidFill>
                <a:latin typeface="Arial" pitchFamily="34" charset="0"/>
                <a:ea typeface="Arial" pitchFamily="34" charset="-122"/>
                <a:cs typeface="Arial" pitchFamily="34" charset="-120"/>
              </a:rPr>
              <a:t>Lost sales, higher holding and transport costs, and unsold seasonal stock, which hit profit, cash flow and customer satisfaction.</a:t>
            </a:r>
            <a:endParaRPr lang="en-US" sz="1300" dirty="0"/>
          </a:p>
        </p:txBody>
      </p:sp>
      <p:sp>
        <p:nvSpPr>
          <p:cNvPr id="26" name="Rectangle 25"/>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706C8-DC1F-8CF8-3207-4CFDABC55E8B}"/>
            </a:ext>
          </a:extLst>
        </p:cNvPr>
        <p:cNvGrpSpPr/>
        <p:nvPr/>
      </p:nvGrpSpPr>
      <p:grpSpPr>
        <a:xfrm>
          <a:off x="0" y="0"/>
          <a:ext cx="0" cy="0"/>
          <a:chOff x="0" y="0"/>
          <a:chExt cx="0" cy="0"/>
        </a:xfrm>
      </p:grpSpPr>
      <p:sp>
        <p:nvSpPr>
          <p:cNvPr id="8" name="Text 5">
            <a:extLst>
              <a:ext uri="{FF2B5EF4-FFF2-40B4-BE49-F238E27FC236}">
                <a16:creationId xmlns:a16="http://schemas.microsoft.com/office/drawing/2014/main" id="{972A6D34-D0F9-8D6B-1855-10A08442E582}"/>
              </a:ext>
            </a:extLst>
          </p:cNvPr>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4</a:t>
            </a:r>
            <a:endParaRPr lang="en-US" sz="1000" dirty="0"/>
          </a:p>
        </p:txBody>
      </p:sp>
      <p:sp>
        <p:nvSpPr>
          <p:cNvPr id="9" name="Text 6">
            <a:extLst>
              <a:ext uri="{FF2B5EF4-FFF2-40B4-BE49-F238E27FC236}">
                <a16:creationId xmlns:a16="http://schemas.microsoft.com/office/drawing/2014/main" id="{E03160FA-142C-D9CD-3D3E-64A892D7EBC3}"/>
              </a:ext>
            </a:extLst>
          </p:cNvPr>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1" name="Text 8">
            <a:extLst>
              <a:ext uri="{FF2B5EF4-FFF2-40B4-BE49-F238E27FC236}">
                <a16:creationId xmlns:a16="http://schemas.microsoft.com/office/drawing/2014/main" id="{BA049261-D42E-0E40-0368-3E00A0DB8DA2}"/>
              </a:ext>
            </a:extLst>
          </p:cNvPr>
          <p:cNvSpPr txBox="1"/>
          <p:nvPr/>
        </p:nvSpPr>
        <p:spPr>
          <a:xfrm>
            <a:off x="9098280" y="1664208"/>
            <a:ext cx="2542032" cy="777240"/>
          </a:xfrm>
          <a:prstGeom prst="rect">
            <a:avLst/>
          </a:prstGeom>
          <a:noFill/>
          <a:ln/>
        </p:spPr>
        <p:txBody>
          <a:bodyPr wrap="square" lIns="0" tIns="0" rIns="0" bIns="0" rtlCol="0" anchor="t"/>
          <a:lstStyle/>
          <a:p>
            <a:pPr marL="0" indent="0" algn="ctr">
              <a:buNone/>
            </a:pPr>
            <a:r>
              <a:rPr lang="en-US" sz="4800" b="1" dirty="0">
                <a:solidFill>
                  <a:srgbClr val="FFFFFF"/>
                </a:solidFill>
                <a:latin typeface="Arial" pitchFamily="34" charset="0"/>
                <a:ea typeface="Arial" pitchFamily="34" charset="-122"/>
                <a:cs typeface="Arial" pitchFamily="34" charset="-120"/>
              </a:rPr>
              <a:t>97.3%</a:t>
            </a:r>
            <a:endParaRPr lang="en-US" sz="6000" dirty="0"/>
          </a:p>
        </p:txBody>
      </p:sp>
      <p:sp>
        <p:nvSpPr>
          <p:cNvPr id="21" name="Shape 18">
            <a:extLst>
              <a:ext uri="{FF2B5EF4-FFF2-40B4-BE49-F238E27FC236}">
                <a16:creationId xmlns:a16="http://schemas.microsoft.com/office/drawing/2014/main" id="{93C9F00B-79A0-25B3-4485-74803E78A329}"/>
              </a:ext>
            </a:extLst>
          </p:cNvPr>
          <p:cNvSpPr/>
          <p:nvPr/>
        </p:nvSpPr>
        <p:spPr>
          <a:xfrm>
            <a:off x="548640" y="2322576"/>
            <a:ext cx="8183879" cy="676656"/>
          </a:xfrm>
          <a:prstGeom prst="roundRect">
            <a:avLst>
              <a:gd name="adj" fmla="val 16216"/>
            </a:avLst>
          </a:prstGeom>
          <a:solidFill>
            <a:srgbClr val="FFFFFF"/>
          </a:solidFill>
          <a:ln w="12700">
            <a:solidFill>
              <a:srgbClr val="FFFFFF"/>
            </a:solidFill>
            <a:prstDash val="solid"/>
          </a:ln>
        </p:spPr>
        <p:txBody>
          <a:bodyPr/>
          <a:lstStyle/>
          <a:p>
            <a:endParaRPr lang="en-NZ"/>
          </a:p>
        </p:txBody>
      </p:sp>
      <p:sp>
        <p:nvSpPr>
          <p:cNvPr id="31" name="Shape 28">
            <a:extLst>
              <a:ext uri="{FF2B5EF4-FFF2-40B4-BE49-F238E27FC236}">
                <a16:creationId xmlns:a16="http://schemas.microsoft.com/office/drawing/2014/main" id="{0FA58822-601D-A64B-8314-6B20D04E40F4}"/>
              </a:ext>
            </a:extLst>
          </p:cNvPr>
          <p:cNvSpPr/>
          <p:nvPr/>
        </p:nvSpPr>
        <p:spPr>
          <a:xfrm>
            <a:off x="548639" y="3877056"/>
            <a:ext cx="8183879" cy="676656"/>
          </a:xfrm>
          <a:prstGeom prst="roundRect">
            <a:avLst>
              <a:gd name="adj" fmla="val 16216"/>
            </a:avLst>
          </a:prstGeom>
          <a:solidFill>
            <a:srgbClr val="FFFFFF"/>
          </a:solidFill>
          <a:ln w="12700">
            <a:solidFill>
              <a:srgbClr val="FFFFFF"/>
            </a:solidFill>
            <a:prstDash val="solid"/>
          </a:ln>
        </p:spPr>
        <p:txBody>
          <a:bodyPr/>
          <a:lstStyle/>
          <a:p>
            <a:endParaRPr lang="en-NZ"/>
          </a:p>
        </p:txBody>
      </p:sp>
      <p:pic>
        <p:nvPicPr>
          <p:cNvPr id="13" name="Picture 12">
            <a:extLst>
              <a:ext uri="{FF2B5EF4-FFF2-40B4-BE49-F238E27FC236}">
                <a16:creationId xmlns:a16="http://schemas.microsoft.com/office/drawing/2014/main" id="{407142F0-E134-09DC-AE5C-00CEF5F305B5}"/>
              </a:ext>
            </a:extLst>
          </p:cNvPr>
          <p:cNvPicPr>
            <a:picLocks noChangeAspect="1"/>
          </p:cNvPicPr>
          <p:nvPr/>
        </p:nvPicPr>
        <p:blipFill>
          <a:blip r:embed="rId3"/>
          <a:stretch>
            <a:fillRect/>
          </a:stretch>
        </p:blipFill>
        <p:spPr>
          <a:xfrm>
            <a:off x="548639" y="215369"/>
            <a:ext cx="10535830" cy="5772737"/>
          </a:xfrm>
          <a:prstGeom prst="rect">
            <a:avLst/>
          </a:prstGeom>
        </p:spPr>
      </p:pic>
      <p:sp>
        <p:nvSpPr>
          <p:cNvPr id="15" name="Shape 2">
            <a:extLst>
              <a:ext uri="{FF2B5EF4-FFF2-40B4-BE49-F238E27FC236}">
                <a16:creationId xmlns:a16="http://schemas.microsoft.com/office/drawing/2014/main" id="{A109CA38-4FDA-221E-118E-C39C2030E740}"/>
              </a:ext>
            </a:extLst>
          </p:cNvPr>
          <p:cNvSpPr/>
          <p:nvPr/>
        </p:nvSpPr>
        <p:spPr>
          <a:xfrm>
            <a:off x="9035972" y="147600"/>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17" name="Shape 3">
            <a:extLst>
              <a:ext uri="{FF2B5EF4-FFF2-40B4-BE49-F238E27FC236}">
                <a16:creationId xmlns:a16="http://schemas.microsoft.com/office/drawing/2014/main" id="{A50750FA-7862-5C3E-AE92-3F79D9150B7C}"/>
              </a:ext>
            </a:extLst>
          </p:cNvPr>
          <p:cNvSpPr/>
          <p:nvPr/>
        </p:nvSpPr>
        <p:spPr>
          <a:xfrm>
            <a:off x="9090836" y="184176"/>
            <a:ext cx="457200" cy="457200"/>
          </a:xfrm>
          <a:prstGeom prst="ellipse">
            <a:avLst/>
          </a:prstGeom>
          <a:solidFill>
            <a:srgbClr val="1F3864"/>
          </a:solidFill>
          <a:ln w="12700">
            <a:solidFill>
              <a:srgbClr val="1F3864"/>
            </a:solidFill>
            <a:prstDash val="solid"/>
          </a:ln>
        </p:spPr>
        <p:txBody>
          <a:bodyPr/>
          <a:lstStyle/>
          <a:p>
            <a:endParaRPr lang="en-NZ"/>
          </a:p>
        </p:txBody>
      </p:sp>
      <p:pic>
        <p:nvPicPr>
          <p:cNvPr id="19" name="Image 0" descr="preencoded.png">
            <a:extLst>
              <a:ext uri="{FF2B5EF4-FFF2-40B4-BE49-F238E27FC236}">
                <a16:creationId xmlns:a16="http://schemas.microsoft.com/office/drawing/2014/main" id="{6F607EE0-2613-4406-4E59-3487DCDA6C40}"/>
              </a:ext>
            </a:extLst>
          </p:cNvPr>
          <p:cNvPicPr>
            <a:picLocks noChangeAspect="1"/>
          </p:cNvPicPr>
          <p:nvPr/>
        </p:nvPicPr>
        <p:blipFill>
          <a:blip r:embed="rId4"/>
          <a:stretch>
            <a:fillRect/>
          </a:stretch>
        </p:blipFill>
        <p:spPr>
          <a:xfrm>
            <a:off x="9205136" y="298476"/>
            <a:ext cx="228600" cy="228600"/>
          </a:xfrm>
          <a:prstGeom prst="rect">
            <a:avLst/>
          </a:prstGeom>
        </p:spPr>
      </p:pic>
      <p:sp>
        <p:nvSpPr>
          <p:cNvPr id="22" name="Text 4">
            <a:extLst>
              <a:ext uri="{FF2B5EF4-FFF2-40B4-BE49-F238E27FC236}">
                <a16:creationId xmlns:a16="http://schemas.microsoft.com/office/drawing/2014/main" id="{F8A67EE0-46A5-2101-CB97-9791F89DB664}"/>
              </a:ext>
            </a:extLst>
          </p:cNvPr>
          <p:cNvSpPr txBox="1"/>
          <p:nvPr/>
        </p:nvSpPr>
        <p:spPr>
          <a:xfrm>
            <a:off x="9630332" y="184176"/>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
        <p:nvSpPr>
          <p:cNvPr id="32" name="Rectangle 31"/>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extLst>
      <p:ext uri="{BB962C8B-B14F-4D97-AF65-F5344CB8AC3E}">
        <p14:creationId xmlns:p14="http://schemas.microsoft.com/office/powerpoint/2010/main" val="2107478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Delivery timeline</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Weeks 6 to 8 were planned milestones; weeks 10 to 13 record what was delivered</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5</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1371600" y="2880360"/>
            <a:ext cx="9436608" cy="0"/>
          </a:xfrm>
          <a:prstGeom prst="line">
            <a:avLst/>
          </a:prstGeom>
          <a:noFill/>
          <a:ln w="38100">
            <a:solidFill>
              <a:srgbClr val="B4C7E7"/>
            </a:solidFill>
            <a:prstDash val="solid"/>
          </a:ln>
        </p:spPr>
        <p:txBody>
          <a:bodyPr/>
          <a:lstStyle/>
          <a:p>
            <a:endParaRPr lang="en-NZ"/>
          </a:p>
        </p:txBody>
      </p:sp>
      <p:sp>
        <p:nvSpPr>
          <p:cNvPr id="11" name="Shape 8"/>
          <p:cNvSpPr/>
          <p:nvPr/>
        </p:nvSpPr>
        <p:spPr>
          <a:xfrm>
            <a:off x="1170432"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12" name="Shape 9"/>
          <p:cNvSpPr/>
          <p:nvPr/>
        </p:nvSpPr>
        <p:spPr>
          <a:xfrm>
            <a:off x="594360"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3" name="Text 10"/>
          <p:cNvSpPr txBox="1"/>
          <p:nvPr/>
        </p:nvSpPr>
        <p:spPr>
          <a:xfrm>
            <a:off x="685800" y="138074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6</a:t>
            </a:r>
            <a:endParaRPr lang="en-US" sz="1400" dirty="0"/>
          </a:p>
        </p:txBody>
      </p:sp>
      <p:sp>
        <p:nvSpPr>
          <p:cNvPr id="14" name="Text 11"/>
          <p:cNvSpPr txBox="1"/>
          <p:nvPr/>
        </p:nvSpPr>
        <p:spPr>
          <a:xfrm>
            <a:off x="685800"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20/09</a:t>
            </a:r>
            <a:endParaRPr lang="en-US" sz="1000" dirty="0"/>
          </a:p>
        </p:txBody>
      </p:sp>
      <p:sp>
        <p:nvSpPr>
          <p:cNvPr id="15" name="Text 12"/>
          <p:cNvSpPr txBox="1"/>
          <p:nvPr/>
        </p:nvSpPr>
        <p:spPr>
          <a:xfrm>
            <a:off x="685800"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Use case and project plan</a:t>
            </a:r>
            <a:endParaRPr lang="en-US" sz="1050" dirty="0"/>
          </a:p>
        </p:txBody>
      </p:sp>
      <p:sp>
        <p:nvSpPr>
          <p:cNvPr id="16" name="Shape 13"/>
          <p:cNvSpPr/>
          <p:nvPr/>
        </p:nvSpPr>
        <p:spPr>
          <a:xfrm>
            <a:off x="1371600" y="2514600"/>
            <a:ext cx="0" cy="164591"/>
          </a:xfrm>
          <a:prstGeom prst="line">
            <a:avLst/>
          </a:prstGeom>
          <a:noFill/>
          <a:ln w="15875">
            <a:solidFill>
              <a:srgbClr val="B4C7E7"/>
            </a:solidFill>
            <a:prstDash val="solid"/>
          </a:ln>
        </p:spPr>
        <p:txBody>
          <a:bodyPr/>
          <a:lstStyle/>
          <a:p>
            <a:endParaRPr lang="en-NZ"/>
          </a:p>
        </p:txBody>
      </p:sp>
      <p:sp>
        <p:nvSpPr>
          <p:cNvPr id="17" name="Shape 14"/>
          <p:cNvSpPr/>
          <p:nvPr/>
        </p:nvSpPr>
        <p:spPr>
          <a:xfrm>
            <a:off x="2743200"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18" name="Shape 15"/>
          <p:cNvSpPr/>
          <p:nvPr/>
        </p:nvSpPr>
        <p:spPr>
          <a:xfrm>
            <a:off x="2167128" y="324612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9" name="Text 16"/>
          <p:cNvSpPr txBox="1"/>
          <p:nvPr/>
        </p:nvSpPr>
        <p:spPr>
          <a:xfrm>
            <a:off x="2258568" y="330098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7</a:t>
            </a:r>
            <a:endParaRPr lang="en-US" sz="1400" dirty="0"/>
          </a:p>
        </p:txBody>
      </p:sp>
      <p:sp>
        <p:nvSpPr>
          <p:cNvPr id="20" name="Text 17"/>
          <p:cNvSpPr txBox="1"/>
          <p:nvPr/>
        </p:nvSpPr>
        <p:spPr>
          <a:xfrm>
            <a:off x="2258568" y="354787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27/09</a:t>
            </a:r>
            <a:endParaRPr lang="en-US" sz="1000" dirty="0"/>
          </a:p>
        </p:txBody>
      </p:sp>
      <p:sp>
        <p:nvSpPr>
          <p:cNvPr id="21" name="Text 18"/>
          <p:cNvSpPr txBox="1"/>
          <p:nvPr/>
        </p:nvSpPr>
        <p:spPr>
          <a:xfrm>
            <a:off x="2258568" y="375818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Data exploration; scope; success criteria</a:t>
            </a:r>
            <a:endParaRPr lang="en-US" sz="1050" dirty="0"/>
          </a:p>
        </p:txBody>
      </p:sp>
      <p:sp>
        <p:nvSpPr>
          <p:cNvPr id="22" name="Shape 19"/>
          <p:cNvSpPr/>
          <p:nvPr/>
        </p:nvSpPr>
        <p:spPr>
          <a:xfrm>
            <a:off x="2944368" y="3081528"/>
            <a:ext cx="0" cy="164591"/>
          </a:xfrm>
          <a:prstGeom prst="line">
            <a:avLst/>
          </a:prstGeom>
          <a:noFill/>
          <a:ln w="15875">
            <a:solidFill>
              <a:srgbClr val="B4C7E7"/>
            </a:solidFill>
            <a:prstDash val="solid"/>
          </a:ln>
        </p:spPr>
        <p:txBody>
          <a:bodyPr/>
          <a:lstStyle/>
          <a:p>
            <a:endParaRPr lang="en-NZ"/>
          </a:p>
        </p:txBody>
      </p:sp>
      <p:sp>
        <p:nvSpPr>
          <p:cNvPr id="23" name="Shape 20"/>
          <p:cNvSpPr/>
          <p:nvPr/>
        </p:nvSpPr>
        <p:spPr>
          <a:xfrm>
            <a:off x="4315968"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24" name="Shape 21"/>
          <p:cNvSpPr/>
          <p:nvPr/>
        </p:nvSpPr>
        <p:spPr>
          <a:xfrm>
            <a:off x="3739896"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Text 22"/>
          <p:cNvSpPr txBox="1"/>
          <p:nvPr/>
        </p:nvSpPr>
        <p:spPr>
          <a:xfrm>
            <a:off x="3831336" y="138074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8</a:t>
            </a:r>
            <a:endParaRPr lang="en-US" sz="1400" dirty="0"/>
          </a:p>
        </p:txBody>
      </p:sp>
      <p:sp>
        <p:nvSpPr>
          <p:cNvPr id="26" name="Text 23"/>
          <p:cNvSpPr txBox="1"/>
          <p:nvPr/>
        </p:nvSpPr>
        <p:spPr>
          <a:xfrm>
            <a:off x="3831336"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30/09</a:t>
            </a:r>
            <a:endParaRPr lang="en-US" sz="1000" dirty="0"/>
          </a:p>
        </p:txBody>
      </p:sp>
      <p:sp>
        <p:nvSpPr>
          <p:cNvPr id="27" name="Text 24"/>
          <p:cNvSpPr txBox="1"/>
          <p:nvPr/>
        </p:nvSpPr>
        <p:spPr>
          <a:xfrm>
            <a:off x="3831336"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Architecture and AI governance practices</a:t>
            </a:r>
            <a:endParaRPr lang="en-US" sz="1050" dirty="0"/>
          </a:p>
        </p:txBody>
      </p:sp>
      <p:sp>
        <p:nvSpPr>
          <p:cNvPr id="28" name="Shape 25"/>
          <p:cNvSpPr/>
          <p:nvPr/>
        </p:nvSpPr>
        <p:spPr>
          <a:xfrm>
            <a:off x="4517136" y="2514600"/>
            <a:ext cx="0" cy="164591"/>
          </a:xfrm>
          <a:prstGeom prst="line">
            <a:avLst/>
          </a:prstGeom>
          <a:noFill/>
          <a:ln w="15875">
            <a:solidFill>
              <a:srgbClr val="B4C7E7"/>
            </a:solidFill>
            <a:prstDash val="solid"/>
          </a:ln>
        </p:spPr>
        <p:txBody>
          <a:bodyPr/>
          <a:lstStyle/>
          <a:p>
            <a:endParaRPr lang="en-NZ"/>
          </a:p>
        </p:txBody>
      </p:sp>
      <p:sp>
        <p:nvSpPr>
          <p:cNvPr id="29" name="Shape 26"/>
          <p:cNvSpPr/>
          <p:nvPr/>
        </p:nvSpPr>
        <p:spPr>
          <a:xfrm>
            <a:off x="5888736"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30" name="Shape 27"/>
          <p:cNvSpPr/>
          <p:nvPr/>
        </p:nvSpPr>
        <p:spPr>
          <a:xfrm>
            <a:off x="5312664" y="324612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1" name="Text 28"/>
          <p:cNvSpPr txBox="1"/>
          <p:nvPr/>
        </p:nvSpPr>
        <p:spPr>
          <a:xfrm>
            <a:off x="5404104" y="330098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10</a:t>
            </a:r>
            <a:endParaRPr lang="en-US" sz="1400" dirty="0"/>
          </a:p>
        </p:txBody>
      </p:sp>
      <p:sp>
        <p:nvSpPr>
          <p:cNvPr id="32" name="Text 29"/>
          <p:cNvSpPr txBox="1"/>
          <p:nvPr/>
        </p:nvSpPr>
        <p:spPr>
          <a:xfrm>
            <a:off x="5404104" y="354787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13–14/10</a:t>
            </a:r>
            <a:endParaRPr lang="en-US" sz="1000" dirty="0"/>
          </a:p>
        </p:txBody>
      </p:sp>
      <p:sp>
        <p:nvSpPr>
          <p:cNvPr id="33" name="Text 30"/>
          <p:cNvSpPr txBox="1"/>
          <p:nvPr/>
        </p:nvSpPr>
        <p:spPr>
          <a:xfrm>
            <a:off x="5404104" y="375818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Working agent, 20+ tests; per-person identity and RLS</a:t>
            </a:r>
            <a:endParaRPr lang="en-US" sz="1050" dirty="0"/>
          </a:p>
        </p:txBody>
      </p:sp>
      <p:sp>
        <p:nvSpPr>
          <p:cNvPr id="34" name="Shape 31"/>
          <p:cNvSpPr/>
          <p:nvPr/>
        </p:nvSpPr>
        <p:spPr>
          <a:xfrm>
            <a:off x="6089904" y="3081528"/>
            <a:ext cx="0" cy="164591"/>
          </a:xfrm>
          <a:prstGeom prst="line">
            <a:avLst/>
          </a:prstGeom>
          <a:noFill/>
          <a:ln w="15875">
            <a:solidFill>
              <a:srgbClr val="B4C7E7"/>
            </a:solidFill>
            <a:prstDash val="solid"/>
          </a:ln>
        </p:spPr>
        <p:txBody>
          <a:bodyPr/>
          <a:lstStyle/>
          <a:p>
            <a:endParaRPr lang="en-NZ"/>
          </a:p>
        </p:txBody>
      </p:sp>
      <p:sp>
        <p:nvSpPr>
          <p:cNvPr id="35" name="Shape 32"/>
          <p:cNvSpPr/>
          <p:nvPr/>
        </p:nvSpPr>
        <p:spPr>
          <a:xfrm>
            <a:off x="7461504"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36" name="Shape 33"/>
          <p:cNvSpPr/>
          <p:nvPr/>
        </p:nvSpPr>
        <p:spPr>
          <a:xfrm>
            <a:off x="6885432"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7" name="Text 34"/>
          <p:cNvSpPr txBox="1"/>
          <p:nvPr/>
        </p:nvSpPr>
        <p:spPr>
          <a:xfrm>
            <a:off x="6976872" y="138074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11</a:t>
            </a:r>
            <a:endParaRPr lang="en-US" sz="1400" dirty="0"/>
          </a:p>
        </p:txBody>
      </p:sp>
      <p:sp>
        <p:nvSpPr>
          <p:cNvPr id="38" name="Text 35"/>
          <p:cNvSpPr txBox="1"/>
          <p:nvPr/>
        </p:nvSpPr>
        <p:spPr>
          <a:xfrm>
            <a:off x="6976872"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19–23/10</a:t>
            </a:r>
            <a:endParaRPr lang="en-US" sz="1000" dirty="0"/>
          </a:p>
        </p:txBody>
      </p:sp>
      <p:sp>
        <p:nvSpPr>
          <p:cNvPr id="39" name="Text 36"/>
          <p:cNvSpPr txBox="1"/>
          <p:nvPr/>
        </p:nvSpPr>
        <p:spPr>
          <a:xfrm>
            <a:off x="6976872"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Charts and exports; grounded lookup; role sign-in; scope gate</a:t>
            </a:r>
            <a:endParaRPr lang="en-US" sz="1050" dirty="0"/>
          </a:p>
        </p:txBody>
      </p:sp>
      <p:sp>
        <p:nvSpPr>
          <p:cNvPr id="40" name="Shape 37"/>
          <p:cNvSpPr/>
          <p:nvPr/>
        </p:nvSpPr>
        <p:spPr>
          <a:xfrm>
            <a:off x="7662672" y="2514600"/>
            <a:ext cx="0" cy="164591"/>
          </a:xfrm>
          <a:prstGeom prst="line">
            <a:avLst/>
          </a:prstGeom>
          <a:noFill/>
          <a:ln w="15875">
            <a:solidFill>
              <a:srgbClr val="B4C7E7"/>
            </a:solidFill>
            <a:prstDash val="solid"/>
          </a:ln>
        </p:spPr>
        <p:txBody>
          <a:bodyPr/>
          <a:lstStyle/>
          <a:p>
            <a:endParaRPr lang="en-NZ"/>
          </a:p>
        </p:txBody>
      </p:sp>
      <p:sp>
        <p:nvSpPr>
          <p:cNvPr id="41" name="Shape 38"/>
          <p:cNvSpPr/>
          <p:nvPr/>
        </p:nvSpPr>
        <p:spPr>
          <a:xfrm>
            <a:off x="9034272" y="2679191"/>
            <a:ext cx="402336" cy="402336"/>
          </a:xfrm>
          <a:prstGeom prst="ellipse">
            <a:avLst/>
          </a:prstGeom>
          <a:solidFill>
            <a:srgbClr val="1F3864"/>
          </a:solidFill>
          <a:ln w="25400">
            <a:solidFill>
              <a:srgbClr val="FFFFFF"/>
            </a:solidFill>
            <a:prstDash val="solid"/>
          </a:ln>
        </p:spPr>
        <p:txBody>
          <a:bodyPr/>
          <a:lstStyle/>
          <a:p>
            <a:endParaRPr lang="en-NZ"/>
          </a:p>
        </p:txBody>
      </p:sp>
      <p:sp>
        <p:nvSpPr>
          <p:cNvPr id="42" name="Shape 39"/>
          <p:cNvSpPr/>
          <p:nvPr/>
        </p:nvSpPr>
        <p:spPr>
          <a:xfrm>
            <a:off x="8458200" y="324612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3" name="Text 40"/>
          <p:cNvSpPr txBox="1"/>
          <p:nvPr/>
        </p:nvSpPr>
        <p:spPr>
          <a:xfrm>
            <a:off x="8549640" y="3300984"/>
            <a:ext cx="1371600" cy="256032"/>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Wk 12</a:t>
            </a:r>
            <a:endParaRPr lang="en-US" sz="1400" dirty="0"/>
          </a:p>
        </p:txBody>
      </p:sp>
      <p:sp>
        <p:nvSpPr>
          <p:cNvPr id="44" name="Text 41"/>
          <p:cNvSpPr txBox="1"/>
          <p:nvPr/>
        </p:nvSpPr>
        <p:spPr>
          <a:xfrm>
            <a:off x="8549640" y="354787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25/10</a:t>
            </a:r>
            <a:endParaRPr lang="en-US" sz="1000" dirty="0"/>
          </a:p>
        </p:txBody>
      </p:sp>
      <p:sp>
        <p:nvSpPr>
          <p:cNvPr id="45" name="Text 42"/>
          <p:cNvSpPr txBox="1"/>
          <p:nvPr/>
        </p:nvSpPr>
        <p:spPr>
          <a:xfrm>
            <a:off x="8549640" y="375818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Prompt review; privacy and read-only guards; 75-case evaluation</a:t>
            </a:r>
            <a:endParaRPr lang="en-US" sz="1050" dirty="0"/>
          </a:p>
        </p:txBody>
      </p:sp>
      <p:sp>
        <p:nvSpPr>
          <p:cNvPr id="46" name="Shape 43"/>
          <p:cNvSpPr/>
          <p:nvPr/>
        </p:nvSpPr>
        <p:spPr>
          <a:xfrm>
            <a:off x="9235440" y="3081528"/>
            <a:ext cx="0" cy="164591"/>
          </a:xfrm>
          <a:prstGeom prst="line">
            <a:avLst/>
          </a:prstGeom>
          <a:noFill/>
          <a:ln w="15875">
            <a:solidFill>
              <a:srgbClr val="B4C7E7"/>
            </a:solidFill>
            <a:prstDash val="solid"/>
          </a:ln>
        </p:spPr>
        <p:txBody>
          <a:bodyPr/>
          <a:lstStyle/>
          <a:p>
            <a:endParaRPr lang="en-NZ"/>
          </a:p>
        </p:txBody>
      </p:sp>
      <p:sp>
        <p:nvSpPr>
          <p:cNvPr id="47" name="Shape 44"/>
          <p:cNvSpPr/>
          <p:nvPr/>
        </p:nvSpPr>
        <p:spPr>
          <a:xfrm>
            <a:off x="10607040" y="2679191"/>
            <a:ext cx="402336" cy="402336"/>
          </a:xfrm>
          <a:prstGeom prst="ellipse">
            <a:avLst/>
          </a:prstGeom>
          <a:solidFill>
            <a:srgbClr val="F2A900"/>
          </a:solidFill>
          <a:ln w="25400">
            <a:solidFill>
              <a:srgbClr val="FFFFFF"/>
            </a:solidFill>
            <a:prstDash val="solid"/>
          </a:ln>
        </p:spPr>
        <p:txBody>
          <a:bodyPr/>
          <a:lstStyle/>
          <a:p>
            <a:endParaRPr lang="en-NZ"/>
          </a:p>
        </p:txBody>
      </p:sp>
      <p:sp>
        <p:nvSpPr>
          <p:cNvPr id="48" name="Shape 45"/>
          <p:cNvSpPr/>
          <p:nvPr/>
        </p:nvSpPr>
        <p:spPr>
          <a:xfrm>
            <a:off x="10030968" y="1325880"/>
            <a:ext cx="1554480" cy="1188720"/>
          </a:xfrm>
          <a:prstGeom prst="roundRect">
            <a:avLst>
              <a:gd name="adj" fmla="val 7742"/>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9" name="Text 46"/>
          <p:cNvSpPr txBox="1"/>
          <p:nvPr/>
        </p:nvSpPr>
        <p:spPr>
          <a:xfrm>
            <a:off x="10145268" y="1380744"/>
            <a:ext cx="1371600" cy="256032"/>
          </a:xfrm>
          <a:prstGeom prst="rect">
            <a:avLst/>
          </a:prstGeom>
          <a:noFill/>
          <a:ln/>
        </p:spPr>
        <p:txBody>
          <a:bodyPr wrap="square" lIns="0" tIns="0" rIns="0" bIns="0" rtlCol="0" anchor="t"/>
          <a:lstStyle/>
          <a:p>
            <a:pPr marL="0" indent="0">
              <a:buNone/>
            </a:pPr>
            <a:r>
              <a:rPr lang="en-US" sz="1400" b="1" dirty="0">
                <a:latin typeface="Arial" pitchFamily="34" charset="0"/>
                <a:ea typeface="Arial" pitchFamily="34" charset="-122"/>
                <a:cs typeface="Arial" pitchFamily="34" charset="-120"/>
              </a:rPr>
              <a:t>Wk 13</a:t>
            </a:r>
            <a:endParaRPr lang="en-US" sz="1400" dirty="0"/>
          </a:p>
        </p:txBody>
      </p:sp>
      <p:sp>
        <p:nvSpPr>
          <p:cNvPr id="50" name="Text 47"/>
          <p:cNvSpPr txBox="1"/>
          <p:nvPr/>
        </p:nvSpPr>
        <p:spPr>
          <a:xfrm>
            <a:off x="10122408" y="1627632"/>
            <a:ext cx="1371600" cy="201168"/>
          </a:xfrm>
          <a:prstGeom prst="rect">
            <a:avLst/>
          </a:prstGeom>
          <a:noFill/>
          <a:ln/>
        </p:spPr>
        <p:txBody>
          <a:bodyPr wrap="square" lIns="0" tIns="0" rIns="0" bIns="0" rtlCol="0" anchor="t"/>
          <a:lstStyle/>
          <a:p>
            <a:pPr marL="0" indent="0">
              <a:buNone/>
            </a:pPr>
            <a:r>
              <a:rPr lang="en-US" sz="1000" b="1" dirty="0">
                <a:solidFill>
                  <a:srgbClr val="2E75B6"/>
                </a:solidFill>
                <a:latin typeface="Arial" pitchFamily="34" charset="0"/>
                <a:ea typeface="Arial" pitchFamily="34" charset="-122"/>
                <a:cs typeface="Arial" pitchFamily="34" charset="-120"/>
              </a:rPr>
              <a:t>25-29/10</a:t>
            </a:r>
            <a:endParaRPr lang="en-US" sz="1000" dirty="0"/>
          </a:p>
        </p:txBody>
      </p:sp>
      <p:sp>
        <p:nvSpPr>
          <p:cNvPr id="51" name="Text 48"/>
          <p:cNvSpPr txBox="1"/>
          <p:nvPr/>
        </p:nvSpPr>
        <p:spPr>
          <a:xfrm>
            <a:off x="10122408" y="1837943"/>
            <a:ext cx="1417320" cy="64008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Technical report and final presentation</a:t>
            </a:r>
            <a:endParaRPr lang="en-US" sz="1050" dirty="0"/>
          </a:p>
        </p:txBody>
      </p:sp>
      <p:sp>
        <p:nvSpPr>
          <p:cNvPr id="52" name="Shape 49"/>
          <p:cNvSpPr/>
          <p:nvPr/>
        </p:nvSpPr>
        <p:spPr>
          <a:xfrm>
            <a:off x="10808208" y="2514600"/>
            <a:ext cx="0" cy="164591"/>
          </a:xfrm>
          <a:prstGeom prst="line">
            <a:avLst/>
          </a:prstGeom>
          <a:noFill/>
          <a:ln w="15875">
            <a:solidFill>
              <a:srgbClr val="B4C7E7"/>
            </a:solidFill>
            <a:prstDash val="solid"/>
          </a:ln>
        </p:spPr>
        <p:txBody>
          <a:bodyPr/>
          <a:lstStyle/>
          <a:p>
            <a:endParaRPr lang="en-NZ"/>
          </a:p>
        </p:txBody>
      </p:sp>
      <p:sp>
        <p:nvSpPr>
          <p:cNvPr id="53" name="Shape 50"/>
          <p:cNvSpPr/>
          <p:nvPr/>
        </p:nvSpPr>
        <p:spPr>
          <a:xfrm>
            <a:off x="548640" y="4709160"/>
            <a:ext cx="8183879" cy="777240"/>
          </a:xfrm>
          <a:prstGeom prst="roundRect">
            <a:avLst>
              <a:gd name="adj" fmla="val 16000"/>
            </a:avLst>
          </a:prstGeom>
          <a:solidFill>
            <a:srgbClr val="F3F7FC"/>
          </a:solidFill>
          <a:ln w="12700">
            <a:solidFill>
              <a:srgbClr val="F3F7FC"/>
            </a:solidFill>
            <a:prstDash val="solid"/>
          </a:ln>
        </p:spPr>
        <p:txBody>
          <a:bodyPr/>
          <a:lstStyle/>
          <a:p>
            <a:endParaRPr lang="en-NZ"/>
          </a:p>
        </p:txBody>
      </p:sp>
      <p:sp>
        <p:nvSpPr>
          <p:cNvPr id="54" name="Text 51"/>
          <p:cNvSpPr txBox="1"/>
          <p:nvPr/>
        </p:nvSpPr>
        <p:spPr>
          <a:xfrm>
            <a:off x="777240" y="4709160"/>
            <a:ext cx="7772400" cy="77724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Owners: </a:t>
            </a:r>
            <a:r>
              <a:rPr lang="en-US" sz="1200" dirty="0">
                <a:solidFill>
                  <a:srgbClr val="222B3A"/>
                </a:solidFill>
                <a:latin typeface="Arial" pitchFamily="34" charset="0"/>
                <a:ea typeface="Arial" pitchFamily="34" charset="-122"/>
                <a:cs typeface="Arial" pitchFamily="34" charset="-120"/>
              </a:rPr>
              <a:t>plan and success criteria (Sateesh, Ankur) · data (Ruthvik, Sateesh, Ranjith) · architecture (Navneet) · governance (Ankur) · build, evaluation and fixes (Team/Peer Programming), Technical and Final reports (Team)</a:t>
            </a:r>
            <a:endParaRPr lang="en-US" sz="1200" dirty="0"/>
          </a:p>
        </p:txBody>
      </p:sp>
      <p:sp>
        <p:nvSpPr>
          <p:cNvPr id="55" name="Rectangle 54"/>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22"/>
          <p:cNvSpPr txBox="1"/>
          <p:nvPr/>
        </p:nvSpPr>
        <p:spPr>
          <a:xfrm>
            <a:off x="548640" y="384048"/>
            <a:ext cx="8503920" cy="640080"/>
          </a:xfrm>
          <a:prstGeom prst="rect">
            <a:avLst/>
          </a:prstGeom>
          <a:noFill/>
        </p:spPr>
        <p:txBody>
          <a:bodyPr wrap="square" lIns="0" tIns="0" rIns="0" bIns="0" anchor="ctr">
            <a:spAutoFit/>
          </a:bodyPr>
          <a:lstStyle/>
          <a:p>
            <a:pPr algn="l"/>
            <a:r>
              <a:rPr sz="2800" b="1" i="0" u="none" dirty="0">
                <a:solidFill>
                  <a:srgbClr val="1F3864"/>
                </a:solidFill>
                <a:latin typeface="Arial"/>
              </a:rPr>
              <a:t>Data findings Snapshot</a:t>
            </a:r>
          </a:p>
        </p:txBody>
      </p:sp>
      <p:sp>
        <p:nvSpPr>
          <p:cNvPr id="41" name="Shape 2">
            <a:extLst>
              <a:ext uri="{FF2B5EF4-FFF2-40B4-BE49-F238E27FC236}">
                <a16:creationId xmlns:a16="http://schemas.microsoft.com/office/drawing/2014/main" id="{49ECC0B7-CC4E-689A-E93F-FE1FF7EC41FA}"/>
              </a:ext>
            </a:extLst>
          </p:cNvPr>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3" name="Shape 3">
            <a:extLst>
              <a:ext uri="{FF2B5EF4-FFF2-40B4-BE49-F238E27FC236}">
                <a16:creationId xmlns:a16="http://schemas.microsoft.com/office/drawing/2014/main" id="{88D7DC61-D60E-2880-F11D-7268DBB653E7}"/>
              </a:ext>
            </a:extLst>
          </p:cNvPr>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45" name="Image 0" descr="preencoded.png">
            <a:extLst>
              <a:ext uri="{FF2B5EF4-FFF2-40B4-BE49-F238E27FC236}">
                <a16:creationId xmlns:a16="http://schemas.microsoft.com/office/drawing/2014/main" id="{4A74DF0B-88D4-AD03-9AAD-DBA5AC8282DB}"/>
              </a:ext>
            </a:extLst>
          </p:cNvPr>
          <p:cNvPicPr>
            <a:picLocks noChangeAspect="1"/>
          </p:cNvPicPr>
          <p:nvPr/>
        </p:nvPicPr>
        <p:blipFill>
          <a:blip r:embed="rId2"/>
          <a:stretch>
            <a:fillRect/>
          </a:stretch>
        </p:blipFill>
        <p:spPr>
          <a:xfrm>
            <a:off x="9358884" y="589788"/>
            <a:ext cx="228600" cy="228600"/>
          </a:xfrm>
          <a:prstGeom prst="rect">
            <a:avLst/>
          </a:prstGeom>
        </p:spPr>
      </p:pic>
      <p:sp>
        <p:nvSpPr>
          <p:cNvPr id="47" name="Text 4">
            <a:extLst>
              <a:ext uri="{FF2B5EF4-FFF2-40B4-BE49-F238E27FC236}">
                <a16:creationId xmlns:a16="http://schemas.microsoft.com/office/drawing/2014/main" id="{927642C5-EAB5-8D3D-F7E5-821B05B045F8}"/>
              </a:ext>
            </a:extLst>
          </p:cNvPr>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Ruthvik</a:t>
            </a:r>
            <a:endParaRPr lang="en-US" sz="1200" dirty="0"/>
          </a:p>
          <a:p>
            <a:r>
              <a:rPr lang="en-US" sz="950" dirty="0">
                <a:solidFill>
                  <a:srgbClr val="5F6B7A"/>
                </a:solidFill>
                <a:latin typeface="Arial" pitchFamily="34" charset="0"/>
                <a:ea typeface="Arial" pitchFamily="34" charset="-122"/>
                <a:cs typeface="Arial" pitchFamily="34" charset="-120"/>
              </a:rPr>
              <a:t>Data &amp; Problem Analyst</a:t>
            </a:r>
            <a:endParaRPr lang="en-US" sz="1200" dirty="0"/>
          </a:p>
        </p:txBody>
      </p:sp>
      <p:pic>
        <p:nvPicPr>
          <p:cNvPr id="49" name="Picture 48">
            <a:extLst>
              <a:ext uri="{FF2B5EF4-FFF2-40B4-BE49-F238E27FC236}">
                <a16:creationId xmlns:a16="http://schemas.microsoft.com/office/drawing/2014/main" id="{F45976D9-A3CA-483A-2C58-132CC0F4EB7A}"/>
              </a:ext>
            </a:extLst>
          </p:cNvPr>
          <p:cNvPicPr>
            <a:picLocks noChangeAspect="1"/>
          </p:cNvPicPr>
          <p:nvPr/>
        </p:nvPicPr>
        <p:blipFill>
          <a:blip r:embed="rId3"/>
          <a:stretch>
            <a:fillRect/>
          </a:stretch>
        </p:blipFill>
        <p:spPr>
          <a:xfrm>
            <a:off x="399207" y="1041868"/>
            <a:ext cx="10840963" cy="5115639"/>
          </a:xfrm>
          <a:prstGeom prst="rect">
            <a:avLst/>
          </a:prstGeom>
        </p:spPr>
      </p:pic>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6</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50" name="Rectangle 49"/>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The evidence: the problem exists in the data</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Phase 2 queries on the Zava PostgreSQL dataset, checked against independent SQL</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Ruthvik</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Data &amp; Problem Analyst</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7</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554480"/>
            <a:ext cx="4206240" cy="987552"/>
          </a:xfrm>
          <a:prstGeom prst="roundRect">
            <a:avLst>
              <a:gd name="adj" fmla="val 11111"/>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Text 8"/>
          <p:cNvSpPr txBox="1"/>
          <p:nvPr/>
        </p:nvSpPr>
        <p:spPr>
          <a:xfrm>
            <a:off x="777240" y="1645920"/>
            <a:ext cx="3749040" cy="502920"/>
          </a:xfrm>
          <a:prstGeom prst="rect">
            <a:avLst/>
          </a:prstGeom>
          <a:noFill/>
          <a:ln/>
        </p:spPr>
        <p:txBody>
          <a:bodyPr wrap="square" lIns="0" tIns="0" rIns="0" bIns="0" rtlCol="0" anchor="t"/>
          <a:lstStyle/>
          <a:p>
            <a:pPr marL="0" indent="0">
              <a:buNone/>
            </a:pPr>
            <a:r>
              <a:rPr lang="en-US" sz="2800" b="1" dirty="0">
                <a:solidFill>
                  <a:srgbClr val="1F3864"/>
                </a:solidFill>
                <a:latin typeface="Arial" pitchFamily="34" charset="0"/>
                <a:ea typeface="Arial" pitchFamily="34" charset="-122"/>
                <a:cs typeface="Arial" pitchFamily="34" charset="-120"/>
              </a:rPr>
              <a:t>3,997,159</a:t>
            </a:r>
            <a:endParaRPr lang="en-US" sz="2800" dirty="0"/>
          </a:p>
        </p:txBody>
      </p:sp>
      <p:sp>
        <p:nvSpPr>
          <p:cNvPr id="12" name="Text 9"/>
          <p:cNvSpPr txBox="1"/>
          <p:nvPr/>
        </p:nvSpPr>
        <p:spPr>
          <a:xfrm>
            <a:off x="777240" y="2148840"/>
            <a:ext cx="3840480" cy="32004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units in stock</a:t>
            </a:r>
            <a:endParaRPr lang="en-US" sz="1200" dirty="0"/>
          </a:p>
        </p:txBody>
      </p:sp>
      <p:sp>
        <p:nvSpPr>
          <p:cNvPr id="13" name="Shape 10"/>
          <p:cNvSpPr/>
          <p:nvPr/>
        </p:nvSpPr>
        <p:spPr>
          <a:xfrm>
            <a:off x="548640" y="2697480"/>
            <a:ext cx="4206240" cy="987552"/>
          </a:xfrm>
          <a:prstGeom prst="roundRect">
            <a:avLst>
              <a:gd name="adj" fmla="val 11111"/>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4" name="Text 11"/>
          <p:cNvSpPr txBox="1"/>
          <p:nvPr/>
        </p:nvSpPr>
        <p:spPr>
          <a:xfrm>
            <a:off x="777240" y="2788920"/>
            <a:ext cx="3749040" cy="502920"/>
          </a:xfrm>
          <a:prstGeom prst="rect">
            <a:avLst/>
          </a:prstGeom>
          <a:noFill/>
          <a:ln/>
        </p:spPr>
        <p:txBody>
          <a:bodyPr wrap="square" lIns="0" tIns="0" rIns="0" bIns="0" rtlCol="0" anchor="t"/>
          <a:lstStyle/>
          <a:p>
            <a:pPr marL="0" indent="0">
              <a:buNone/>
            </a:pPr>
            <a:r>
              <a:rPr lang="en-US" sz="2800" b="1" dirty="0">
                <a:solidFill>
                  <a:srgbClr val="1F3864"/>
                </a:solidFill>
                <a:latin typeface="Arial" pitchFamily="34" charset="0"/>
                <a:ea typeface="Arial" pitchFamily="34" charset="-122"/>
                <a:cs typeface="Arial" pitchFamily="34" charset="-120"/>
              </a:rPr>
              <a:t>$193.7M</a:t>
            </a:r>
            <a:endParaRPr lang="en-US" sz="2800" dirty="0"/>
          </a:p>
        </p:txBody>
      </p:sp>
      <p:sp>
        <p:nvSpPr>
          <p:cNvPr id="15" name="Text 12"/>
          <p:cNvSpPr txBox="1"/>
          <p:nvPr/>
        </p:nvSpPr>
        <p:spPr>
          <a:xfrm>
            <a:off x="777240" y="3291840"/>
            <a:ext cx="3840480" cy="32004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stock value at cost</a:t>
            </a:r>
            <a:endParaRPr lang="en-US" sz="1200" dirty="0"/>
          </a:p>
        </p:txBody>
      </p:sp>
      <p:sp>
        <p:nvSpPr>
          <p:cNvPr id="16" name="Shape 13"/>
          <p:cNvSpPr/>
          <p:nvPr/>
        </p:nvSpPr>
        <p:spPr>
          <a:xfrm>
            <a:off x="548640" y="3840480"/>
            <a:ext cx="4206240" cy="987552"/>
          </a:xfrm>
          <a:prstGeom prst="roundRect">
            <a:avLst>
              <a:gd name="adj" fmla="val 11111"/>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7" name="Text 14"/>
          <p:cNvSpPr txBox="1"/>
          <p:nvPr/>
        </p:nvSpPr>
        <p:spPr>
          <a:xfrm>
            <a:off x="777240" y="3931920"/>
            <a:ext cx="3749040" cy="502920"/>
          </a:xfrm>
          <a:prstGeom prst="rect">
            <a:avLst/>
          </a:prstGeom>
          <a:noFill/>
          <a:ln/>
        </p:spPr>
        <p:txBody>
          <a:bodyPr wrap="square" lIns="0" tIns="0" rIns="0" bIns="0" rtlCol="0" anchor="t"/>
          <a:lstStyle/>
          <a:p>
            <a:pPr marL="0" indent="0">
              <a:buNone/>
            </a:pPr>
            <a:r>
              <a:rPr lang="en-US" sz="2800" b="1" dirty="0">
                <a:solidFill>
                  <a:srgbClr val="1F3864"/>
                </a:solidFill>
                <a:latin typeface="Arial" pitchFamily="34" charset="0"/>
                <a:ea typeface="Arial" pitchFamily="34" charset="-122"/>
                <a:cs typeface="Arial" pitchFamily="34" charset="-120"/>
              </a:rPr>
              <a:t>99%</a:t>
            </a:r>
            <a:endParaRPr lang="en-US" sz="2800" dirty="0"/>
          </a:p>
        </p:txBody>
      </p:sp>
      <p:sp>
        <p:nvSpPr>
          <p:cNvPr id="18" name="Text 15"/>
          <p:cNvSpPr txBox="1"/>
          <p:nvPr/>
        </p:nvSpPr>
        <p:spPr>
          <a:xfrm>
            <a:off x="777240" y="4434840"/>
            <a:ext cx="3840480" cy="320040"/>
          </a:xfrm>
          <a:prstGeom prst="rect">
            <a:avLst/>
          </a:prstGeom>
          <a:noFill/>
          <a:ln/>
        </p:spPr>
        <p:txBody>
          <a:bodyPr wrap="square" lIns="0" tIns="0" rIns="0" bIns="0" rtlCol="0" anchor="t"/>
          <a:lstStyle/>
          <a:p>
            <a:pPr marL="0" indent="0">
              <a:buNone/>
            </a:pPr>
            <a:r>
              <a:rPr lang="en-US" sz="1200" dirty="0">
                <a:solidFill>
                  <a:srgbClr val="5F6B7A"/>
                </a:solidFill>
                <a:latin typeface="Arial" pitchFamily="34" charset="0"/>
                <a:ea typeface="Arial" pitchFamily="34" charset="-122"/>
                <a:cs typeface="Arial" pitchFamily="34" charset="-120"/>
              </a:rPr>
              <a:t>of product-store records hold &gt; 5 years of stock</a:t>
            </a:r>
            <a:endParaRPr lang="en-US" sz="1200" dirty="0"/>
          </a:p>
        </p:txBody>
      </p:sp>
      <p:graphicFrame>
        <p:nvGraphicFramePr>
          <p:cNvPr id="22" name="Chart 0"/>
          <p:cNvGraphicFramePr/>
          <p:nvPr/>
        </p:nvGraphicFramePr>
        <p:xfrm>
          <a:off x="5120640" y="1417320"/>
          <a:ext cx="6519672" cy="2240280"/>
        </p:xfrm>
        <a:graphic>
          <a:graphicData uri="http://schemas.openxmlformats.org/drawingml/2006/chart">
            <c:chart xmlns:c="http://schemas.openxmlformats.org/drawingml/2006/chart" xmlns:r="http://schemas.openxmlformats.org/officeDocument/2006/relationships" r:id="rId4"/>
          </a:graphicData>
        </a:graphic>
      </p:graphicFrame>
      <p:sp>
        <p:nvSpPr>
          <p:cNvPr id="23" name="Shape 19"/>
          <p:cNvSpPr/>
          <p:nvPr/>
        </p:nvSpPr>
        <p:spPr>
          <a:xfrm>
            <a:off x="5120640" y="3840480"/>
            <a:ext cx="3611880" cy="1143000"/>
          </a:xfrm>
          <a:prstGeom prst="roundRect">
            <a:avLst>
              <a:gd name="adj" fmla="val 7742"/>
            </a:avLst>
          </a:prstGeom>
          <a:solidFill>
            <a:srgbClr val="F3F7FC"/>
          </a:solidFill>
          <a:ln w="12700">
            <a:solidFill>
              <a:srgbClr val="F3F7FC"/>
            </a:solidFill>
            <a:prstDash val="solid"/>
          </a:ln>
        </p:spPr>
        <p:txBody>
          <a:bodyPr/>
          <a:lstStyle/>
          <a:p>
            <a:endParaRPr lang="en-NZ"/>
          </a:p>
        </p:txBody>
      </p:sp>
      <p:sp>
        <p:nvSpPr>
          <p:cNvPr id="24" name="Shape 20"/>
          <p:cNvSpPr/>
          <p:nvPr/>
        </p:nvSpPr>
        <p:spPr>
          <a:xfrm>
            <a:off x="5285232" y="3959352"/>
            <a:ext cx="411480" cy="411480"/>
          </a:xfrm>
          <a:prstGeom prst="ellipse">
            <a:avLst/>
          </a:prstGeom>
          <a:solidFill>
            <a:srgbClr val="2E75B6"/>
          </a:solidFill>
          <a:ln w="12700">
            <a:solidFill>
              <a:srgbClr val="2E75B6"/>
            </a:solidFill>
            <a:prstDash val="solid"/>
          </a:ln>
        </p:spPr>
        <p:txBody>
          <a:bodyPr/>
          <a:lstStyle/>
          <a:p>
            <a:endParaRPr lang="en-NZ"/>
          </a:p>
        </p:txBody>
      </p:sp>
      <p:pic>
        <p:nvPicPr>
          <p:cNvPr id="25" name="Image 1" descr="preencoded.png"/>
          <p:cNvPicPr>
            <a:picLocks noChangeAspect="1"/>
          </p:cNvPicPr>
          <p:nvPr/>
        </p:nvPicPr>
        <p:blipFill>
          <a:blip r:embed="rId5"/>
          <a:stretch>
            <a:fillRect/>
          </a:stretch>
        </p:blipFill>
        <p:spPr>
          <a:xfrm>
            <a:off x="5388102" y="4062222"/>
            <a:ext cx="205740" cy="205740"/>
          </a:xfrm>
          <a:prstGeom prst="rect">
            <a:avLst/>
          </a:prstGeom>
        </p:spPr>
      </p:pic>
      <p:sp>
        <p:nvSpPr>
          <p:cNvPr id="26" name="Text 21"/>
          <p:cNvSpPr txBox="1"/>
          <p:nvPr/>
        </p:nvSpPr>
        <p:spPr>
          <a:xfrm>
            <a:off x="5806440" y="3950208"/>
            <a:ext cx="2834640" cy="411480"/>
          </a:xfrm>
          <a:prstGeom prst="rect">
            <a:avLst/>
          </a:prstGeom>
          <a:noFill/>
          <a:ln/>
        </p:spPr>
        <p:txBody>
          <a:bodyPr wrap="square" lIns="0" tIns="0" rIns="0" bIns="0" rtlCol="0" anchor="ctr"/>
          <a:lstStyle/>
          <a:p>
            <a:pPr marL="0" indent="0">
              <a:buNone/>
            </a:pPr>
            <a:r>
              <a:rPr lang="en-US" sz="1250" b="1" dirty="0">
                <a:solidFill>
                  <a:srgbClr val="1F3864"/>
                </a:solidFill>
                <a:latin typeface="Arial" pitchFamily="34" charset="0"/>
                <a:ea typeface="Arial" pitchFamily="34" charset="-122"/>
                <a:cs typeface="Arial" pitchFamily="34" charset="-120"/>
              </a:rPr>
              <a:t>Seasonal peaks are reliable</a:t>
            </a:r>
            <a:endParaRPr lang="en-US" sz="1250" dirty="0"/>
          </a:p>
        </p:txBody>
      </p:sp>
      <p:sp>
        <p:nvSpPr>
          <p:cNvPr id="27" name="Text 22"/>
          <p:cNvSpPr txBox="1"/>
          <p:nvPr/>
        </p:nvSpPr>
        <p:spPr>
          <a:xfrm>
            <a:off x="5285232" y="4389120"/>
            <a:ext cx="3310128" cy="566928"/>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Garden &amp; Outdoor peaks in April every year from 2020 to 2026, so clearing just before a peak would be a mistake.</a:t>
            </a:r>
            <a:endParaRPr lang="en-US" sz="1050" dirty="0"/>
          </a:p>
        </p:txBody>
      </p:sp>
      <p:sp>
        <p:nvSpPr>
          <p:cNvPr id="28" name="Shape 23"/>
          <p:cNvSpPr/>
          <p:nvPr/>
        </p:nvSpPr>
        <p:spPr>
          <a:xfrm>
            <a:off x="5120640" y="5120640"/>
            <a:ext cx="3611880" cy="1143000"/>
          </a:xfrm>
          <a:prstGeom prst="roundRect">
            <a:avLst>
              <a:gd name="adj" fmla="val 7742"/>
            </a:avLst>
          </a:prstGeom>
          <a:solidFill>
            <a:srgbClr val="F3F7FC"/>
          </a:solidFill>
          <a:ln w="12700">
            <a:solidFill>
              <a:srgbClr val="F3F7FC"/>
            </a:solidFill>
            <a:prstDash val="solid"/>
          </a:ln>
        </p:spPr>
        <p:txBody>
          <a:bodyPr/>
          <a:lstStyle/>
          <a:p>
            <a:endParaRPr lang="en-NZ"/>
          </a:p>
        </p:txBody>
      </p:sp>
      <p:sp>
        <p:nvSpPr>
          <p:cNvPr id="29" name="Shape 24"/>
          <p:cNvSpPr/>
          <p:nvPr/>
        </p:nvSpPr>
        <p:spPr>
          <a:xfrm>
            <a:off x="5285232" y="5239512"/>
            <a:ext cx="411480" cy="411480"/>
          </a:xfrm>
          <a:prstGeom prst="ellipse">
            <a:avLst/>
          </a:prstGeom>
          <a:solidFill>
            <a:srgbClr val="2E75B6"/>
          </a:solidFill>
          <a:ln w="12700">
            <a:solidFill>
              <a:srgbClr val="2E75B6"/>
            </a:solidFill>
            <a:prstDash val="solid"/>
          </a:ln>
        </p:spPr>
        <p:txBody>
          <a:bodyPr/>
          <a:lstStyle/>
          <a:p>
            <a:endParaRPr lang="en-NZ"/>
          </a:p>
        </p:txBody>
      </p:sp>
      <p:pic>
        <p:nvPicPr>
          <p:cNvPr id="30" name="Image 2" descr="preencoded.png"/>
          <p:cNvPicPr>
            <a:picLocks noChangeAspect="1"/>
          </p:cNvPicPr>
          <p:nvPr/>
        </p:nvPicPr>
        <p:blipFill>
          <a:blip r:embed="rId6"/>
          <a:stretch>
            <a:fillRect/>
          </a:stretch>
        </p:blipFill>
        <p:spPr>
          <a:xfrm>
            <a:off x="5388102" y="5342381"/>
            <a:ext cx="205740" cy="205740"/>
          </a:xfrm>
          <a:prstGeom prst="rect">
            <a:avLst/>
          </a:prstGeom>
        </p:spPr>
      </p:pic>
      <p:sp>
        <p:nvSpPr>
          <p:cNvPr id="31" name="Text 25"/>
          <p:cNvSpPr txBox="1"/>
          <p:nvPr/>
        </p:nvSpPr>
        <p:spPr>
          <a:xfrm>
            <a:off x="5806440" y="5230368"/>
            <a:ext cx="2834640" cy="411480"/>
          </a:xfrm>
          <a:prstGeom prst="rect">
            <a:avLst/>
          </a:prstGeom>
          <a:noFill/>
          <a:ln/>
        </p:spPr>
        <p:txBody>
          <a:bodyPr wrap="square" lIns="0" tIns="0" rIns="0" bIns="0" rtlCol="0" anchor="ctr"/>
          <a:lstStyle/>
          <a:p>
            <a:pPr marL="0" indent="0">
              <a:buNone/>
            </a:pPr>
            <a:r>
              <a:rPr lang="en-US" sz="1250" b="1" dirty="0">
                <a:solidFill>
                  <a:srgbClr val="1F3864"/>
                </a:solidFill>
                <a:latin typeface="Arial" pitchFamily="34" charset="0"/>
                <a:ea typeface="Arial" pitchFamily="34" charset="-122"/>
                <a:cs typeface="Arial" pitchFamily="34" charset="-120"/>
              </a:rPr>
              <a:t>Some stores are short today</a:t>
            </a:r>
            <a:endParaRPr lang="en-US" sz="1250" dirty="0"/>
          </a:p>
        </p:txBody>
      </p:sp>
      <p:sp>
        <p:nvSpPr>
          <p:cNvPr id="32" name="Text 26"/>
          <p:cNvSpPr txBox="1"/>
          <p:nvPr/>
        </p:nvSpPr>
        <p:spPr>
          <a:xfrm>
            <a:off x="5285232" y="5669279"/>
            <a:ext cx="3310128" cy="566928"/>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cs typeface="Arial" pitchFamily="34" charset="-120"/>
              </a:rPr>
              <a:t>Identified lowest stock stores are in </a:t>
            </a:r>
            <a:r>
              <a:rPr lang="en-US" sz="1050" dirty="0" err="1">
                <a:solidFill>
                  <a:srgbClr val="222B3A"/>
                </a:solidFill>
                <a:latin typeface="Arial" pitchFamily="34" charset="0"/>
                <a:cs typeface="Arial" pitchFamily="34" charset="-120"/>
              </a:rPr>
              <a:t>Zava</a:t>
            </a:r>
            <a:r>
              <a:rPr lang="en-US" sz="1050" dirty="0">
                <a:solidFill>
                  <a:srgbClr val="222B3A"/>
                </a:solidFill>
                <a:latin typeface="Arial" pitchFamily="34" charset="0"/>
                <a:cs typeface="Arial" pitchFamily="34" charset="-120"/>
              </a:rPr>
              <a:t> Retail Kirkland, Redmond and Everett.</a:t>
            </a:r>
          </a:p>
        </p:txBody>
      </p:sp>
      <p:sp>
        <p:nvSpPr>
          <p:cNvPr id="33" name="Rectangle 32"/>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9153144" cy="640080"/>
          </a:xfrm>
          <a:prstGeom prst="rect">
            <a:avLst/>
          </a:prstGeom>
          <a:noFill/>
          <a:ln/>
        </p:spPr>
        <p:txBody>
          <a:bodyPr wrap="square" lIns="0" tIns="0" rIns="0" bIns="0" rtlCol="0" anchor="ctr"/>
          <a:lstStyle/>
          <a:p>
            <a:r>
              <a:rPr lang="en-NZ" sz="2400" b="1" dirty="0">
                <a:solidFill>
                  <a:srgbClr val="1F3864"/>
                </a:solidFill>
                <a:latin typeface="Arial" pitchFamily="34" charset="0"/>
                <a:cs typeface="Arial" pitchFamily="34" charset="-120"/>
              </a:rPr>
              <a:t>Why do we need an agent? why not a chatbot?</a:t>
            </a:r>
            <a:endParaRPr lang="en-US" sz="24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Navneet</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Solution Architect</a:t>
            </a:r>
            <a:endParaRPr lang="en-US" sz="1200" dirty="0"/>
          </a:p>
        </p:txBody>
      </p:sp>
      <p:sp>
        <p:nvSpPr>
          <p:cNvPr id="7" name="Text 4"/>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8</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5349240" cy="3703320"/>
          </a:xfrm>
          <a:prstGeom prst="roundRect">
            <a:avLst>
              <a:gd name="adj" fmla="val 3117"/>
            </a:avLst>
          </a:prstGeom>
          <a:solidFill>
            <a:srgbClr val="E7E9EE"/>
          </a:solidFill>
          <a:ln w="12700">
            <a:solidFill>
              <a:srgbClr val="E7E9EE"/>
            </a:solidFill>
            <a:prstDash val="solid"/>
          </a:ln>
        </p:spPr>
        <p:txBody>
          <a:bodyPr/>
          <a:lstStyle/>
          <a:p>
            <a:endParaRPr lang="en-NZ"/>
          </a:p>
        </p:txBody>
      </p:sp>
      <p:sp>
        <p:nvSpPr>
          <p:cNvPr id="10" name="Shape 7"/>
          <p:cNvSpPr/>
          <p:nvPr/>
        </p:nvSpPr>
        <p:spPr>
          <a:xfrm>
            <a:off x="822960" y="1429866"/>
            <a:ext cx="640080" cy="640080"/>
          </a:xfrm>
          <a:prstGeom prst="ellipse">
            <a:avLst/>
          </a:prstGeom>
          <a:solidFill>
            <a:srgbClr val="5F6B7A"/>
          </a:solidFill>
          <a:ln w="12700">
            <a:solidFill>
              <a:srgbClr val="5F6B7A"/>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982980" y="1589886"/>
            <a:ext cx="320040" cy="320040"/>
          </a:xfrm>
          <a:prstGeom prst="rect">
            <a:avLst/>
          </a:prstGeom>
        </p:spPr>
      </p:pic>
      <p:sp>
        <p:nvSpPr>
          <p:cNvPr id="12" name="Text 8"/>
          <p:cNvSpPr txBox="1"/>
          <p:nvPr/>
        </p:nvSpPr>
        <p:spPr>
          <a:xfrm>
            <a:off x="1623060" y="1371600"/>
            <a:ext cx="4069080" cy="640080"/>
          </a:xfrm>
          <a:prstGeom prst="rect">
            <a:avLst/>
          </a:prstGeom>
          <a:noFill/>
          <a:ln/>
        </p:spPr>
        <p:txBody>
          <a:bodyPr wrap="square" lIns="0" tIns="0" rIns="0" bIns="0" rtlCol="0" anchor="ctr"/>
          <a:lstStyle/>
          <a:p>
            <a:r>
              <a:rPr lang="en-NZ" b="1" dirty="0"/>
              <a:t>A Passive Chatbot / SQL Report</a:t>
            </a:r>
            <a:endParaRPr lang="en-US" sz="1800" dirty="0"/>
          </a:p>
        </p:txBody>
      </p:sp>
      <p:sp>
        <p:nvSpPr>
          <p:cNvPr id="13" name="Text 9"/>
          <p:cNvSpPr txBox="1"/>
          <p:nvPr/>
        </p:nvSpPr>
        <p:spPr>
          <a:xfrm>
            <a:off x="822960" y="2138526"/>
            <a:ext cx="4869180" cy="274320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NZ" sz="1300" b="1" dirty="0"/>
              <a:t>Static &amp; Reactive:</a:t>
            </a:r>
            <a:r>
              <a:rPr lang="en-NZ" sz="1300" dirty="0"/>
              <a:t> Can only answer pre-scripted questions or return raw SQL query tables when asked.</a:t>
            </a:r>
          </a:p>
          <a:p>
            <a:pPr marL="285750" lvl="0" indent="-285750">
              <a:buFont typeface="Arial" panose="020B0604020202020204" pitchFamily="34" charset="0"/>
              <a:buChar char="•"/>
            </a:pPr>
            <a:r>
              <a:rPr lang="en-NZ" sz="1300" b="1" dirty="0"/>
              <a:t>No Multi-Tool Reasoning:</a:t>
            </a:r>
            <a:r>
              <a:rPr lang="en-NZ" sz="1300" dirty="0"/>
              <a:t> Cannot independently chain actions (e.g., it cannot check inventory, look up freight costs, and verify warehouse capacity together).</a:t>
            </a:r>
          </a:p>
          <a:p>
            <a:pPr marL="285750" lvl="0" indent="-285750">
              <a:buFont typeface="Arial" panose="020B0604020202020204" pitchFamily="34" charset="0"/>
              <a:buChar char="•"/>
            </a:pPr>
            <a:r>
              <a:rPr lang="en-NZ" sz="1300" b="1" dirty="0"/>
              <a:t>Blind to Context:</a:t>
            </a:r>
            <a:r>
              <a:rPr lang="en-NZ" sz="1300" dirty="0"/>
              <a:t> Pulls data without evaluating real-world business constraints like seasonal demand peaks.</a:t>
            </a:r>
          </a:p>
          <a:p>
            <a:pPr marL="285750" lvl="0" indent="-285750">
              <a:buFont typeface="Arial" panose="020B0604020202020204" pitchFamily="34" charset="0"/>
              <a:buChar char="•"/>
            </a:pPr>
            <a:r>
              <a:rPr lang="en-NZ" sz="1300" b="1" dirty="0"/>
              <a:t>Requires Manual Action:</a:t>
            </a:r>
            <a:r>
              <a:rPr lang="en-NZ" sz="1300" dirty="0"/>
              <a:t> Merely outputs data and leaves humans to manually calculate and execute transfers or clearances.</a:t>
            </a:r>
          </a:p>
        </p:txBody>
      </p:sp>
      <p:sp>
        <p:nvSpPr>
          <p:cNvPr id="14" name="Shape 10"/>
          <p:cNvSpPr/>
          <p:nvPr/>
        </p:nvSpPr>
        <p:spPr>
          <a:xfrm>
            <a:off x="6291072" y="1371600"/>
            <a:ext cx="5349240" cy="3703320"/>
          </a:xfrm>
          <a:prstGeom prst="roundRect">
            <a:avLst>
              <a:gd name="adj" fmla="val 3117"/>
            </a:avLst>
          </a:prstGeom>
          <a:solidFill>
            <a:srgbClr val="DEEAF6"/>
          </a:solidFill>
          <a:ln w="12700">
            <a:solidFill>
              <a:srgbClr val="DEEAF6"/>
            </a:solidFill>
            <a:prstDash val="solid"/>
          </a:ln>
        </p:spPr>
        <p:txBody>
          <a:bodyPr/>
          <a:lstStyle/>
          <a:p>
            <a:endParaRPr lang="en-NZ"/>
          </a:p>
        </p:txBody>
      </p:sp>
      <p:sp>
        <p:nvSpPr>
          <p:cNvPr id="15" name="Shape 11"/>
          <p:cNvSpPr/>
          <p:nvPr/>
        </p:nvSpPr>
        <p:spPr>
          <a:xfrm>
            <a:off x="6565392" y="1600200"/>
            <a:ext cx="640080" cy="640080"/>
          </a:xfrm>
          <a:prstGeom prst="ellipse">
            <a:avLst/>
          </a:prstGeom>
          <a:solidFill>
            <a:srgbClr val="1F3864"/>
          </a:solidFill>
          <a:ln w="12700">
            <a:solidFill>
              <a:srgbClr val="1F3864"/>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6725412" y="1760220"/>
            <a:ext cx="320040" cy="320040"/>
          </a:xfrm>
          <a:prstGeom prst="rect">
            <a:avLst/>
          </a:prstGeom>
        </p:spPr>
      </p:pic>
      <p:sp>
        <p:nvSpPr>
          <p:cNvPr id="17" name="Text 12"/>
          <p:cNvSpPr txBox="1"/>
          <p:nvPr/>
        </p:nvSpPr>
        <p:spPr>
          <a:xfrm>
            <a:off x="7388352" y="1600200"/>
            <a:ext cx="4069080" cy="640080"/>
          </a:xfrm>
          <a:prstGeom prst="rect">
            <a:avLst/>
          </a:prstGeom>
          <a:noFill/>
          <a:ln/>
        </p:spPr>
        <p:txBody>
          <a:bodyPr wrap="square" lIns="0" tIns="0" rIns="0" bIns="0" rtlCol="0" anchor="ctr"/>
          <a:lstStyle/>
          <a:p>
            <a:pPr marL="0" indent="0">
              <a:buNone/>
            </a:pPr>
            <a:r>
              <a:rPr lang="en-US" sz="1800" b="1" dirty="0">
                <a:solidFill>
                  <a:srgbClr val="1F3864"/>
                </a:solidFill>
                <a:latin typeface="Arial" pitchFamily="34" charset="0"/>
                <a:ea typeface="Arial" pitchFamily="34" charset="-122"/>
                <a:cs typeface="Arial" pitchFamily="34" charset="-120"/>
              </a:rPr>
              <a:t>The Inventory Optimisation Agent</a:t>
            </a:r>
            <a:endParaRPr lang="en-US" sz="1800" dirty="0"/>
          </a:p>
        </p:txBody>
      </p:sp>
      <p:sp>
        <p:nvSpPr>
          <p:cNvPr id="18" name="Text 13"/>
          <p:cNvSpPr txBox="1"/>
          <p:nvPr/>
        </p:nvSpPr>
        <p:spPr>
          <a:xfrm>
            <a:off x="6611112" y="2395728"/>
            <a:ext cx="4709160" cy="2468880"/>
          </a:xfrm>
          <a:prstGeom prst="rect">
            <a:avLst/>
          </a:prstGeom>
          <a:noFill/>
          <a:ln/>
        </p:spPr>
        <p:txBody>
          <a:bodyPr wrap="square" lIns="0" tIns="0" rIns="0" bIns="0" rtlCol="0" anchor="t"/>
          <a:lstStyle/>
          <a:p>
            <a:pPr marL="285750" lvl="0" indent="-285750">
              <a:buFont typeface="Arial" panose="020B0604020202020204" pitchFamily="34" charset="0"/>
              <a:buChar char="•"/>
            </a:pPr>
            <a:r>
              <a:rPr lang="en-NZ" sz="1300" b="1" dirty="0"/>
              <a:t>Proactive &amp; Goal-Driven:</a:t>
            </a:r>
            <a:r>
              <a:rPr lang="en-NZ" sz="1300" dirty="0"/>
              <a:t> Automatically monitors stock levels, flags overstock risks, and initiates workflows unprompted.</a:t>
            </a:r>
          </a:p>
          <a:p>
            <a:pPr marL="285750" lvl="0" indent="-285750">
              <a:buFont typeface="Arial" panose="020B0604020202020204" pitchFamily="34" charset="0"/>
              <a:buChar char="•"/>
            </a:pPr>
            <a:r>
              <a:rPr lang="en-NZ" sz="1300" b="1" dirty="0"/>
              <a:t>Multi-Tool Chaining:</a:t>
            </a:r>
            <a:r>
              <a:rPr lang="en-NZ" sz="1300" dirty="0"/>
              <a:t> Dynamically decides which tool to call next based on intermediate findings.</a:t>
            </a:r>
          </a:p>
          <a:p>
            <a:pPr marL="285750" lvl="0" indent="-285750">
              <a:buFont typeface="Arial" panose="020B0604020202020204" pitchFamily="34" charset="0"/>
              <a:buChar char="•"/>
            </a:pPr>
            <a:r>
              <a:rPr lang="en-NZ" sz="1300" b="1" dirty="0"/>
              <a:t>Context-Aware Reasoning:</a:t>
            </a:r>
            <a:r>
              <a:rPr lang="en-NZ" sz="1300" dirty="0"/>
              <a:t> Cross-references stock excess with seasonal calendars before recommending clearance.</a:t>
            </a:r>
          </a:p>
          <a:p>
            <a:pPr marL="285750" lvl="0" indent="-285750">
              <a:buFont typeface="Arial" panose="020B0604020202020204" pitchFamily="34" charset="0"/>
              <a:buChar char="•"/>
            </a:pPr>
            <a:r>
              <a:rPr lang="en-NZ" sz="1300" b="1" dirty="0"/>
              <a:t>Autonomous Draft &amp; Review:</a:t>
            </a:r>
            <a:r>
              <a:rPr lang="en-NZ" sz="1300" dirty="0"/>
              <a:t> Drafts precise store transfer and clearance plans with hard figures for human sign-off.</a:t>
            </a:r>
          </a:p>
        </p:txBody>
      </p:sp>
      <p:sp>
        <p:nvSpPr>
          <p:cNvPr id="19" name="Shape 14"/>
          <p:cNvSpPr/>
          <p:nvPr/>
        </p:nvSpPr>
        <p:spPr>
          <a:xfrm>
            <a:off x="5934456" y="2994660"/>
            <a:ext cx="329184" cy="457200"/>
          </a:xfrm>
          <a:prstGeom prst="rightArrow">
            <a:avLst/>
          </a:prstGeom>
          <a:solidFill>
            <a:srgbClr val="F2A900"/>
          </a:solidFill>
          <a:ln w="12700">
            <a:solidFill>
              <a:srgbClr val="F2A900"/>
            </a:solidFill>
            <a:prstDash val="solid"/>
          </a:ln>
        </p:spPr>
        <p:txBody>
          <a:bodyPr/>
          <a:lstStyle/>
          <a:p>
            <a:endParaRPr lang="en-NZ"/>
          </a:p>
        </p:txBody>
      </p:sp>
      <p:sp>
        <p:nvSpPr>
          <p:cNvPr id="20" name="Shape 15"/>
          <p:cNvSpPr/>
          <p:nvPr/>
        </p:nvSpPr>
        <p:spPr>
          <a:xfrm>
            <a:off x="548640" y="5257800"/>
            <a:ext cx="11091672" cy="868680"/>
          </a:xfrm>
          <a:prstGeom prst="roundRect">
            <a:avLst>
              <a:gd name="adj" fmla="val 10000"/>
            </a:avLst>
          </a:prstGeom>
          <a:solidFill>
            <a:srgbClr val="1F3864"/>
          </a:solidFill>
          <a:ln w="12700">
            <a:solidFill>
              <a:srgbClr val="1F3864"/>
            </a:solidFill>
            <a:prstDash val="solid"/>
          </a:ln>
        </p:spPr>
        <p:txBody>
          <a:bodyPr/>
          <a:lstStyle/>
          <a:p>
            <a:endParaRPr lang="en-NZ"/>
          </a:p>
        </p:txBody>
      </p:sp>
      <p:sp>
        <p:nvSpPr>
          <p:cNvPr id="21" name="Shape 16"/>
          <p:cNvSpPr/>
          <p:nvPr/>
        </p:nvSpPr>
        <p:spPr>
          <a:xfrm>
            <a:off x="822960" y="5399532"/>
            <a:ext cx="585216" cy="585216"/>
          </a:xfrm>
          <a:prstGeom prst="ellipse">
            <a:avLst/>
          </a:prstGeom>
          <a:solidFill>
            <a:srgbClr val="F2A900"/>
          </a:solidFill>
          <a:ln w="12700">
            <a:solidFill>
              <a:srgbClr val="F2A900"/>
            </a:solidFill>
            <a:prstDash val="solid"/>
          </a:ln>
        </p:spPr>
        <p:txBody>
          <a:bodyPr/>
          <a:lstStyle/>
          <a:p>
            <a:endParaRPr lang="en-NZ"/>
          </a:p>
        </p:txBody>
      </p:sp>
      <p:pic>
        <p:nvPicPr>
          <p:cNvPr id="22" name="Image 3" descr="preencoded.png"/>
          <p:cNvPicPr>
            <a:picLocks noChangeAspect="1"/>
          </p:cNvPicPr>
          <p:nvPr/>
        </p:nvPicPr>
        <p:blipFill>
          <a:blip r:embed="rId6"/>
          <a:stretch>
            <a:fillRect/>
          </a:stretch>
        </p:blipFill>
        <p:spPr>
          <a:xfrm>
            <a:off x="969264" y="5545836"/>
            <a:ext cx="292608" cy="292608"/>
          </a:xfrm>
          <a:prstGeom prst="rect">
            <a:avLst/>
          </a:prstGeom>
        </p:spPr>
      </p:pic>
      <p:sp>
        <p:nvSpPr>
          <p:cNvPr id="23" name="Text 17"/>
          <p:cNvSpPr txBox="1"/>
          <p:nvPr/>
        </p:nvSpPr>
        <p:spPr>
          <a:xfrm>
            <a:off x="1645920" y="5257800"/>
            <a:ext cx="9811512" cy="868680"/>
          </a:xfrm>
          <a:prstGeom prst="rect">
            <a:avLst/>
          </a:prstGeom>
          <a:noFill/>
          <a:ln/>
        </p:spPr>
        <p:txBody>
          <a:bodyPr wrap="square" lIns="0" tIns="0" rIns="0" bIns="0" rtlCol="0" anchor="ctr"/>
          <a:lstStyle/>
          <a:p>
            <a:r>
              <a:rPr lang="en-US" sz="1500" b="1" dirty="0">
                <a:solidFill>
                  <a:srgbClr val="F2A900"/>
                </a:solidFill>
                <a:latin typeface="Arial" pitchFamily="34" charset="0"/>
                <a:ea typeface="Arial" pitchFamily="34" charset="-122"/>
                <a:cs typeface="Arial" pitchFamily="34" charset="-120"/>
              </a:rPr>
              <a:t>Example: </a:t>
            </a:r>
            <a:r>
              <a:rPr lang="en-NZ" sz="1500" dirty="0">
                <a:solidFill>
                  <a:srgbClr val="FFFFFF"/>
                </a:solidFill>
                <a:latin typeface="Arial" pitchFamily="34" charset="0"/>
                <a:cs typeface="Arial" pitchFamily="34" charset="-120"/>
              </a:rPr>
              <a:t>The database shows massive excess in Power Tools, but the agent checks the seasonal calendar, sees a peak coming in two months, and reasons: "Do not clear; hold stock for seasonal demand".</a:t>
            </a:r>
            <a:endParaRPr lang="en-US" sz="1500" dirty="0"/>
          </a:p>
        </p:txBody>
      </p:sp>
      <p:sp>
        <p:nvSpPr>
          <p:cNvPr id="24" name="Rectangle 23"/>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Implemented architecture</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One agent with tools · read-only · every figure checked in code before the user sees it</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Navneet</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Solution Architect</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9</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1" name="Text 7"/>
          <p:cNvSpPr txBox="1"/>
          <p:nvPr/>
        </p:nvSpPr>
        <p:spPr>
          <a:xfrm>
            <a:off x="8229600" y="146304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Chat page</a:t>
            </a:r>
            <a:endParaRPr lang="en-US" sz="1250" dirty="0"/>
          </a:p>
        </p:txBody>
      </p:sp>
      <p:sp>
        <p:nvSpPr>
          <p:cNvPr id="12" name="Text 8"/>
          <p:cNvSpPr txBox="1"/>
          <p:nvPr/>
        </p:nvSpPr>
        <p:spPr>
          <a:xfrm>
            <a:off x="8229600" y="189280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Role sign-in; text, tables, charts, CSV and PDF</a:t>
            </a:r>
            <a:endParaRPr lang="en-US" sz="1050" dirty="0"/>
          </a:p>
        </p:txBody>
      </p:sp>
      <p:sp>
        <p:nvSpPr>
          <p:cNvPr id="13" name="Text 9"/>
          <p:cNvSpPr txBox="1"/>
          <p:nvPr/>
        </p:nvSpPr>
        <p:spPr>
          <a:xfrm>
            <a:off x="10012680" y="146304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Web app :8005</a:t>
            </a:r>
            <a:endParaRPr lang="en-US" sz="1250" dirty="0"/>
          </a:p>
        </p:txBody>
      </p:sp>
      <p:sp>
        <p:nvSpPr>
          <p:cNvPr id="14" name="Text 10"/>
          <p:cNvSpPr txBox="1"/>
          <p:nvPr/>
        </p:nvSpPr>
        <p:spPr>
          <a:xfrm>
            <a:off x="10012680" y="189280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Checks sign-in; private saved chats</a:t>
            </a:r>
            <a:endParaRPr lang="en-US" sz="1050" dirty="0"/>
          </a:p>
        </p:txBody>
      </p:sp>
      <p:sp>
        <p:nvSpPr>
          <p:cNvPr id="15" name="Text 11"/>
          <p:cNvSpPr txBox="1"/>
          <p:nvPr/>
        </p:nvSpPr>
        <p:spPr>
          <a:xfrm>
            <a:off x="8229600" y="246888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Agent service :8006</a:t>
            </a:r>
            <a:endParaRPr lang="en-US" sz="1250" dirty="0"/>
          </a:p>
        </p:txBody>
      </p:sp>
      <p:sp>
        <p:nvSpPr>
          <p:cNvPr id="16" name="Text 12"/>
          <p:cNvSpPr txBox="1"/>
          <p:nvPr/>
        </p:nvSpPr>
        <p:spPr>
          <a:xfrm>
            <a:off x="8229600" y="289864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Scope gate → tool loop (≤10 rounds) → answer verifier</a:t>
            </a:r>
            <a:endParaRPr lang="en-US" sz="1050" dirty="0"/>
          </a:p>
        </p:txBody>
      </p:sp>
      <p:sp>
        <p:nvSpPr>
          <p:cNvPr id="17" name="Text 13"/>
          <p:cNvSpPr txBox="1"/>
          <p:nvPr/>
        </p:nvSpPr>
        <p:spPr>
          <a:xfrm>
            <a:off x="10012680" y="246888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MCP tool servers</a:t>
            </a:r>
            <a:endParaRPr lang="en-US" sz="1250" dirty="0"/>
          </a:p>
        </p:txBody>
      </p:sp>
      <p:sp>
        <p:nvSpPr>
          <p:cNvPr id="18" name="Text 14"/>
          <p:cNvSpPr txBox="1"/>
          <p:nvPr/>
        </p:nvSpPr>
        <p:spPr>
          <a:xfrm>
            <a:off x="10012680" y="289864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3 servers, 17 tools, querying as that person</a:t>
            </a:r>
            <a:endParaRPr lang="en-US" sz="1050" dirty="0"/>
          </a:p>
        </p:txBody>
      </p:sp>
      <p:sp>
        <p:nvSpPr>
          <p:cNvPr id="19" name="Text 15"/>
          <p:cNvSpPr txBox="1"/>
          <p:nvPr/>
        </p:nvSpPr>
        <p:spPr>
          <a:xfrm>
            <a:off x="8229600" y="347472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Azure OpenAI</a:t>
            </a:r>
            <a:endParaRPr lang="en-US" sz="1250" dirty="0"/>
          </a:p>
        </p:txBody>
      </p:sp>
      <p:sp>
        <p:nvSpPr>
          <p:cNvPr id="20" name="Text 16"/>
          <p:cNvSpPr txBox="1"/>
          <p:nvPr/>
        </p:nvSpPr>
        <p:spPr>
          <a:xfrm>
            <a:off x="8229600" y="390448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gpt-5-mini; text-embedding-3-small</a:t>
            </a:r>
            <a:endParaRPr lang="en-US" sz="1050" dirty="0"/>
          </a:p>
        </p:txBody>
      </p:sp>
      <p:sp>
        <p:nvSpPr>
          <p:cNvPr id="21" name="Text 17"/>
          <p:cNvSpPr txBox="1"/>
          <p:nvPr/>
        </p:nvSpPr>
        <p:spPr>
          <a:xfrm>
            <a:off x="10012680" y="3474720"/>
            <a:ext cx="1645920" cy="411480"/>
          </a:xfrm>
          <a:prstGeom prst="rect">
            <a:avLst/>
          </a:prstGeom>
          <a:noFill/>
          <a:ln/>
        </p:spPr>
        <p:txBody>
          <a:bodyPr wrap="square" lIns="0" tIns="0" rIns="0" bIns="0" rtlCol="0" anchor="t"/>
          <a:lstStyle/>
          <a:p>
            <a:pPr marL="0" indent="0">
              <a:buNone/>
            </a:pPr>
            <a:r>
              <a:rPr lang="en-US" sz="1200" b="1" dirty="0">
                <a:solidFill>
                  <a:srgbClr val="1F3864"/>
                </a:solidFill>
                <a:latin typeface="Arial" pitchFamily="34" charset="0"/>
                <a:ea typeface="Arial" pitchFamily="34" charset="-122"/>
                <a:cs typeface="Arial" pitchFamily="34" charset="-120"/>
              </a:rPr>
              <a:t>PostgreSQL + pgvector</a:t>
            </a:r>
            <a:endParaRPr lang="en-US" sz="1250" dirty="0"/>
          </a:p>
        </p:txBody>
      </p:sp>
      <p:sp>
        <p:nvSpPr>
          <p:cNvPr id="22" name="Text 18"/>
          <p:cNvSpPr txBox="1"/>
          <p:nvPr/>
        </p:nvSpPr>
        <p:spPr>
          <a:xfrm>
            <a:off x="10012680" y="3904488"/>
            <a:ext cx="1645920" cy="548640"/>
          </a:xfrm>
          <a:prstGeom prst="rect">
            <a:avLst/>
          </a:prstGeom>
          <a:noFill/>
          <a:ln/>
        </p:spPr>
        <p:txBody>
          <a:bodyPr wrap="square" lIns="0" tIns="0" rIns="0" bIns="0" rtlCol="0" anchor="t"/>
          <a:lstStyle/>
          <a:p>
            <a:pPr marL="0" indent="0">
              <a:buNone/>
            </a:pPr>
            <a:r>
              <a:rPr lang="en-US" sz="1000" dirty="0">
                <a:solidFill>
                  <a:srgbClr val="222B3A"/>
                </a:solidFill>
                <a:latin typeface="Arial" pitchFamily="34" charset="0"/>
                <a:ea typeface="Arial" pitchFamily="34" charset="-122"/>
                <a:cs typeface="Arial" pitchFamily="34" charset="-120"/>
              </a:rPr>
              <a:t>Row-level security; read-only transactions</a:t>
            </a:r>
            <a:endParaRPr lang="en-US" sz="1050" dirty="0"/>
          </a:p>
        </p:txBody>
      </p:sp>
      <p:pic>
        <p:nvPicPr>
          <p:cNvPr id="26" name="Picture 25">
            <a:extLst>
              <a:ext uri="{FF2B5EF4-FFF2-40B4-BE49-F238E27FC236}">
                <a16:creationId xmlns:a16="http://schemas.microsoft.com/office/drawing/2014/main" id="{294521C9-AB12-11BC-308C-282BD6BBC604}"/>
              </a:ext>
            </a:extLst>
          </p:cNvPr>
          <p:cNvPicPr>
            <a:picLocks noChangeAspect="1"/>
          </p:cNvPicPr>
          <p:nvPr/>
        </p:nvPicPr>
        <p:blipFill>
          <a:blip r:embed="rId4"/>
          <a:stretch>
            <a:fillRect/>
          </a:stretch>
        </p:blipFill>
        <p:spPr>
          <a:xfrm>
            <a:off x="533400" y="1371600"/>
            <a:ext cx="7469623" cy="4648874"/>
          </a:xfrm>
          <a:prstGeom prst="rect">
            <a:avLst/>
          </a:prstGeom>
        </p:spPr>
      </p:pic>
      <p:sp>
        <p:nvSpPr>
          <p:cNvPr id="27" name="Rectangle 26"/>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Services, tools and key design decisions</a:t>
            </a:r>
            <a:endParaRPr lang="en-US" sz="28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Navneet</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Solution Architect</a:t>
            </a:r>
            <a:endParaRPr lang="en-US" sz="1200" dirty="0"/>
          </a:p>
        </p:txBody>
      </p:sp>
      <p:sp>
        <p:nvSpPr>
          <p:cNvPr id="7" name="Text 4"/>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10</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0" name="Shape 7"/>
          <p:cNvSpPr/>
          <p:nvPr/>
        </p:nvSpPr>
        <p:spPr>
          <a:xfrm>
            <a:off x="713232" y="1627632"/>
            <a:ext cx="548640" cy="548640"/>
          </a:xfrm>
          <a:prstGeom prst="ellipse">
            <a:avLst/>
          </a:prstGeom>
          <a:solidFill>
            <a:srgbClr val="2E75B6"/>
          </a:solidFill>
          <a:ln w="12700">
            <a:solidFill>
              <a:srgbClr val="2E75B6"/>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850392" y="1764792"/>
            <a:ext cx="274320" cy="274320"/>
          </a:xfrm>
          <a:prstGeom prst="rect">
            <a:avLst/>
          </a:prstGeom>
        </p:spPr>
      </p:pic>
      <p:sp>
        <p:nvSpPr>
          <p:cNvPr id="12" name="Text 8"/>
          <p:cNvSpPr txBox="1"/>
          <p:nvPr/>
        </p:nvSpPr>
        <p:spPr>
          <a:xfrm>
            <a:off x="1389888" y="1508760"/>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PostgreSQL 17 + pgvector</a:t>
            </a:r>
            <a:endParaRPr lang="en-US" sz="1250" dirty="0"/>
          </a:p>
        </p:txBody>
      </p:sp>
      <p:sp>
        <p:nvSpPr>
          <p:cNvPr id="13" name="Text 9"/>
          <p:cNvSpPr txBox="1"/>
          <p:nvPr/>
        </p:nvSpPr>
        <p:spPr>
          <a:xfrm>
            <a:off x="1389888" y="1874520"/>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Data, product vectors, row-level security</a:t>
            </a:r>
            <a:endParaRPr lang="en-US" sz="1050" dirty="0"/>
          </a:p>
        </p:txBody>
      </p:sp>
      <p:sp>
        <p:nvSpPr>
          <p:cNvPr id="14" name="Shape 10"/>
          <p:cNvSpPr/>
          <p:nvPr/>
        </p:nvSpPr>
        <p:spPr>
          <a:xfrm>
            <a:off x="3794760" y="1371600"/>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5" name="Shape 11"/>
          <p:cNvSpPr/>
          <p:nvPr/>
        </p:nvSpPr>
        <p:spPr>
          <a:xfrm>
            <a:off x="3959352" y="1627632"/>
            <a:ext cx="548640" cy="548640"/>
          </a:xfrm>
          <a:prstGeom prst="ellipse">
            <a:avLst/>
          </a:prstGeom>
          <a:solidFill>
            <a:srgbClr val="2E75B6"/>
          </a:solidFill>
          <a:ln w="12700">
            <a:solidFill>
              <a:srgbClr val="2E75B6"/>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4096512" y="1764792"/>
            <a:ext cx="274320" cy="274320"/>
          </a:xfrm>
          <a:prstGeom prst="rect">
            <a:avLst/>
          </a:prstGeom>
        </p:spPr>
      </p:pic>
      <p:sp>
        <p:nvSpPr>
          <p:cNvPr id="17" name="Text 12"/>
          <p:cNvSpPr txBox="1"/>
          <p:nvPr/>
        </p:nvSpPr>
        <p:spPr>
          <a:xfrm>
            <a:off x="4636008" y="1737360"/>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Azure OpenAI gpt-5-mini</a:t>
            </a:r>
            <a:endParaRPr lang="en-US" sz="1250" dirty="0"/>
          </a:p>
        </p:txBody>
      </p:sp>
      <p:sp>
        <p:nvSpPr>
          <p:cNvPr id="18" name="Text 13"/>
          <p:cNvSpPr txBox="1"/>
          <p:nvPr/>
        </p:nvSpPr>
        <p:spPr>
          <a:xfrm>
            <a:off x="4636008" y="1874520"/>
            <a:ext cx="2194560" cy="502920"/>
          </a:xfrm>
          <a:prstGeom prst="rect">
            <a:avLst/>
          </a:prstGeom>
          <a:noFill/>
          <a:ln/>
        </p:spPr>
        <p:txBody>
          <a:bodyPr wrap="square" lIns="0" tIns="0" rIns="0" bIns="0" rtlCol="0" anchor="t"/>
          <a:lstStyle/>
          <a:p>
            <a:pPr marL="0" indent="0">
              <a:buNone/>
            </a:pPr>
            <a:endParaRPr lang="en-US" sz="1050" dirty="0"/>
          </a:p>
        </p:txBody>
      </p:sp>
      <p:sp>
        <p:nvSpPr>
          <p:cNvPr id="19" name="Shape 14"/>
          <p:cNvSpPr/>
          <p:nvPr/>
        </p:nvSpPr>
        <p:spPr>
          <a:xfrm>
            <a:off x="548640" y="2587752"/>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0" name="Shape 15"/>
          <p:cNvSpPr/>
          <p:nvPr/>
        </p:nvSpPr>
        <p:spPr>
          <a:xfrm>
            <a:off x="713232" y="2843784"/>
            <a:ext cx="548640" cy="548640"/>
          </a:xfrm>
          <a:prstGeom prst="ellipse">
            <a:avLst/>
          </a:prstGeom>
          <a:solidFill>
            <a:srgbClr val="2E75B6"/>
          </a:solidFill>
          <a:ln w="12700">
            <a:solidFill>
              <a:srgbClr val="2E75B6"/>
            </a:solidFill>
            <a:prstDash val="solid"/>
          </a:ln>
        </p:spPr>
        <p:txBody>
          <a:bodyPr/>
          <a:lstStyle/>
          <a:p>
            <a:endParaRPr lang="en-NZ"/>
          </a:p>
        </p:txBody>
      </p:sp>
      <p:pic>
        <p:nvPicPr>
          <p:cNvPr id="21" name="Image 3" descr="preencoded.png"/>
          <p:cNvPicPr>
            <a:picLocks noChangeAspect="1"/>
          </p:cNvPicPr>
          <p:nvPr/>
        </p:nvPicPr>
        <p:blipFill>
          <a:blip r:embed="rId6"/>
          <a:stretch>
            <a:fillRect/>
          </a:stretch>
        </p:blipFill>
        <p:spPr>
          <a:xfrm>
            <a:off x="850392" y="2980944"/>
            <a:ext cx="274320" cy="274320"/>
          </a:xfrm>
          <a:prstGeom prst="rect">
            <a:avLst/>
          </a:prstGeom>
        </p:spPr>
      </p:pic>
      <p:sp>
        <p:nvSpPr>
          <p:cNvPr id="22" name="Text 16"/>
          <p:cNvSpPr txBox="1"/>
          <p:nvPr/>
        </p:nvSpPr>
        <p:spPr>
          <a:xfrm>
            <a:off x="1389888" y="2724912"/>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text-embedding-3-small</a:t>
            </a:r>
            <a:endParaRPr lang="en-US" sz="1250" dirty="0"/>
          </a:p>
        </p:txBody>
      </p:sp>
      <p:sp>
        <p:nvSpPr>
          <p:cNvPr id="23" name="Text 17"/>
          <p:cNvSpPr txBox="1"/>
          <p:nvPr/>
        </p:nvSpPr>
        <p:spPr>
          <a:xfrm>
            <a:off x="1389888" y="3090672"/>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Product search by meaning</a:t>
            </a:r>
            <a:endParaRPr lang="en-US" sz="1050" dirty="0"/>
          </a:p>
        </p:txBody>
      </p:sp>
      <p:sp>
        <p:nvSpPr>
          <p:cNvPr id="24" name="Shape 18"/>
          <p:cNvSpPr/>
          <p:nvPr/>
        </p:nvSpPr>
        <p:spPr>
          <a:xfrm>
            <a:off x="3794760" y="2587752"/>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Shape 19"/>
          <p:cNvSpPr/>
          <p:nvPr/>
        </p:nvSpPr>
        <p:spPr>
          <a:xfrm>
            <a:off x="3959352" y="2843784"/>
            <a:ext cx="548640" cy="548640"/>
          </a:xfrm>
          <a:prstGeom prst="ellipse">
            <a:avLst/>
          </a:prstGeom>
          <a:solidFill>
            <a:srgbClr val="2E75B6"/>
          </a:solidFill>
          <a:ln w="12700">
            <a:solidFill>
              <a:srgbClr val="2E75B6"/>
            </a:solidFill>
            <a:prstDash val="solid"/>
          </a:ln>
        </p:spPr>
        <p:txBody>
          <a:bodyPr/>
          <a:lstStyle/>
          <a:p>
            <a:endParaRPr lang="en-NZ"/>
          </a:p>
        </p:txBody>
      </p:sp>
      <p:pic>
        <p:nvPicPr>
          <p:cNvPr id="26" name="Image 4" descr="preencoded.png"/>
          <p:cNvPicPr>
            <a:picLocks noChangeAspect="1"/>
          </p:cNvPicPr>
          <p:nvPr/>
        </p:nvPicPr>
        <p:blipFill>
          <a:blip r:embed="rId7"/>
          <a:stretch>
            <a:fillRect/>
          </a:stretch>
        </p:blipFill>
        <p:spPr>
          <a:xfrm>
            <a:off x="4096512" y="2980944"/>
            <a:ext cx="274320" cy="274320"/>
          </a:xfrm>
          <a:prstGeom prst="rect">
            <a:avLst/>
          </a:prstGeom>
        </p:spPr>
      </p:pic>
      <p:sp>
        <p:nvSpPr>
          <p:cNvPr id="27" name="Text 20"/>
          <p:cNvSpPr txBox="1"/>
          <p:nvPr/>
        </p:nvSpPr>
        <p:spPr>
          <a:xfrm>
            <a:off x="4636008" y="2724912"/>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Python MCP SDK</a:t>
            </a:r>
            <a:endParaRPr lang="en-US" sz="1250" dirty="0"/>
          </a:p>
        </p:txBody>
      </p:sp>
      <p:sp>
        <p:nvSpPr>
          <p:cNvPr id="28" name="Text 21"/>
          <p:cNvSpPr txBox="1"/>
          <p:nvPr/>
        </p:nvSpPr>
        <p:spPr>
          <a:xfrm>
            <a:off x="4636008" y="3090672"/>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3 servers, 17 tested SQL tools</a:t>
            </a:r>
            <a:endParaRPr lang="en-US" sz="1050" dirty="0"/>
          </a:p>
        </p:txBody>
      </p:sp>
      <p:sp>
        <p:nvSpPr>
          <p:cNvPr id="29" name="Shape 22"/>
          <p:cNvSpPr/>
          <p:nvPr/>
        </p:nvSpPr>
        <p:spPr>
          <a:xfrm>
            <a:off x="548640" y="3803904"/>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0" name="Shape 23"/>
          <p:cNvSpPr/>
          <p:nvPr/>
        </p:nvSpPr>
        <p:spPr>
          <a:xfrm>
            <a:off x="713232" y="4059936"/>
            <a:ext cx="548640" cy="548640"/>
          </a:xfrm>
          <a:prstGeom prst="ellipse">
            <a:avLst/>
          </a:prstGeom>
          <a:solidFill>
            <a:srgbClr val="2E75B6"/>
          </a:solidFill>
          <a:ln w="12700">
            <a:solidFill>
              <a:srgbClr val="2E75B6"/>
            </a:solidFill>
            <a:prstDash val="solid"/>
          </a:ln>
        </p:spPr>
        <p:txBody>
          <a:bodyPr/>
          <a:lstStyle/>
          <a:p>
            <a:endParaRPr lang="en-NZ"/>
          </a:p>
        </p:txBody>
      </p:sp>
      <p:pic>
        <p:nvPicPr>
          <p:cNvPr id="31" name="Image 5" descr="preencoded.png"/>
          <p:cNvPicPr>
            <a:picLocks noChangeAspect="1"/>
          </p:cNvPicPr>
          <p:nvPr/>
        </p:nvPicPr>
        <p:blipFill>
          <a:blip r:embed="rId8"/>
          <a:stretch>
            <a:fillRect/>
          </a:stretch>
        </p:blipFill>
        <p:spPr>
          <a:xfrm>
            <a:off x="850392" y="4197096"/>
            <a:ext cx="274320" cy="274320"/>
          </a:xfrm>
          <a:prstGeom prst="rect">
            <a:avLst/>
          </a:prstGeom>
        </p:spPr>
      </p:pic>
      <p:sp>
        <p:nvSpPr>
          <p:cNvPr id="32" name="Text 24"/>
          <p:cNvSpPr txBox="1"/>
          <p:nvPr/>
        </p:nvSpPr>
        <p:spPr>
          <a:xfrm>
            <a:off x="1389888" y="3941064"/>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FastAPI + Uvicorn</a:t>
            </a:r>
            <a:endParaRPr lang="en-US" sz="1250" dirty="0"/>
          </a:p>
        </p:txBody>
      </p:sp>
      <p:sp>
        <p:nvSpPr>
          <p:cNvPr id="33" name="Text 25"/>
          <p:cNvSpPr txBox="1"/>
          <p:nvPr/>
        </p:nvSpPr>
        <p:spPr>
          <a:xfrm>
            <a:off x="1389888" y="4306824"/>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Agent service and web app; streams answers</a:t>
            </a:r>
            <a:endParaRPr lang="en-US" sz="1050" dirty="0"/>
          </a:p>
        </p:txBody>
      </p:sp>
      <p:sp>
        <p:nvSpPr>
          <p:cNvPr id="39" name="Shape 30"/>
          <p:cNvSpPr/>
          <p:nvPr/>
        </p:nvSpPr>
        <p:spPr>
          <a:xfrm>
            <a:off x="548640" y="5020056"/>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0" name="Shape 31"/>
          <p:cNvSpPr/>
          <p:nvPr/>
        </p:nvSpPr>
        <p:spPr>
          <a:xfrm>
            <a:off x="713232" y="5276088"/>
            <a:ext cx="548640" cy="548640"/>
          </a:xfrm>
          <a:prstGeom prst="ellipse">
            <a:avLst/>
          </a:prstGeom>
          <a:solidFill>
            <a:srgbClr val="2E75B6"/>
          </a:solidFill>
          <a:ln w="12700">
            <a:solidFill>
              <a:srgbClr val="2E75B6"/>
            </a:solidFill>
            <a:prstDash val="solid"/>
          </a:ln>
        </p:spPr>
        <p:txBody>
          <a:bodyPr/>
          <a:lstStyle/>
          <a:p>
            <a:endParaRPr lang="en-NZ"/>
          </a:p>
        </p:txBody>
      </p:sp>
      <p:pic>
        <p:nvPicPr>
          <p:cNvPr id="41" name="Image 7" descr="preencoded.png"/>
          <p:cNvPicPr>
            <a:picLocks noChangeAspect="1"/>
          </p:cNvPicPr>
          <p:nvPr/>
        </p:nvPicPr>
        <p:blipFill>
          <a:blip r:embed="rId9"/>
          <a:stretch>
            <a:fillRect/>
          </a:stretch>
        </p:blipFill>
        <p:spPr>
          <a:xfrm>
            <a:off x="850392" y="5413248"/>
            <a:ext cx="274320" cy="274320"/>
          </a:xfrm>
          <a:prstGeom prst="rect">
            <a:avLst/>
          </a:prstGeom>
        </p:spPr>
      </p:pic>
      <p:sp>
        <p:nvSpPr>
          <p:cNvPr id="42" name="Text 32"/>
          <p:cNvSpPr txBox="1"/>
          <p:nvPr/>
        </p:nvSpPr>
        <p:spPr>
          <a:xfrm>
            <a:off x="1389888" y="5157216"/>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Answer verifier</a:t>
            </a:r>
            <a:endParaRPr lang="en-US" sz="1250" dirty="0"/>
          </a:p>
        </p:txBody>
      </p:sp>
      <p:sp>
        <p:nvSpPr>
          <p:cNvPr id="43" name="Text 33"/>
          <p:cNvSpPr txBox="1"/>
          <p:nvPr/>
        </p:nvSpPr>
        <p:spPr>
          <a:xfrm>
            <a:off x="1389888" y="5522976"/>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Checks figures, codes, scope and arithmetic</a:t>
            </a:r>
            <a:endParaRPr lang="en-US" sz="1050" dirty="0"/>
          </a:p>
        </p:txBody>
      </p:sp>
      <p:sp>
        <p:nvSpPr>
          <p:cNvPr id="44" name="Shape 34"/>
          <p:cNvSpPr/>
          <p:nvPr/>
        </p:nvSpPr>
        <p:spPr>
          <a:xfrm>
            <a:off x="3794760" y="3790072"/>
            <a:ext cx="3108960" cy="1078992"/>
          </a:xfrm>
          <a:prstGeom prst="roundRect">
            <a:avLst>
              <a:gd name="adj" fmla="val 10169"/>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5" name="Shape 35"/>
          <p:cNvSpPr/>
          <p:nvPr/>
        </p:nvSpPr>
        <p:spPr>
          <a:xfrm>
            <a:off x="3959352" y="4046104"/>
            <a:ext cx="548640" cy="548640"/>
          </a:xfrm>
          <a:prstGeom prst="ellipse">
            <a:avLst/>
          </a:prstGeom>
          <a:solidFill>
            <a:srgbClr val="2E75B6"/>
          </a:solidFill>
          <a:ln w="12700">
            <a:solidFill>
              <a:srgbClr val="2E75B6"/>
            </a:solidFill>
            <a:prstDash val="solid"/>
          </a:ln>
        </p:spPr>
        <p:txBody>
          <a:bodyPr/>
          <a:lstStyle/>
          <a:p>
            <a:endParaRPr lang="en-NZ"/>
          </a:p>
        </p:txBody>
      </p:sp>
      <p:pic>
        <p:nvPicPr>
          <p:cNvPr id="46" name="Image 8" descr="preencoded.png"/>
          <p:cNvPicPr>
            <a:picLocks noChangeAspect="1"/>
          </p:cNvPicPr>
          <p:nvPr/>
        </p:nvPicPr>
        <p:blipFill>
          <a:blip r:embed="rId10"/>
          <a:stretch>
            <a:fillRect/>
          </a:stretch>
        </p:blipFill>
        <p:spPr>
          <a:xfrm>
            <a:off x="4096512" y="4183264"/>
            <a:ext cx="274320" cy="274320"/>
          </a:xfrm>
          <a:prstGeom prst="rect">
            <a:avLst/>
          </a:prstGeom>
        </p:spPr>
      </p:pic>
      <p:sp>
        <p:nvSpPr>
          <p:cNvPr id="47" name="Text 36"/>
          <p:cNvSpPr txBox="1"/>
          <p:nvPr/>
        </p:nvSpPr>
        <p:spPr>
          <a:xfrm>
            <a:off x="4636008" y="3927232"/>
            <a:ext cx="2194560" cy="365760"/>
          </a:xfrm>
          <a:prstGeom prst="rect">
            <a:avLst/>
          </a:prstGeom>
          <a:noFill/>
          <a:ln/>
        </p:spPr>
        <p:txBody>
          <a:bodyPr wrap="square" lIns="0" tIns="0" rIns="0" bIns="0" rtlCol="0" anchor="t"/>
          <a:lstStyle/>
          <a:p>
            <a:pPr marL="0" indent="0">
              <a:buNone/>
            </a:pPr>
            <a:r>
              <a:rPr lang="en-US" sz="1250" b="1" dirty="0">
                <a:solidFill>
                  <a:srgbClr val="1F3864"/>
                </a:solidFill>
                <a:latin typeface="Arial" pitchFamily="34" charset="0"/>
                <a:ea typeface="Arial" pitchFamily="34" charset="-122"/>
                <a:cs typeface="Arial" pitchFamily="34" charset="-120"/>
              </a:rPr>
              <a:t>SQLite + vanilla JS</a:t>
            </a:r>
            <a:endParaRPr lang="en-US" sz="1250" dirty="0"/>
          </a:p>
        </p:txBody>
      </p:sp>
      <p:sp>
        <p:nvSpPr>
          <p:cNvPr id="48" name="Text 37"/>
          <p:cNvSpPr txBox="1"/>
          <p:nvPr/>
        </p:nvSpPr>
        <p:spPr>
          <a:xfrm>
            <a:off x="4636008" y="4292992"/>
            <a:ext cx="2194560" cy="502920"/>
          </a:xfrm>
          <a:prstGeom prst="rect">
            <a:avLst/>
          </a:prstGeom>
          <a:noFill/>
          <a:ln/>
        </p:spPr>
        <p:txBody>
          <a:bodyPr wrap="square" lIns="0" tIns="0" rIns="0" bIns="0" rtlCol="0" anchor="t"/>
          <a:lstStyle/>
          <a:p>
            <a:pPr marL="0" indent="0">
              <a:buNone/>
            </a:pPr>
            <a:r>
              <a:rPr lang="en-US" sz="1050" dirty="0">
                <a:solidFill>
                  <a:srgbClr val="222B3A"/>
                </a:solidFill>
                <a:latin typeface="Arial" pitchFamily="34" charset="0"/>
                <a:ea typeface="Arial" pitchFamily="34" charset="-122"/>
                <a:cs typeface="Arial" pitchFamily="34" charset="-120"/>
              </a:rPr>
              <a:t>Private saved chats; safe Markdown chat page</a:t>
            </a:r>
            <a:endParaRPr lang="en-US" sz="1050" dirty="0"/>
          </a:p>
        </p:txBody>
      </p:sp>
      <p:sp>
        <p:nvSpPr>
          <p:cNvPr id="49" name="Shape 38"/>
          <p:cNvSpPr/>
          <p:nvPr/>
        </p:nvSpPr>
        <p:spPr>
          <a:xfrm>
            <a:off x="7269480" y="1371600"/>
            <a:ext cx="4370832" cy="3063240"/>
          </a:xfrm>
          <a:prstGeom prst="roundRect">
            <a:avLst>
              <a:gd name="adj" fmla="val 2510"/>
            </a:avLst>
          </a:prstGeom>
          <a:solidFill>
            <a:srgbClr val="1F3864"/>
          </a:solidFill>
          <a:ln w="12700">
            <a:solidFill>
              <a:srgbClr val="1F3864"/>
            </a:solidFill>
            <a:prstDash val="solid"/>
          </a:ln>
        </p:spPr>
        <p:txBody>
          <a:bodyPr/>
          <a:lstStyle/>
          <a:p>
            <a:endParaRPr lang="en-NZ"/>
          </a:p>
        </p:txBody>
      </p:sp>
      <p:sp>
        <p:nvSpPr>
          <p:cNvPr id="50" name="Text 39"/>
          <p:cNvSpPr txBox="1"/>
          <p:nvPr/>
        </p:nvSpPr>
        <p:spPr>
          <a:xfrm>
            <a:off x="7543800" y="1508760"/>
            <a:ext cx="3822192" cy="320040"/>
          </a:xfrm>
          <a:prstGeom prst="rect">
            <a:avLst/>
          </a:prstGeom>
          <a:noFill/>
          <a:ln/>
        </p:spPr>
        <p:txBody>
          <a:bodyPr wrap="square" lIns="0" tIns="0" rIns="0" bIns="0" rtlCol="0" anchor="t"/>
          <a:lstStyle/>
          <a:p>
            <a:pPr marL="0" indent="0">
              <a:buNone/>
            </a:pPr>
            <a:r>
              <a:rPr lang="en-US" sz="1200" b="1" kern="0" spc="100" dirty="0">
                <a:solidFill>
                  <a:srgbClr val="F2A900"/>
                </a:solidFill>
                <a:latin typeface="Arial" pitchFamily="34" charset="0"/>
                <a:ea typeface="Arial" pitchFamily="34" charset="-122"/>
                <a:cs typeface="Arial" pitchFamily="34" charset="-120"/>
              </a:rPr>
              <a:t>KEY DESIGN DECISIONS</a:t>
            </a:r>
            <a:endParaRPr lang="en-US" sz="1200" dirty="0"/>
          </a:p>
        </p:txBody>
      </p:sp>
      <p:sp>
        <p:nvSpPr>
          <p:cNvPr id="51" name="Text 40"/>
          <p:cNvSpPr txBox="1"/>
          <p:nvPr/>
        </p:nvSpPr>
        <p:spPr>
          <a:xfrm>
            <a:off x="7543800" y="1874519"/>
            <a:ext cx="3867912" cy="2514600"/>
          </a:xfrm>
          <a:prstGeom prst="rect">
            <a:avLst/>
          </a:prstGeom>
          <a:noFill/>
          <a:ln/>
        </p:spPr>
        <p:txBody>
          <a:bodyPr wrap="square" lIns="0" tIns="0" rIns="0" bIns="0" rtlCol="0" anchor="t"/>
          <a:lstStyle/>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One agent with tools, not a multi-agent fleet</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Rules enforced in code, not prompts</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Access control inside the database</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All arithmetic through a calculate tool</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Data access through the MCP open standard</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Tools take store names, so ids cannot be guessed</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Read-only by design</a:t>
            </a:r>
            <a:endParaRPr lang="en-US" sz="1350" dirty="0"/>
          </a:p>
          <a:p>
            <a:pPr marL="342900" indent="-342900">
              <a:spcAft>
                <a:spcPts val="700"/>
              </a:spcAft>
              <a:buSzPct val="100000"/>
              <a:buChar char="▸"/>
            </a:pPr>
            <a:r>
              <a:rPr lang="en-US" sz="1200" dirty="0">
                <a:solidFill>
                  <a:srgbClr val="FFFFFF"/>
                </a:solidFill>
                <a:latin typeface="Arial" pitchFamily="34" charset="0"/>
                <a:ea typeface="Arial" pitchFamily="34" charset="-122"/>
                <a:cs typeface="Arial" pitchFamily="34" charset="-120"/>
              </a:rPr>
              <a:t>Small, low-latency model</a:t>
            </a:r>
            <a:endParaRPr lang="en-US" sz="1350" dirty="0"/>
          </a:p>
        </p:txBody>
      </p:sp>
      <p:sp>
        <p:nvSpPr>
          <p:cNvPr id="52" name="Rectangle 51"/>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How one question is answered</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Every stage has its own control</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11</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Shape 8"/>
          <p:cNvSpPr/>
          <p:nvPr/>
        </p:nvSpPr>
        <p:spPr>
          <a:xfrm>
            <a:off x="777240" y="153619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12" name="Image 1" descr="preencoded.png"/>
          <p:cNvPicPr>
            <a:picLocks noChangeAspect="1"/>
          </p:cNvPicPr>
          <p:nvPr/>
        </p:nvPicPr>
        <p:blipFill>
          <a:blip r:embed="rId4"/>
          <a:stretch>
            <a:fillRect/>
          </a:stretch>
        </p:blipFill>
        <p:spPr>
          <a:xfrm>
            <a:off x="902970" y="1661922"/>
            <a:ext cx="251460" cy="251460"/>
          </a:xfrm>
          <a:prstGeom prst="rect">
            <a:avLst/>
          </a:prstGeom>
        </p:spPr>
      </p:pic>
      <p:sp>
        <p:nvSpPr>
          <p:cNvPr id="13" name="Text 9"/>
          <p:cNvSpPr txBox="1"/>
          <p:nvPr/>
        </p:nvSpPr>
        <p:spPr>
          <a:xfrm>
            <a:off x="2377440"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01</a:t>
            </a:r>
            <a:endParaRPr lang="en-US" sz="2200" dirty="0"/>
          </a:p>
        </p:txBody>
      </p:sp>
      <p:sp>
        <p:nvSpPr>
          <p:cNvPr id="14" name="Text 10"/>
          <p:cNvSpPr txBox="1"/>
          <p:nvPr/>
        </p:nvSpPr>
        <p:spPr>
          <a:xfrm>
            <a:off x="777240"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Sign in</a:t>
            </a:r>
            <a:endParaRPr lang="en-US" sz="1500" dirty="0"/>
          </a:p>
        </p:txBody>
      </p:sp>
      <p:sp>
        <p:nvSpPr>
          <p:cNvPr id="15" name="Text 11"/>
          <p:cNvSpPr txBox="1"/>
          <p:nvPr/>
        </p:nvSpPr>
        <p:spPr>
          <a:xfrm>
            <a:off x="777240"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Role and access code; chat saved privately</a:t>
            </a:r>
            <a:endParaRPr lang="en-US" sz="1150" dirty="0"/>
          </a:p>
        </p:txBody>
      </p:sp>
      <p:sp>
        <p:nvSpPr>
          <p:cNvPr id="16" name="Shape 12"/>
          <p:cNvSpPr/>
          <p:nvPr/>
        </p:nvSpPr>
        <p:spPr>
          <a:xfrm>
            <a:off x="3172968" y="1938528"/>
            <a:ext cx="182880" cy="292608"/>
          </a:xfrm>
          <a:prstGeom prst="rightArrow">
            <a:avLst/>
          </a:prstGeom>
          <a:solidFill>
            <a:srgbClr val="F2A900"/>
          </a:solidFill>
          <a:ln w="12700">
            <a:solidFill>
              <a:srgbClr val="F2A900"/>
            </a:solidFill>
            <a:prstDash val="solid"/>
          </a:ln>
        </p:spPr>
        <p:txBody>
          <a:bodyPr/>
          <a:lstStyle/>
          <a:p>
            <a:endParaRPr lang="en-NZ"/>
          </a:p>
        </p:txBody>
      </p:sp>
      <p:sp>
        <p:nvSpPr>
          <p:cNvPr id="17" name="Shape 13"/>
          <p:cNvSpPr/>
          <p:nvPr/>
        </p:nvSpPr>
        <p:spPr>
          <a:xfrm>
            <a:off x="3374136"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8" name="Shape 14"/>
          <p:cNvSpPr/>
          <p:nvPr/>
        </p:nvSpPr>
        <p:spPr>
          <a:xfrm>
            <a:off x="3602736" y="1536192"/>
            <a:ext cx="502920" cy="502920"/>
          </a:xfrm>
          <a:prstGeom prst="ellipse">
            <a:avLst/>
          </a:prstGeom>
          <a:solidFill>
            <a:srgbClr val="1F3864"/>
          </a:solidFill>
          <a:ln w="12700">
            <a:solidFill>
              <a:srgbClr val="1F3864"/>
            </a:solidFill>
            <a:prstDash val="solid"/>
          </a:ln>
        </p:spPr>
        <p:txBody>
          <a:bodyPr/>
          <a:lstStyle/>
          <a:p>
            <a:endParaRPr lang="en-NZ"/>
          </a:p>
        </p:txBody>
      </p:sp>
      <p:pic>
        <p:nvPicPr>
          <p:cNvPr id="19" name="Image 2" descr="preencoded.png"/>
          <p:cNvPicPr>
            <a:picLocks noChangeAspect="1"/>
          </p:cNvPicPr>
          <p:nvPr/>
        </p:nvPicPr>
        <p:blipFill>
          <a:blip r:embed="rId5"/>
          <a:stretch>
            <a:fillRect/>
          </a:stretch>
        </p:blipFill>
        <p:spPr>
          <a:xfrm>
            <a:off x="3728465" y="1661922"/>
            <a:ext cx="251460" cy="251460"/>
          </a:xfrm>
          <a:prstGeom prst="rect">
            <a:avLst/>
          </a:prstGeom>
        </p:spPr>
      </p:pic>
      <p:sp>
        <p:nvSpPr>
          <p:cNvPr id="20" name="Text 15"/>
          <p:cNvSpPr txBox="1"/>
          <p:nvPr/>
        </p:nvSpPr>
        <p:spPr>
          <a:xfrm>
            <a:off x="5202936"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02</a:t>
            </a:r>
            <a:endParaRPr lang="en-US" sz="2200" dirty="0"/>
          </a:p>
        </p:txBody>
      </p:sp>
      <p:sp>
        <p:nvSpPr>
          <p:cNvPr id="21" name="Text 16"/>
          <p:cNvSpPr txBox="1"/>
          <p:nvPr/>
        </p:nvSpPr>
        <p:spPr>
          <a:xfrm>
            <a:off x="3602736"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Identity</a:t>
            </a:r>
            <a:endParaRPr lang="en-US" sz="1500" dirty="0"/>
          </a:p>
        </p:txBody>
      </p:sp>
      <p:sp>
        <p:nvSpPr>
          <p:cNvPr id="22" name="Text 17"/>
          <p:cNvSpPr txBox="1"/>
          <p:nvPr/>
        </p:nvSpPr>
        <p:spPr>
          <a:xfrm>
            <a:off x="3602736"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Access list → stores; runs as that person</a:t>
            </a:r>
            <a:endParaRPr lang="en-US" sz="1150" dirty="0"/>
          </a:p>
        </p:txBody>
      </p:sp>
      <p:sp>
        <p:nvSpPr>
          <p:cNvPr id="23" name="Shape 18"/>
          <p:cNvSpPr/>
          <p:nvPr/>
        </p:nvSpPr>
        <p:spPr>
          <a:xfrm>
            <a:off x="5998464" y="1938528"/>
            <a:ext cx="182880" cy="292608"/>
          </a:xfrm>
          <a:prstGeom prst="rightArrow">
            <a:avLst/>
          </a:prstGeom>
          <a:solidFill>
            <a:srgbClr val="F2A900"/>
          </a:solidFill>
          <a:ln w="12700">
            <a:solidFill>
              <a:srgbClr val="F2A900"/>
            </a:solidFill>
            <a:prstDash val="solid"/>
          </a:ln>
        </p:spPr>
        <p:txBody>
          <a:bodyPr/>
          <a:lstStyle/>
          <a:p>
            <a:endParaRPr lang="en-NZ"/>
          </a:p>
        </p:txBody>
      </p:sp>
      <p:sp>
        <p:nvSpPr>
          <p:cNvPr id="24" name="Shape 19"/>
          <p:cNvSpPr/>
          <p:nvPr/>
        </p:nvSpPr>
        <p:spPr>
          <a:xfrm>
            <a:off x="6199632"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Shape 20"/>
          <p:cNvSpPr/>
          <p:nvPr/>
        </p:nvSpPr>
        <p:spPr>
          <a:xfrm>
            <a:off x="6428232" y="1536192"/>
            <a:ext cx="502920" cy="502920"/>
          </a:xfrm>
          <a:prstGeom prst="ellipse">
            <a:avLst/>
          </a:prstGeom>
          <a:solidFill>
            <a:srgbClr val="1F3864"/>
          </a:solidFill>
          <a:ln w="12700">
            <a:solidFill>
              <a:srgbClr val="1F3864"/>
            </a:solidFill>
            <a:prstDash val="solid"/>
          </a:ln>
        </p:spPr>
        <p:txBody>
          <a:bodyPr/>
          <a:lstStyle/>
          <a:p>
            <a:endParaRPr lang="en-NZ"/>
          </a:p>
        </p:txBody>
      </p:sp>
      <p:pic>
        <p:nvPicPr>
          <p:cNvPr id="26" name="Image 3" descr="preencoded.png"/>
          <p:cNvPicPr>
            <a:picLocks noChangeAspect="1"/>
          </p:cNvPicPr>
          <p:nvPr/>
        </p:nvPicPr>
        <p:blipFill>
          <a:blip r:embed="rId6"/>
          <a:stretch>
            <a:fillRect/>
          </a:stretch>
        </p:blipFill>
        <p:spPr>
          <a:xfrm>
            <a:off x="6553962" y="1661922"/>
            <a:ext cx="251460" cy="251460"/>
          </a:xfrm>
          <a:prstGeom prst="rect">
            <a:avLst/>
          </a:prstGeom>
        </p:spPr>
      </p:pic>
      <p:sp>
        <p:nvSpPr>
          <p:cNvPr id="27" name="Text 21"/>
          <p:cNvSpPr txBox="1"/>
          <p:nvPr/>
        </p:nvSpPr>
        <p:spPr>
          <a:xfrm>
            <a:off x="8028432"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03</a:t>
            </a:r>
            <a:endParaRPr lang="en-US" sz="2200" dirty="0"/>
          </a:p>
        </p:txBody>
      </p:sp>
      <p:sp>
        <p:nvSpPr>
          <p:cNvPr id="28" name="Text 22"/>
          <p:cNvSpPr txBox="1"/>
          <p:nvPr/>
        </p:nvSpPr>
        <p:spPr>
          <a:xfrm>
            <a:off x="6428232"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Scope gate</a:t>
            </a:r>
            <a:endParaRPr lang="en-US" sz="1500" dirty="0"/>
          </a:p>
        </p:txBody>
      </p:sp>
      <p:sp>
        <p:nvSpPr>
          <p:cNvPr id="29" name="Text 23"/>
          <p:cNvSpPr txBox="1"/>
          <p:nvPr/>
        </p:nvSpPr>
        <p:spPr>
          <a:xfrm>
            <a:off x="6428232"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Unrelated questions declined first</a:t>
            </a:r>
            <a:endParaRPr lang="en-US" sz="1150" dirty="0"/>
          </a:p>
        </p:txBody>
      </p:sp>
      <p:sp>
        <p:nvSpPr>
          <p:cNvPr id="30" name="Shape 24"/>
          <p:cNvSpPr/>
          <p:nvPr/>
        </p:nvSpPr>
        <p:spPr>
          <a:xfrm>
            <a:off x="8823960" y="1938528"/>
            <a:ext cx="182880" cy="292608"/>
          </a:xfrm>
          <a:prstGeom prst="rightArrow">
            <a:avLst/>
          </a:prstGeom>
          <a:solidFill>
            <a:srgbClr val="F2A900"/>
          </a:solidFill>
          <a:ln w="12700">
            <a:solidFill>
              <a:srgbClr val="F2A900"/>
            </a:solidFill>
            <a:prstDash val="solid"/>
          </a:ln>
        </p:spPr>
        <p:txBody>
          <a:bodyPr/>
          <a:lstStyle/>
          <a:p>
            <a:endParaRPr lang="en-NZ"/>
          </a:p>
        </p:txBody>
      </p:sp>
      <p:sp>
        <p:nvSpPr>
          <p:cNvPr id="31" name="Shape 25"/>
          <p:cNvSpPr/>
          <p:nvPr/>
        </p:nvSpPr>
        <p:spPr>
          <a:xfrm>
            <a:off x="9025128" y="137160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2" name="Shape 26"/>
          <p:cNvSpPr/>
          <p:nvPr/>
        </p:nvSpPr>
        <p:spPr>
          <a:xfrm>
            <a:off x="9253728" y="153619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33" name="Image 4" descr="preencoded.png"/>
          <p:cNvPicPr>
            <a:picLocks noChangeAspect="1"/>
          </p:cNvPicPr>
          <p:nvPr/>
        </p:nvPicPr>
        <p:blipFill>
          <a:blip r:embed="rId7"/>
          <a:stretch>
            <a:fillRect/>
          </a:stretch>
        </p:blipFill>
        <p:spPr>
          <a:xfrm>
            <a:off x="9379457" y="1661922"/>
            <a:ext cx="251460" cy="251460"/>
          </a:xfrm>
          <a:prstGeom prst="rect">
            <a:avLst/>
          </a:prstGeom>
        </p:spPr>
      </p:pic>
      <p:sp>
        <p:nvSpPr>
          <p:cNvPr id="34" name="Text 27"/>
          <p:cNvSpPr txBox="1"/>
          <p:nvPr/>
        </p:nvSpPr>
        <p:spPr>
          <a:xfrm>
            <a:off x="10853928" y="153619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04</a:t>
            </a:r>
            <a:endParaRPr lang="en-US" sz="2200" dirty="0"/>
          </a:p>
        </p:txBody>
      </p:sp>
      <p:sp>
        <p:nvSpPr>
          <p:cNvPr id="35" name="Text 28"/>
          <p:cNvSpPr txBox="1"/>
          <p:nvPr/>
        </p:nvSpPr>
        <p:spPr>
          <a:xfrm>
            <a:off x="9253728" y="2103120"/>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Tool loop</a:t>
            </a:r>
            <a:endParaRPr lang="en-US" sz="1500" dirty="0"/>
          </a:p>
        </p:txBody>
      </p:sp>
      <p:sp>
        <p:nvSpPr>
          <p:cNvPr id="36" name="Text 29"/>
          <p:cNvSpPr txBox="1"/>
          <p:nvPr/>
        </p:nvSpPr>
        <p:spPr>
          <a:xfrm>
            <a:off x="9253728" y="239572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Model picks tools, ≤10 rounds; read-only SQL</a:t>
            </a:r>
            <a:endParaRPr lang="en-US" sz="1150" dirty="0"/>
          </a:p>
        </p:txBody>
      </p:sp>
      <p:sp>
        <p:nvSpPr>
          <p:cNvPr id="37" name="Shape 30"/>
          <p:cNvSpPr/>
          <p:nvPr/>
        </p:nvSpPr>
        <p:spPr>
          <a:xfrm>
            <a:off x="9025128" y="301752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8" name="Shape 31"/>
          <p:cNvSpPr/>
          <p:nvPr/>
        </p:nvSpPr>
        <p:spPr>
          <a:xfrm>
            <a:off x="9253728" y="318211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39" name="Image 5" descr="preencoded.png"/>
          <p:cNvPicPr>
            <a:picLocks noChangeAspect="1"/>
          </p:cNvPicPr>
          <p:nvPr/>
        </p:nvPicPr>
        <p:blipFill>
          <a:blip r:embed="rId8"/>
          <a:stretch>
            <a:fillRect/>
          </a:stretch>
        </p:blipFill>
        <p:spPr>
          <a:xfrm>
            <a:off x="9379457" y="3307842"/>
            <a:ext cx="251460" cy="251460"/>
          </a:xfrm>
          <a:prstGeom prst="rect">
            <a:avLst/>
          </a:prstGeom>
        </p:spPr>
      </p:pic>
      <p:sp>
        <p:nvSpPr>
          <p:cNvPr id="40" name="Text 32"/>
          <p:cNvSpPr txBox="1"/>
          <p:nvPr/>
        </p:nvSpPr>
        <p:spPr>
          <a:xfrm>
            <a:off x="10853928"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05</a:t>
            </a:r>
            <a:endParaRPr lang="en-US" sz="2200" dirty="0"/>
          </a:p>
        </p:txBody>
      </p:sp>
      <p:sp>
        <p:nvSpPr>
          <p:cNvPr id="41" name="Text 33"/>
          <p:cNvSpPr txBox="1"/>
          <p:nvPr/>
        </p:nvSpPr>
        <p:spPr>
          <a:xfrm>
            <a:off x="9253728"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Draft</a:t>
            </a:r>
            <a:endParaRPr lang="en-US" sz="1500" dirty="0"/>
          </a:p>
        </p:txBody>
      </p:sp>
      <p:sp>
        <p:nvSpPr>
          <p:cNvPr id="42" name="Text 34"/>
          <p:cNvSpPr txBox="1"/>
          <p:nvPr/>
        </p:nvSpPr>
        <p:spPr>
          <a:xfrm>
            <a:off x="9253728"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Starts with a Scope line: stores, metric, dates</a:t>
            </a:r>
            <a:endParaRPr lang="en-US" sz="1150" dirty="0"/>
          </a:p>
        </p:txBody>
      </p:sp>
      <p:sp>
        <p:nvSpPr>
          <p:cNvPr id="43" name="Shape 35"/>
          <p:cNvSpPr/>
          <p:nvPr/>
        </p:nvSpPr>
        <p:spPr>
          <a:xfrm>
            <a:off x="8823960" y="3584448"/>
            <a:ext cx="182880" cy="292608"/>
          </a:xfrm>
          <a:prstGeom prst="leftArrow">
            <a:avLst/>
          </a:prstGeom>
          <a:solidFill>
            <a:srgbClr val="F2A900"/>
          </a:solidFill>
          <a:ln w="12700">
            <a:solidFill>
              <a:srgbClr val="F2A900"/>
            </a:solidFill>
            <a:prstDash val="solid"/>
          </a:ln>
        </p:spPr>
        <p:txBody>
          <a:bodyPr/>
          <a:lstStyle/>
          <a:p>
            <a:endParaRPr lang="en-NZ"/>
          </a:p>
        </p:txBody>
      </p:sp>
      <p:sp>
        <p:nvSpPr>
          <p:cNvPr id="44" name="Shape 36"/>
          <p:cNvSpPr/>
          <p:nvPr/>
        </p:nvSpPr>
        <p:spPr>
          <a:xfrm>
            <a:off x="6199632" y="3017520"/>
            <a:ext cx="2606040" cy="1417320"/>
          </a:xfrm>
          <a:prstGeom prst="roundRect">
            <a:avLst>
              <a:gd name="adj" fmla="val 5854"/>
            </a:avLst>
          </a:prstGeom>
          <a:solidFill>
            <a:srgbClr val="FFFFFF"/>
          </a:solidFill>
          <a:ln w="19050">
            <a:solidFill>
              <a:srgbClr val="F2A900"/>
            </a:solidFill>
            <a:prstDash val="solid"/>
          </a:ln>
          <a:effectLst>
            <a:outerShdw blurRad="101600" dist="25400" dir="5400000" algn="bl" rotWithShape="0">
              <a:srgbClr val="1F3864">
                <a:alpha val="12000"/>
              </a:srgbClr>
            </a:outerShdw>
          </a:effectLst>
        </p:spPr>
        <p:txBody>
          <a:bodyPr/>
          <a:lstStyle/>
          <a:p>
            <a:endParaRPr lang="en-NZ"/>
          </a:p>
        </p:txBody>
      </p:sp>
      <p:sp>
        <p:nvSpPr>
          <p:cNvPr id="45" name="Shape 37"/>
          <p:cNvSpPr/>
          <p:nvPr/>
        </p:nvSpPr>
        <p:spPr>
          <a:xfrm>
            <a:off x="6428232" y="3182112"/>
            <a:ext cx="502920" cy="502920"/>
          </a:xfrm>
          <a:prstGeom prst="ellipse">
            <a:avLst/>
          </a:prstGeom>
          <a:solidFill>
            <a:srgbClr val="C55A11"/>
          </a:solidFill>
          <a:ln w="12700">
            <a:solidFill>
              <a:srgbClr val="C55A11"/>
            </a:solidFill>
            <a:prstDash val="solid"/>
          </a:ln>
        </p:spPr>
        <p:txBody>
          <a:bodyPr/>
          <a:lstStyle/>
          <a:p>
            <a:endParaRPr lang="en-NZ"/>
          </a:p>
        </p:txBody>
      </p:sp>
      <p:pic>
        <p:nvPicPr>
          <p:cNvPr id="46" name="Image 6" descr="preencoded.png"/>
          <p:cNvPicPr>
            <a:picLocks noChangeAspect="1"/>
          </p:cNvPicPr>
          <p:nvPr/>
        </p:nvPicPr>
        <p:blipFill>
          <a:blip r:embed="rId9"/>
          <a:stretch>
            <a:fillRect/>
          </a:stretch>
        </p:blipFill>
        <p:spPr>
          <a:xfrm>
            <a:off x="6553962" y="3307842"/>
            <a:ext cx="251460" cy="251460"/>
          </a:xfrm>
          <a:prstGeom prst="rect">
            <a:avLst/>
          </a:prstGeom>
        </p:spPr>
      </p:pic>
      <p:sp>
        <p:nvSpPr>
          <p:cNvPr id="47" name="Text 38"/>
          <p:cNvSpPr txBox="1"/>
          <p:nvPr/>
        </p:nvSpPr>
        <p:spPr>
          <a:xfrm>
            <a:off x="8028432"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06</a:t>
            </a:r>
            <a:endParaRPr lang="en-US" sz="2200" dirty="0"/>
          </a:p>
        </p:txBody>
      </p:sp>
      <p:sp>
        <p:nvSpPr>
          <p:cNvPr id="48" name="Text 39"/>
          <p:cNvSpPr txBox="1"/>
          <p:nvPr/>
        </p:nvSpPr>
        <p:spPr>
          <a:xfrm>
            <a:off x="6428232"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Verify</a:t>
            </a:r>
            <a:endParaRPr lang="en-US" sz="1500" dirty="0"/>
          </a:p>
        </p:txBody>
      </p:sp>
      <p:sp>
        <p:nvSpPr>
          <p:cNvPr id="49" name="Text 40"/>
          <p:cNvSpPr txBox="1"/>
          <p:nvPr/>
        </p:nvSpPr>
        <p:spPr>
          <a:xfrm>
            <a:off x="6428232"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Figures, codes, scope, maths; ≤2 rewrites</a:t>
            </a:r>
            <a:endParaRPr lang="en-US" sz="1150" dirty="0"/>
          </a:p>
        </p:txBody>
      </p:sp>
      <p:sp>
        <p:nvSpPr>
          <p:cNvPr id="50" name="Shape 41"/>
          <p:cNvSpPr/>
          <p:nvPr/>
        </p:nvSpPr>
        <p:spPr>
          <a:xfrm>
            <a:off x="5998464" y="3584448"/>
            <a:ext cx="182880" cy="292608"/>
          </a:xfrm>
          <a:prstGeom prst="leftArrow">
            <a:avLst/>
          </a:prstGeom>
          <a:solidFill>
            <a:srgbClr val="F2A900"/>
          </a:solidFill>
          <a:ln w="12700">
            <a:solidFill>
              <a:srgbClr val="F2A900"/>
            </a:solidFill>
            <a:prstDash val="solid"/>
          </a:ln>
        </p:spPr>
        <p:txBody>
          <a:bodyPr/>
          <a:lstStyle/>
          <a:p>
            <a:endParaRPr lang="en-NZ"/>
          </a:p>
        </p:txBody>
      </p:sp>
      <p:sp>
        <p:nvSpPr>
          <p:cNvPr id="51" name="Shape 42"/>
          <p:cNvSpPr/>
          <p:nvPr/>
        </p:nvSpPr>
        <p:spPr>
          <a:xfrm>
            <a:off x="3374136" y="301752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52" name="Shape 43"/>
          <p:cNvSpPr/>
          <p:nvPr/>
        </p:nvSpPr>
        <p:spPr>
          <a:xfrm>
            <a:off x="3602736" y="318211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53" name="Image 7" descr="preencoded.png"/>
          <p:cNvPicPr>
            <a:picLocks noChangeAspect="1"/>
          </p:cNvPicPr>
          <p:nvPr/>
        </p:nvPicPr>
        <p:blipFill>
          <a:blip r:embed="rId10"/>
          <a:stretch>
            <a:fillRect/>
          </a:stretch>
        </p:blipFill>
        <p:spPr>
          <a:xfrm>
            <a:off x="3728465" y="3307842"/>
            <a:ext cx="251460" cy="251460"/>
          </a:xfrm>
          <a:prstGeom prst="rect">
            <a:avLst/>
          </a:prstGeom>
        </p:spPr>
      </p:pic>
      <p:sp>
        <p:nvSpPr>
          <p:cNvPr id="54" name="Text 44"/>
          <p:cNvSpPr txBox="1"/>
          <p:nvPr/>
        </p:nvSpPr>
        <p:spPr>
          <a:xfrm>
            <a:off x="5202936"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07</a:t>
            </a:r>
            <a:endParaRPr lang="en-US" sz="2200" dirty="0"/>
          </a:p>
        </p:txBody>
      </p:sp>
      <p:sp>
        <p:nvSpPr>
          <p:cNvPr id="55" name="Text 45"/>
          <p:cNvSpPr txBox="1"/>
          <p:nvPr/>
        </p:nvSpPr>
        <p:spPr>
          <a:xfrm>
            <a:off x="3602736"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Deliver</a:t>
            </a:r>
            <a:endParaRPr lang="en-US" sz="1500" dirty="0"/>
          </a:p>
        </p:txBody>
      </p:sp>
      <p:sp>
        <p:nvSpPr>
          <p:cNvPr id="56" name="Text 46"/>
          <p:cNvSpPr txBox="1"/>
          <p:nvPr/>
        </p:nvSpPr>
        <p:spPr>
          <a:xfrm>
            <a:off x="3602736"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Text, tables, charts, CSV / PDF; drafts only</a:t>
            </a:r>
            <a:endParaRPr lang="en-US" sz="1150" dirty="0"/>
          </a:p>
        </p:txBody>
      </p:sp>
      <p:sp>
        <p:nvSpPr>
          <p:cNvPr id="57" name="Shape 47"/>
          <p:cNvSpPr/>
          <p:nvPr/>
        </p:nvSpPr>
        <p:spPr>
          <a:xfrm>
            <a:off x="3172968" y="3584448"/>
            <a:ext cx="182880" cy="292608"/>
          </a:xfrm>
          <a:prstGeom prst="leftArrow">
            <a:avLst/>
          </a:prstGeom>
          <a:solidFill>
            <a:srgbClr val="F2A900"/>
          </a:solidFill>
          <a:ln w="12700">
            <a:solidFill>
              <a:srgbClr val="F2A900"/>
            </a:solidFill>
            <a:prstDash val="solid"/>
          </a:ln>
        </p:spPr>
        <p:txBody>
          <a:bodyPr/>
          <a:lstStyle/>
          <a:p>
            <a:endParaRPr lang="en-NZ"/>
          </a:p>
        </p:txBody>
      </p:sp>
      <p:sp>
        <p:nvSpPr>
          <p:cNvPr id="58" name="Shape 48"/>
          <p:cNvSpPr/>
          <p:nvPr/>
        </p:nvSpPr>
        <p:spPr>
          <a:xfrm>
            <a:off x="548640" y="3017520"/>
            <a:ext cx="2606040" cy="1417320"/>
          </a:xfrm>
          <a:prstGeom prst="roundRect">
            <a:avLst>
              <a:gd name="adj" fmla="val 5854"/>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59" name="Shape 49"/>
          <p:cNvSpPr/>
          <p:nvPr/>
        </p:nvSpPr>
        <p:spPr>
          <a:xfrm>
            <a:off x="777240" y="3182112"/>
            <a:ext cx="502920" cy="502920"/>
          </a:xfrm>
          <a:prstGeom prst="ellipse">
            <a:avLst/>
          </a:prstGeom>
          <a:solidFill>
            <a:srgbClr val="2E75B6"/>
          </a:solidFill>
          <a:ln w="12700">
            <a:solidFill>
              <a:srgbClr val="2E75B6"/>
            </a:solidFill>
            <a:prstDash val="solid"/>
          </a:ln>
        </p:spPr>
        <p:txBody>
          <a:bodyPr/>
          <a:lstStyle/>
          <a:p>
            <a:endParaRPr lang="en-NZ"/>
          </a:p>
        </p:txBody>
      </p:sp>
      <p:pic>
        <p:nvPicPr>
          <p:cNvPr id="60" name="Image 8" descr="preencoded.png"/>
          <p:cNvPicPr>
            <a:picLocks noChangeAspect="1"/>
          </p:cNvPicPr>
          <p:nvPr/>
        </p:nvPicPr>
        <p:blipFill>
          <a:blip r:embed="rId11"/>
          <a:stretch>
            <a:fillRect/>
          </a:stretch>
        </p:blipFill>
        <p:spPr>
          <a:xfrm>
            <a:off x="902970" y="3307842"/>
            <a:ext cx="251460" cy="251460"/>
          </a:xfrm>
          <a:prstGeom prst="rect">
            <a:avLst/>
          </a:prstGeom>
        </p:spPr>
      </p:pic>
      <p:sp>
        <p:nvSpPr>
          <p:cNvPr id="61" name="Text 50"/>
          <p:cNvSpPr txBox="1"/>
          <p:nvPr/>
        </p:nvSpPr>
        <p:spPr>
          <a:xfrm>
            <a:off x="2377440" y="3182112"/>
            <a:ext cx="54864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08</a:t>
            </a:r>
            <a:endParaRPr lang="en-US" sz="2200" dirty="0"/>
          </a:p>
        </p:txBody>
      </p:sp>
      <p:sp>
        <p:nvSpPr>
          <p:cNvPr id="62" name="Text 51"/>
          <p:cNvSpPr txBox="1"/>
          <p:nvPr/>
        </p:nvSpPr>
        <p:spPr>
          <a:xfrm>
            <a:off x="777240" y="3749039"/>
            <a:ext cx="2240280" cy="301752"/>
          </a:xfrm>
          <a:prstGeom prst="rect">
            <a:avLst/>
          </a:prstGeom>
          <a:noFill/>
          <a:ln/>
        </p:spPr>
        <p:txBody>
          <a:bodyPr wrap="square" lIns="0" tIns="0" rIns="0" bIns="0" rtlCol="0" anchor="t"/>
          <a:lstStyle/>
          <a:p>
            <a:pPr marL="0" indent="0">
              <a:buNone/>
            </a:pPr>
            <a:r>
              <a:rPr lang="en-US" sz="1500" b="1" dirty="0">
                <a:solidFill>
                  <a:srgbClr val="1F3864"/>
                </a:solidFill>
                <a:latin typeface="Arial" pitchFamily="34" charset="0"/>
                <a:ea typeface="Arial" pitchFamily="34" charset="-122"/>
                <a:cs typeface="Arial" pitchFamily="34" charset="-120"/>
              </a:rPr>
              <a:t>Audit</a:t>
            </a:r>
            <a:endParaRPr lang="en-US" sz="1500" dirty="0"/>
          </a:p>
        </p:txBody>
      </p:sp>
      <p:sp>
        <p:nvSpPr>
          <p:cNvPr id="63" name="Text 52"/>
          <p:cNvSpPr txBox="1"/>
          <p:nvPr/>
        </p:nvSpPr>
        <p:spPr>
          <a:xfrm>
            <a:off x="777240" y="4041648"/>
            <a:ext cx="2194560" cy="384048"/>
          </a:xfrm>
          <a:prstGeom prst="rect">
            <a:avLst/>
          </a:prstGeom>
          <a:noFill/>
          <a:ln/>
        </p:spPr>
        <p:txBody>
          <a:bodyPr wrap="square" lIns="0" tIns="0" rIns="0" bIns="0" rtlCol="0" anchor="t"/>
          <a:lstStyle/>
          <a:p>
            <a:pPr marL="0" indent="0">
              <a:buNone/>
            </a:pPr>
            <a:r>
              <a:rPr lang="en-US" sz="1100" dirty="0">
                <a:solidFill>
                  <a:srgbClr val="222B3A"/>
                </a:solidFill>
                <a:latin typeface="Arial" pitchFamily="34" charset="0"/>
                <a:ea typeface="Arial" pitchFamily="34" charset="-122"/>
                <a:cs typeface="Arial" pitchFamily="34" charset="-120"/>
              </a:rPr>
              <a:t>Question, answer, tools and checks logged</a:t>
            </a:r>
            <a:endParaRPr lang="en-US" sz="1150" dirty="0"/>
          </a:p>
        </p:txBody>
      </p:sp>
      <p:sp>
        <p:nvSpPr>
          <p:cNvPr id="64" name="Shape 53"/>
          <p:cNvSpPr/>
          <p:nvPr/>
        </p:nvSpPr>
        <p:spPr>
          <a:xfrm>
            <a:off x="10181844" y="2807208"/>
            <a:ext cx="274320" cy="201168"/>
          </a:xfrm>
          <a:prstGeom prst="downArrow">
            <a:avLst/>
          </a:prstGeom>
          <a:solidFill>
            <a:srgbClr val="F2A900"/>
          </a:solidFill>
          <a:ln w="12700">
            <a:solidFill>
              <a:srgbClr val="F2A900"/>
            </a:solidFill>
            <a:prstDash val="solid"/>
          </a:ln>
        </p:spPr>
        <p:txBody>
          <a:bodyPr/>
          <a:lstStyle/>
          <a:p>
            <a:endParaRPr lang="en-NZ"/>
          </a:p>
        </p:txBody>
      </p:sp>
      <p:sp>
        <p:nvSpPr>
          <p:cNvPr id="65" name="Rounded Rectangle 64"/>
          <p:cNvSpPr/>
          <p:nvPr/>
        </p:nvSpPr>
        <p:spPr>
          <a:xfrm>
            <a:off x="7045452" y="2916936"/>
            <a:ext cx="914400" cy="201168"/>
          </a:xfrm>
          <a:prstGeom prst="roundRect">
            <a:avLst>
              <a:gd name="adj" fmla="val 50000"/>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7045452" y="2916936"/>
            <a:ext cx="914400" cy="201168"/>
          </a:xfrm>
          <a:prstGeom prst="rect">
            <a:avLst/>
          </a:prstGeom>
          <a:noFill/>
        </p:spPr>
        <p:txBody>
          <a:bodyPr wrap="square" lIns="0" rIns="0" tIns="0" bIns="0" anchor="ctr">
            <a:spAutoFit/>
          </a:bodyPr>
          <a:lstStyle/>
          <a:p>
            <a:pPr algn="ctr">
              <a:spcAft>
                <a:spcPts val="0"/>
              </a:spcAft>
            </a:pPr>
            <a:r>
              <a:rPr sz="850" b="1" spc="100">
                <a:solidFill>
                  <a:srgbClr val="1F3864"/>
                </a:solidFill>
                <a:latin typeface="Arial"/>
              </a:rPr>
              <a:t>KEY STEP</a:t>
            </a:r>
          </a:p>
        </p:txBody>
      </p:sp>
      <p:sp>
        <p:nvSpPr>
          <p:cNvPr id="67" name="Rounded Rectangle 66"/>
          <p:cNvSpPr/>
          <p:nvPr/>
        </p:nvSpPr>
        <p:spPr>
          <a:xfrm>
            <a:off x="548640" y="4709160"/>
            <a:ext cx="11109960" cy="1554480"/>
          </a:xfrm>
          <a:prstGeom prst="roundRect">
            <a:avLst>
              <a:gd name="adj" fmla="val 8235"/>
            </a:avLst>
          </a:prstGeom>
          <a:solidFill>
            <a:srgbClr val="1F3864"/>
          </a:solidFill>
          <a:ln>
            <a:no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822960" y="4873752"/>
            <a:ext cx="7315200" cy="237744"/>
          </a:xfrm>
          <a:prstGeom prst="rect">
            <a:avLst/>
          </a:prstGeom>
          <a:noFill/>
        </p:spPr>
        <p:txBody>
          <a:bodyPr wrap="square" lIns="0" rIns="0" tIns="0" bIns="0" anchor="ctr">
            <a:spAutoFit/>
          </a:bodyPr>
          <a:lstStyle/>
          <a:p>
            <a:pPr algn="l">
              <a:spcAft>
                <a:spcPts val="0"/>
              </a:spcAft>
            </a:pPr>
            <a:r>
              <a:rPr sz="1000" b="1" spc="150">
                <a:solidFill>
                  <a:srgbClr val="F2A900"/>
                </a:solidFill>
                <a:latin typeface="Arial"/>
              </a:rPr>
              <a:t>WHAT SITS BEHIND THE EIGHT STAGES</a:t>
            </a:r>
          </a:p>
        </p:txBody>
      </p:sp>
      <p:sp>
        <p:nvSpPr>
          <p:cNvPr id="69" name="TextBox 68"/>
          <p:cNvSpPr txBox="1"/>
          <p:nvPr/>
        </p:nvSpPr>
        <p:spPr>
          <a:xfrm>
            <a:off x="82296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17</a:t>
            </a:r>
          </a:p>
        </p:txBody>
      </p:sp>
      <p:sp>
        <p:nvSpPr>
          <p:cNvPr id="70" name="TextBox 69"/>
          <p:cNvSpPr txBox="1"/>
          <p:nvPr/>
        </p:nvSpPr>
        <p:spPr>
          <a:xfrm>
            <a:off x="822960" y="5669280"/>
            <a:ext cx="2320290" cy="54864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tested tools on 3 MCP servers, each run as the signed-in person</a:t>
            </a:r>
          </a:p>
        </p:txBody>
      </p:sp>
      <p:sp>
        <p:nvSpPr>
          <p:cNvPr id="71" name="Rectangle 70"/>
          <p:cNvSpPr/>
          <p:nvPr/>
        </p:nvSpPr>
        <p:spPr>
          <a:xfrm>
            <a:off x="3298698" y="5212080"/>
            <a:ext cx="9525" cy="86868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346329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 10</a:t>
            </a:r>
          </a:p>
        </p:txBody>
      </p:sp>
      <p:sp>
        <p:nvSpPr>
          <p:cNvPr id="73" name="TextBox 72"/>
          <p:cNvSpPr txBox="1"/>
          <p:nvPr/>
        </p:nvSpPr>
        <p:spPr>
          <a:xfrm>
            <a:off x="3463290" y="5669280"/>
            <a:ext cx="2320290" cy="54864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tool rounds per question; read-only SQL, personal details refused</a:t>
            </a:r>
          </a:p>
        </p:txBody>
      </p:sp>
      <p:sp>
        <p:nvSpPr>
          <p:cNvPr id="74" name="Rectangle 73"/>
          <p:cNvSpPr/>
          <p:nvPr/>
        </p:nvSpPr>
        <p:spPr>
          <a:xfrm>
            <a:off x="5939028" y="5212080"/>
            <a:ext cx="9525" cy="86868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610362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 2</a:t>
            </a:r>
          </a:p>
        </p:txBody>
      </p:sp>
      <p:sp>
        <p:nvSpPr>
          <p:cNvPr id="76" name="TextBox 75"/>
          <p:cNvSpPr txBox="1"/>
          <p:nvPr/>
        </p:nvSpPr>
        <p:spPr>
          <a:xfrm>
            <a:off x="6103620" y="5669280"/>
            <a:ext cx="2320290" cy="54864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rewrites if a figure or claim is unsupported, then a visible note</a:t>
            </a:r>
          </a:p>
        </p:txBody>
      </p:sp>
      <p:sp>
        <p:nvSpPr>
          <p:cNvPr id="77" name="Rectangle 76"/>
          <p:cNvSpPr/>
          <p:nvPr/>
        </p:nvSpPr>
        <p:spPr>
          <a:xfrm>
            <a:off x="8579358" y="5212080"/>
            <a:ext cx="9525" cy="86868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8" name="TextBox 77"/>
          <p:cNvSpPr txBox="1"/>
          <p:nvPr/>
        </p:nvSpPr>
        <p:spPr>
          <a:xfrm>
            <a:off x="8743950" y="5166360"/>
            <a:ext cx="232029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8</a:t>
            </a:r>
          </a:p>
        </p:txBody>
      </p:sp>
      <p:sp>
        <p:nvSpPr>
          <p:cNvPr id="79" name="TextBox 78"/>
          <p:cNvSpPr txBox="1"/>
          <p:nvPr/>
        </p:nvSpPr>
        <p:spPr>
          <a:xfrm>
            <a:off x="8743950" y="5669280"/>
            <a:ext cx="2320290" cy="54864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stages logged for audit: question, answer, tools, checks</a:t>
            </a:r>
          </a:p>
        </p:txBody>
      </p:sp>
      <p:sp>
        <p:nvSpPr>
          <p:cNvPr id="80" name="Rectangle 79"/>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Evaluation results</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Final run 25/10/2026 · rerun after every change</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12</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graphicFrame>
        <p:nvGraphicFramePr>
          <p:cNvPr id="10" name="Chart 0"/>
          <p:cNvGraphicFramePr/>
          <p:nvPr>
            <p:extLst>
              <p:ext uri="{D42A27DB-BD31-4B8C-83A1-F6EECF244321}">
                <p14:modId xmlns:p14="http://schemas.microsoft.com/office/powerpoint/2010/main" val="3882169217"/>
              </p:ext>
            </p:extLst>
          </p:nvPr>
        </p:nvGraphicFramePr>
        <p:xfrm>
          <a:off x="548640" y="1371600"/>
          <a:ext cx="420624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11" name="Text 7"/>
          <p:cNvSpPr txBox="1"/>
          <p:nvPr/>
        </p:nvSpPr>
        <p:spPr>
          <a:xfrm>
            <a:off x="548640" y="2788920"/>
            <a:ext cx="4206240" cy="640080"/>
          </a:xfrm>
          <a:prstGeom prst="rect">
            <a:avLst/>
          </a:prstGeom>
          <a:noFill/>
          <a:ln/>
        </p:spPr>
        <p:txBody>
          <a:bodyPr wrap="square" lIns="0" tIns="0" rIns="0" bIns="0" rtlCol="0" anchor="t"/>
          <a:lstStyle/>
          <a:p>
            <a:pPr marL="0" indent="0" algn="ctr">
              <a:buNone/>
            </a:pPr>
            <a:r>
              <a:rPr lang="en-US" sz="3400" b="1" dirty="0">
                <a:solidFill>
                  <a:srgbClr val="1F3864"/>
                </a:solidFill>
                <a:latin typeface="Arial" pitchFamily="34" charset="0"/>
                <a:ea typeface="Arial" pitchFamily="34" charset="-122"/>
                <a:cs typeface="Arial" pitchFamily="34" charset="-120"/>
              </a:rPr>
              <a:t>73 / 75</a:t>
            </a:r>
            <a:endParaRPr lang="en-US" sz="3400" dirty="0"/>
          </a:p>
        </p:txBody>
      </p:sp>
      <p:sp>
        <p:nvSpPr>
          <p:cNvPr id="12" name="Text 8"/>
          <p:cNvSpPr txBox="1"/>
          <p:nvPr/>
        </p:nvSpPr>
        <p:spPr>
          <a:xfrm>
            <a:off x="548640" y="3383280"/>
            <a:ext cx="4206240" cy="365760"/>
          </a:xfrm>
          <a:prstGeom prst="rect">
            <a:avLst/>
          </a:prstGeom>
          <a:noFill/>
          <a:ln/>
        </p:spPr>
        <p:txBody>
          <a:bodyPr wrap="square" lIns="0" tIns="0" rIns="0" bIns="0" rtlCol="0" anchor="t"/>
          <a:lstStyle/>
          <a:p>
            <a:pPr marL="0" indent="0" algn="ctr">
              <a:buNone/>
            </a:pPr>
            <a:r>
              <a:rPr lang="en-US" sz="1400" dirty="0">
                <a:solidFill>
                  <a:srgbClr val="5F6B7A"/>
                </a:solidFill>
                <a:latin typeface="Arial" pitchFamily="34" charset="0"/>
                <a:ea typeface="Arial" pitchFamily="34" charset="-122"/>
                <a:cs typeface="Arial" pitchFamily="34" charset="-120"/>
              </a:rPr>
              <a:t>97.3% passed</a:t>
            </a:r>
            <a:endParaRPr lang="en-US" sz="1400" dirty="0"/>
          </a:p>
        </p:txBody>
      </p:sp>
      <p:sp>
        <p:nvSpPr>
          <p:cNvPr id="13" name="Shape 9"/>
          <p:cNvSpPr/>
          <p:nvPr/>
        </p:nvSpPr>
        <p:spPr>
          <a:xfrm>
            <a:off x="5074920" y="137160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4" name="Text 10"/>
          <p:cNvSpPr txBox="1"/>
          <p:nvPr/>
        </p:nvSpPr>
        <p:spPr>
          <a:xfrm>
            <a:off x="5257800" y="1463040"/>
            <a:ext cx="1737360" cy="502920"/>
          </a:xfrm>
          <a:prstGeom prst="rect">
            <a:avLst/>
          </a:prstGeom>
          <a:noFill/>
          <a:ln/>
        </p:spPr>
        <p:txBody>
          <a:bodyPr wrap="square" lIns="0" tIns="0" rIns="0" bIns="0" rtlCol="0" anchor="t"/>
          <a:lstStyle/>
          <a:p>
            <a:pPr marL="0" indent="0">
              <a:buNone/>
            </a:pPr>
            <a:r>
              <a:rPr lang="en-US" sz="2600" b="1" dirty="0">
                <a:solidFill>
                  <a:srgbClr val="548235"/>
                </a:solidFill>
                <a:latin typeface="Arial" pitchFamily="34" charset="0"/>
                <a:ea typeface="Arial" pitchFamily="34" charset="-122"/>
                <a:cs typeface="Arial" pitchFamily="34" charset="-120"/>
              </a:rPr>
              <a:t>0</a:t>
            </a:r>
            <a:endParaRPr lang="en-US" sz="2800" dirty="0"/>
          </a:p>
        </p:txBody>
      </p:sp>
      <p:sp>
        <p:nvSpPr>
          <p:cNvPr id="15" name="Text 11"/>
          <p:cNvSpPr txBox="1"/>
          <p:nvPr/>
        </p:nvSpPr>
        <p:spPr>
          <a:xfrm>
            <a:off x="5257800" y="197510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invented products or SKUs</a:t>
            </a:r>
            <a:endParaRPr lang="en-US" sz="1200" dirty="0"/>
          </a:p>
        </p:txBody>
      </p:sp>
      <p:sp>
        <p:nvSpPr>
          <p:cNvPr id="16" name="Text 12"/>
          <p:cNvSpPr txBox="1"/>
          <p:nvPr/>
        </p:nvSpPr>
        <p:spPr>
          <a:xfrm>
            <a:off x="5257800" y="237744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29-answer grounding audit</a:t>
            </a:r>
            <a:endParaRPr lang="en-US" sz="1000" dirty="0"/>
          </a:p>
        </p:txBody>
      </p:sp>
      <p:sp>
        <p:nvSpPr>
          <p:cNvPr id="17" name="Shape 13"/>
          <p:cNvSpPr/>
          <p:nvPr/>
        </p:nvSpPr>
        <p:spPr>
          <a:xfrm>
            <a:off x="7296912" y="137160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8" name="Text 14"/>
          <p:cNvSpPr txBox="1"/>
          <p:nvPr/>
        </p:nvSpPr>
        <p:spPr>
          <a:xfrm>
            <a:off x="7479792" y="1463040"/>
            <a:ext cx="1737360" cy="502920"/>
          </a:xfrm>
          <a:prstGeom prst="rect">
            <a:avLst/>
          </a:prstGeom>
          <a:noFill/>
          <a:ln/>
        </p:spPr>
        <p:txBody>
          <a:bodyPr wrap="square" lIns="0" tIns="0" rIns="0" bIns="0" rtlCol="0" anchor="t"/>
          <a:lstStyle/>
          <a:p>
            <a:pPr marL="0" indent="0">
              <a:buNone/>
            </a:pPr>
            <a:r>
              <a:rPr lang="en-US" sz="2600" b="1" dirty="0">
                <a:solidFill>
                  <a:srgbClr val="548235"/>
                </a:solidFill>
                <a:latin typeface="Arial" pitchFamily="34" charset="0"/>
                <a:ea typeface="Arial" pitchFamily="34" charset="-122"/>
                <a:cs typeface="Arial" pitchFamily="34" charset="-120"/>
              </a:rPr>
              <a:t>0</a:t>
            </a:r>
            <a:endParaRPr lang="en-US" sz="2800" dirty="0"/>
          </a:p>
        </p:txBody>
      </p:sp>
      <p:sp>
        <p:nvSpPr>
          <p:cNvPr id="19" name="Text 15"/>
          <p:cNvSpPr txBox="1"/>
          <p:nvPr/>
        </p:nvSpPr>
        <p:spPr>
          <a:xfrm>
            <a:off x="7479792" y="197510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unsupported large figures</a:t>
            </a:r>
            <a:endParaRPr lang="en-US" sz="1200" dirty="0"/>
          </a:p>
        </p:txBody>
      </p:sp>
      <p:sp>
        <p:nvSpPr>
          <p:cNvPr id="20" name="Text 16"/>
          <p:cNvSpPr txBox="1"/>
          <p:nvPr/>
        </p:nvSpPr>
        <p:spPr>
          <a:xfrm>
            <a:off x="7479792" y="237744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same audit</a:t>
            </a:r>
            <a:endParaRPr lang="en-US" sz="1000" dirty="0"/>
          </a:p>
        </p:txBody>
      </p:sp>
      <p:sp>
        <p:nvSpPr>
          <p:cNvPr id="21" name="Shape 17"/>
          <p:cNvSpPr/>
          <p:nvPr/>
        </p:nvSpPr>
        <p:spPr>
          <a:xfrm>
            <a:off x="9518904" y="137160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2" name="Text 18"/>
          <p:cNvSpPr txBox="1"/>
          <p:nvPr/>
        </p:nvSpPr>
        <p:spPr>
          <a:xfrm>
            <a:off x="9701784" y="146304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~10.5 s</a:t>
            </a:r>
            <a:endParaRPr lang="en-US" sz="2800" dirty="0"/>
          </a:p>
        </p:txBody>
      </p:sp>
      <p:sp>
        <p:nvSpPr>
          <p:cNvPr id="23" name="Text 19"/>
          <p:cNvSpPr txBox="1"/>
          <p:nvPr/>
        </p:nvSpPr>
        <p:spPr>
          <a:xfrm>
            <a:off x="9701784" y="197510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median time per answer</a:t>
            </a:r>
            <a:endParaRPr lang="en-US" sz="1200" dirty="0"/>
          </a:p>
        </p:txBody>
      </p:sp>
      <p:sp>
        <p:nvSpPr>
          <p:cNvPr id="24" name="Text 20"/>
          <p:cNvSpPr txBox="1"/>
          <p:nvPr/>
        </p:nvSpPr>
        <p:spPr>
          <a:xfrm>
            <a:off x="9701784" y="237744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gpt-5-mini, low reasoning effort</a:t>
            </a:r>
            <a:endParaRPr lang="en-US" sz="1000" dirty="0"/>
          </a:p>
        </p:txBody>
      </p:sp>
      <p:sp>
        <p:nvSpPr>
          <p:cNvPr id="25" name="Shape 21"/>
          <p:cNvSpPr/>
          <p:nvPr/>
        </p:nvSpPr>
        <p:spPr>
          <a:xfrm>
            <a:off x="5074920" y="288036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6" name="Text 22"/>
          <p:cNvSpPr txBox="1"/>
          <p:nvPr/>
        </p:nvSpPr>
        <p:spPr>
          <a:xfrm>
            <a:off x="5257800" y="297180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~$0.007</a:t>
            </a:r>
            <a:endParaRPr lang="en-US" sz="2800" dirty="0"/>
          </a:p>
        </p:txBody>
      </p:sp>
      <p:sp>
        <p:nvSpPr>
          <p:cNvPr id="27" name="Text 23"/>
          <p:cNvSpPr txBox="1"/>
          <p:nvPr/>
        </p:nvSpPr>
        <p:spPr>
          <a:xfrm>
            <a:off x="5257800" y="348386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cost per question</a:t>
            </a:r>
            <a:endParaRPr lang="en-US" sz="1200" dirty="0"/>
          </a:p>
        </p:txBody>
      </p:sp>
      <p:sp>
        <p:nvSpPr>
          <p:cNvPr id="28" name="Text 24"/>
          <p:cNvSpPr txBox="1"/>
          <p:nvPr/>
        </p:nvSpPr>
        <p:spPr>
          <a:xfrm>
            <a:off x="5257800" y="388620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under one US cent</a:t>
            </a:r>
            <a:endParaRPr lang="en-US" sz="1000" dirty="0"/>
          </a:p>
        </p:txBody>
      </p:sp>
      <p:sp>
        <p:nvSpPr>
          <p:cNvPr id="29" name="Shape 25"/>
          <p:cNvSpPr/>
          <p:nvPr/>
        </p:nvSpPr>
        <p:spPr>
          <a:xfrm>
            <a:off x="7296912" y="288036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0" name="Text 26"/>
          <p:cNvSpPr txBox="1"/>
          <p:nvPr/>
        </p:nvSpPr>
        <p:spPr>
          <a:xfrm>
            <a:off x="7479792" y="297180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38</a:t>
            </a:r>
            <a:endParaRPr lang="en-US" sz="2800" dirty="0"/>
          </a:p>
        </p:txBody>
      </p:sp>
      <p:sp>
        <p:nvSpPr>
          <p:cNvPr id="31" name="Text 27"/>
          <p:cNvSpPr txBox="1"/>
          <p:nvPr/>
        </p:nvSpPr>
        <p:spPr>
          <a:xfrm>
            <a:off x="7479792" y="348386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unrelated messages</a:t>
            </a:r>
            <a:endParaRPr lang="en-US" sz="1200" dirty="0"/>
          </a:p>
        </p:txBody>
      </p:sp>
      <p:sp>
        <p:nvSpPr>
          <p:cNvPr id="32" name="Text 28"/>
          <p:cNvSpPr txBox="1"/>
          <p:nvPr/>
        </p:nvSpPr>
        <p:spPr>
          <a:xfrm>
            <a:off x="7479792" y="388620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used to check the scope gate</a:t>
            </a:r>
            <a:endParaRPr lang="en-US" sz="1000" dirty="0"/>
          </a:p>
        </p:txBody>
      </p:sp>
      <p:sp>
        <p:nvSpPr>
          <p:cNvPr id="33" name="Shape 29"/>
          <p:cNvSpPr/>
          <p:nvPr/>
        </p:nvSpPr>
        <p:spPr>
          <a:xfrm>
            <a:off x="9518904" y="2880360"/>
            <a:ext cx="2057400" cy="1371600"/>
          </a:xfrm>
          <a:prstGeom prst="roundRect">
            <a:avLst>
              <a:gd name="adj" fmla="val 6667"/>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4" name="Text 30"/>
          <p:cNvSpPr txBox="1"/>
          <p:nvPr/>
        </p:nvSpPr>
        <p:spPr>
          <a:xfrm>
            <a:off x="9701784" y="2971800"/>
            <a:ext cx="1737360" cy="502920"/>
          </a:xfrm>
          <a:prstGeom prst="rect">
            <a:avLst/>
          </a:prstGeom>
          <a:noFill/>
          <a:ln/>
        </p:spPr>
        <p:txBody>
          <a:bodyPr wrap="square" lIns="0" tIns="0" rIns="0" bIns="0" rtlCol="0" anchor="t"/>
          <a:lstStyle/>
          <a:p>
            <a:pPr marL="0" indent="0">
              <a:buNone/>
            </a:pPr>
            <a:r>
              <a:rPr lang="en-US" sz="2600" b="1" dirty="0">
                <a:solidFill>
                  <a:srgbClr val="1F3864"/>
                </a:solidFill>
                <a:latin typeface="Arial" pitchFamily="34" charset="0"/>
                <a:ea typeface="Arial" pitchFamily="34" charset="-122"/>
                <a:cs typeface="Arial" pitchFamily="34" charset="-120"/>
              </a:rPr>
              <a:t>75</a:t>
            </a:r>
            <a:endParaRPr lang="en-US" sz="2800" dirty="0"/>
          </a:p>
        </p:txBody>
      </p:sp>
      <p:sp>
        <p:nvSpPr>
          <p:cNvPr id="35" name="Text 31"/>
          <p:cNvSpPr txBox="1"/>
          <p:nvPr/>
        </p:nvSpPr>
        <p:spPr>
          <a:xfrm>
            <a:off x="9701784" y="3483864"/>
            <a:ext cx="1783080" cy="411480"/>
          </a:xfrm>
          <a:prstGeom prst="rect">
            <a:avLst/>
          </a:prstGeom>
          <a:noFill/>
          <a:ln/>
        </p:spPr>
        <p:txBody>
          <a:bodyPr wrap="square" lIns="0" tIns="0" rIns="0" bIns="0" rtlCol="0" anchor="t"/>
          <a:lstStyle/>
          <a:p>
            <a:pPr marL="0" indent="0">
              <a:buNone/>
            </a:pPr>
            <a:r>
              <a:rPr lang="en-US" sz="1150" b="1" dirty="0">
                <a:solidFill>
                  <a:srgbClr val="222B3A"/>
                </a:solidFill>
                <a:latin typeface="Arial" pitchFamily="34" charset="0"/>
                <a:ea typeface="Arial" pitchFamily="34" charset="-122"/>
                <a:cs typeface="Arial" pitchFamily="34" charset="-120"/>
              </a:rPr>
              <a:t>evaluation cases</a:t>
            </a:r>
            <a:endParaRPr lang="en-US" sz="1200" dirty="0"/>
          </a:p>
        </p:txBody>
      </p:sp>
      <p:sp>
        <p:nvSpPr>
          <p:cNvPr id="36" name="Text 32"/>
          <p:cNvSpPr txBox="1"/>
          <p:nvPr/>
        </p:nvSpPr>
        <p:spPr>
          <a:xfrm>
            <a:off x="9701784" y="3886200"/>
            <a:ext cx="1783080" cy="32004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plus grounding audit, repeat-run check</a:t>
            </a:r>
            <a:endParaRPr lang="en-US" sz="1000" dirty="0"/>
          </a:p>
        </p:txBody>
      </p:sp>
      <p:sp>
        <p:nvSpPr>
          <p:cNvPr id="37" name="Rounded Rectangle 36"/>
          <p:cNvSpPr/>
          <p:nvPr/>
        </p:nvSpPr>
        <p:spPr>
          <a:xfrm>
            <a:off x="5074920" y="4572000"/>
            <a:ext cx="6501384" cy="1645920"/>
          </a:xfrm>
          <a:prstGeom prst="roundRect">
            <a:avLst>
              <a:gd name="adj" fmla="val 6666"/>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Rectangle 37"/>
          <p:cNvSpPr/>
          <p:nvPr/>
        </p:nvSpPr>
        <p:spPr>
          <a:xfrm>
            <a:off x="5074920" y="4736592"/>
            <a:ext cx="64008" cy="1316736"/>
          </a:xfrm>
          <a:prstGeom prst="rect">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349240" y="4727448"/>
            <a:ext cx="6044184" cy="228600"/>
          </a:xfrm>
          <a:prstGeom prst="rect">
            <a:avLst/>
          </a:prstGeom>
          <a:noFill/>
        </p:spPr>
        <p:txBody>
          <a:bodyPr wrap="square" lIns="0" rIns="0" tIns="0" bIns="0" anchor="ctr">
            <a:spAutoFit/>
          </a:bodyPr>
          <a:lstStyle/>
          <a:p>
            <a:pPr algn="l">
              <a:spcAft>
                <a:spcPts val="0"/>
              </a:spcAft>
            </a:pPr>
            <a:r>
              <a:rPr sz="1000" b="1" spc="150">
                <a:solidFill>
                  <a:srgbClr val="2E75B6"/>
                </a:solidFill>
                <a:latin typeface="Arial"/>
              </a:rPr>
              <a:t>DEFECT FOUND BY TESTING, THEN FIXED</a:t>
            </a:r>
          </a:p>
        </p:txBody>
      </p:sp>
      <p:sp>
        <p:nvSpPr>
          <p:cNvPr id="40" name="TextBox 39"/>
          <p:cNvSpPr txBox="1"/>
          <p:nvPr/>
        </p:nvSpPr>
        <p:spPr>
          <a:xfrm>
            <a:off x="5349240" y="5102352"/>
            <a:ext cx="1770888" cy="201168"/>
          </a:xfrm>
          <a:prstGeom prst="rect">
            <a:avLst/>
          </a:prstGeom>
          <a:noFill/>
        </p:spPr>
        <p:txBody>
          <a:bodyPr wrap="square" lIns="0" rIns="0" tIns="0" bIns="0" anchor="t">
            <a:spAutoFit/>
          </a:bodyPr>
          <a:lstStyle/>
          <a:p>
            <a:pPr algn="l">
              <a:spcAft>
                <a:spcPts val="0"/>
              </a:spcAft>
            </a:pPr>
            <a:r>
              <a:rPr sz="950" b="1" spc="60">
                <a:solidFill>
                  <a:srgbClr val="F2A900"/>
                </a:solidFill>
                <a:latin typeface="Arial"/>
              </a:rPr>
              <a:t>FOUND  ·  25/10/2026</a:t>
            </a:r>
          </a:p>
        </p:txBody>
      </p:sp>
      <p:sp>
        <p:nvSpPr>
          <p:cNvPr id="41" name="TextBox 40"/>
          <p:cNvSpPr txBox="1"/>
          <p:nvPr/>
        </p:nvSpPr>
        <p:spPr>
          <a:xfrm>
            <a:off x="5349240" y="5358384"/>
            <a:ext cx="1770888" cy="777240"/>
          </a:xfrm>
          <a:prstGeom prst="rect">
            <a:avLst/>
          </a:prstGeom>
          <a:noFill/>
        </p:spPr>
        <p:txBody>
          <a:bodyPr wrap="square" lIns="0" rIns="0" tIns="0" bIns="0" anchor="t">
            <a:spAutoFit/>
          </a:bodyPr>
          <a:lstStyle/>
          <a:p>
            <a:pPr algn="l">
              <a:spcAft>
                <a:spcPts val="0"/>
              </a:spcAft>
            </a:pPr>
            <a:r>
              <a:rPr sz="1100" b="0">
                <a:solidFill>
                  <a:srgbClr val="222B3A"/>
                </a:solidFill>
                <a:latin typeface="Arial"/>
              </a:rPr>
              <a:t>The agent returned customer names, emails and phones when asked</a:t>
            </a:r>
          </a:p>
        </p:txBody>
      </p:sp>
      <p:sp>
        <p:nvSpPr>
          <p:cNvPr id="42" name="Chevron 41"/>
          <p:cNvSpPr/>
          <p:nvPr/>
        </p:nvSpPr>
        <p:spPr>
          <a:xfrm>
            <a:off x="7193280" y="5138928"/>
            <a:ext cx="128016" cy="182880"/>
          </a:xfrm>
          <a:prstGeom prst="chevron">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7394448" y="5102352"/>
            <a:ext cx="1770888" cy="201168"/>
          </a:xfrm>
          <a:prstGeom prst="rect">
            <a:avLst/>
          </a:prstGeom>
          <a:noFill/>
        </p:spPr>
        <p:txBody>
          <a:bodyPr wrap="square" lIns="0" rIns="0" tIns="0" bIns="0" anchor="t">
            <a:spAutoFit/>
          </a:bodyPr>
          <a:lstStyle/>
          <a:p>
            <a:pPr algn="l">
              <a:spcAft>
                <a:spcPts val="0"/>
              </a:spcAft>
            </a:pPr>
            <a:r>
              <a:rPr sz="950" b="1" spc="60">
                <a:solidFill>
                  <a:srgbClr val="2E75B6"/>
                </a:solidFill>
                <a:latin typeface="Arial"/>
              </a:rPr>
              <a:t>FIXED IN THREE PLACES</a:t>
            </a:r>
          </a:p>
        </p:txBody>
      </p:sp>
      <p:sp>
        <p:nvSpPr>
          <p:cNvPr id="44" name="TextBox 43"/>
          <p:cNvSpPr txBox="1"/>
          <p:nvPr/>
        </p:nvSpPr>
        <p:spPr>
          <a:xfrm>
            <a:off x="7394448" y="5358384"/>
            <a:ext cx="1770888" cy="777240"/>
          </a:xfrm>
          <a:prstGeom prst="rect">
            <a:avLst/>
          </a:prstGeom>
          <a:noFill/>
        </p:spPr>
        <p:txBody>
          <a:bodyPr wrap="square" lIns="0" rIns="0" tIns="0" bIns="0" anchor="t">
            <a:spAutoFit/>
          </a:bodyPr>
          <a:lstStyle/>
          <a:p>
            <a:pPr algn="l">
              <a:spcAft>
                <a:spcPts val="0"/>
              </a:spcAft>
            </a:pPr>
            <a:r>
              <a:rPr sz="1100" b="0">
                <a:solidFill>
                  <a:srgbClr val="222B3A"/>
                </a:solidFill>
                <a:latin typeface="Arial"/>
              </a:rPr>
              <a:t>Request refused, queries naming those columns rejected, columns stripped from results</a:t>
            </a:r>
          </a:p>
        </p:txBody>
      </p:sp>
      <p:sp>
        <p:nvSpPr>
          <p:cNvPr id="45" name="Chevron 44"/>
          <p:cNvSpPr/>
          <p:nvPr/>
        </p:nvSpPr>
        <p:spPr>
          <a:xfrm>
            <a:off x="9238488" y="5138928"/>
            <a:ext cx="128016" cy="182880"/>
          </a:xfrm>
          <a:prstGeom prst="chevron">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9439656" y="5102352"/>
            <a:ext cx="1770888" cy="201168"/>
          </a:xfrm>
          <a:prstGeom prst="rect">
            <a:avLst/>
          </a:prstGeom>
          <a:noFill/>
        </p:spPr>
        <p:txBody>
          <a:bodyPr wrap="square" lIns="0" rIns="0" tIns="0" bIns="0" anchor="t">
            <a:spAutoFit/>
          </a:bodyPr>
          <a:lstStyle/>
          <a:p>
            <a:pPr algn="l">
              <a:spcAft>
                <a:spcPts val="0"/>
              </a:spcAft>
            </a:pPr>
            <a:r>
              <a:rPr sz="950" b="1" spc="60">
                <a:solidFill>
                  <a:srgbClr val="2E7D32"/>
                </a:solidFill>
                <a:latin typeface="Arial"/>
              </a:rPr>
              <a:t>LOCKED IN</a:t>
            </a:r>
          </a:p>
        </p:txBody>
      </p:sp>
      <p:sp>
        <p:nvSpPr>
          <p:cNvPr id="47" name="TextBox 46"/>
          <p:cNvSpPr txBox="1"/>
          <p:nvPr/>
        </p:nvSpPr>
        <p:spPr>
          <a:xfrm>
            <a:off x="9439656" y="5358384"/>
            <a:ext cx="1770888" cy="777240"/>
          </a:xfrm>
          <a:prstGeom prst="rect">
            <a:avLst/>
          </a:prstGeom>
          <a:noFill/>
        </p:spPr>
        <p:txBody>
          <a:bodyPr wrap="square" lIns="0" rIns="0" tIns="0" bIns="0" anchor="t">
            <a:spAutoFit/>
          </a:bodyPr>
          <a:lstStyle/>
          <a:p>
            <a:pPr algn="l">
              <a:spcAft>
                <a:spcPts val="0"/>
              </a:spcAft>
            </a:pPr>
            <a:r>
              <a:rPr sz="1100" b="0">
                <a:solidFill>
                  <a:srgbClr val="222B3A"/>
                </a:solidFill>
                <a:latin typeface="Arial"/>
              </a:rPr>
              <a:t>Case T8 added and rerun with the other cases after every change</a:t>
            </a:r>
          </a:p>
        </p:txBody>
      </p:sp>
      <p:sp>
        <p:nvSpPr>
          <p:cNvPr id="48" name="TextBox 47"/>
          <p:cNvSpPr txBox="1"/>
          <p:nvPr/>
        </p:nvSpPr>
        <p:spPr>
          <a:xfrm>
            <a:off x="548640" y="5760720"/>
            <a:ext cx="4206240" cy="457200"/>
          </a:xfrm>
          <a:prstGeom prst="rect">
            <a:avLst/>
          </a:prstGeom>
          <a:noFill/>
        </p:spPr>
        <p:txBody>
          <a:bodyPr wrap="square" lIns="0" rIns="0" tIns="0" bIns="0" anchor="t">
            <a:spAutoFit/>
          </a:bodyPr>
          <a:lstStyle/>
          <a:p>
            <a:pPr algn="ctr">
              <a:spcAft>
                <a:spcPts val="0"/>
              </a:spcAft>
            </a:pPr>
            <a:r>
              <a:rPr sz="1100" b="0">
                <a:solidFill>
                  <a:srgbClr val="5F6B7A"/>
                </a:solidFill>
                <a:latin typeface="Arial"/>
              </a:rPr>
              <a:t>The 2 misses were wording in answers about the agent itself.</a:t>
            </a:r>
          </a:p>
        </p:txBody>
      </p:sp>
      <p:sp>
        <p:nvSpPr>
          <p:cNvPr id="49" name="Rectangle 48"/>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B8DF2-CC06-89A6-EA89-3E2C3DB3779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8A6C12BB-F4C5-7D0C-A309-5F87A58E57F4}"/>
              </a:ext>
            </a:extLst>
          </p:cNvPr>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a:extLst>
              <a:ext uri="{FF2B5EF4-FFF2-40B4-BE49-F238E27FC236}">
                <a16:creationId xmlns:a16="http://schemas.microsoft.com/office/drawing/2014/main" id="{96BB7AD4-01CF-98E6-8304-638A43130A62}"/>
              </a:ext>
            </a:extLst>
          </p:cNvPr>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a:extLst>
              <a:ext uri="{FF2B5EF4-FFF2-40B4-BE49-F238E27FC236}">
                <a16:creationId xmlns:a16="http://schemas.microsoft.com/office/drawing/2014/main" id="{C7650C8B-3391-2E97-392F-A5DD27B43A12}"/>
              </a:ext>
            </a:extLst>
          </p:cNvPr>
          <p:cNvPicPr>
            <a:picLocks noChangeAspect="1"/>
          </p:cNvPicPr>
          <p:nvPr/>
        </p:nvPicPr>
        <p:blipFill>
          <a:blip r:embed="rId3"/>
          <a:stretch>
            <a:fillRect/>
          </a:stretch>
        </p:blipFill>
        <p:spPr>
          <a:xfrm>
            <a:off x="9358884" y="589788"/>
            <a:ext cx="228600" cy="228600"/>
          </a:xfrm>
          <a:prstGeom prst="rect">
            <a:avLst/>
          </a:prstGeom>
        </p:spPr>
      </p:pic>
      <p:sp>
        <p:nvSpPr>
          <p:cNvPr id="7" name="Text 4">
            <a:extLst>
              <a:ext uri="{FF2B5EF4-FFF2-40B4-BE49-F238E27FC236}">
                <a16:creationId xmlns:a16="http://schemas.microsoft.com/office/drawing/2014/main" id="{0A5834E7-35F2-80E3-542C-2903D5A9C0CA}"/>
              </a:ext>
            </a:extLst>
          </p:cNvPr>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a:extLst>
              <a:ext uri="{FF2B5EF4-FFF2-40B4-BE49-F238E27FC236}">
                <a16:creationId xmlns:a16="http://schemas.microsoft.com/office/drawing/2014/main" id="{A7A3B5C0-2021-83DD-C29B-DB9D0F23C9C1}"/>
              </a:ext>
            </a:extLst>
          </p:cNvPr>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13</a:t>
            </a:r>
            <a:endParaRPr lang="en-US" sz="1000" dirty="0"/>
          </a:p>
        </p:txBody>
      </p:sp>
      <p:sp>
        <p:nvSpPr>
          <p:cNvPr id="9" name="Text 6">
            <a:extLst>
              <a:ext uri="{FF2B5EF4-FFF2-40B4-BE49-F238E27FC236}">
                <a16:creationId xmlns:a16="http://schemas.microsoft.com/office/drawing/2014/main" id="{5AA2885F-44C2-29EC-B5B7-D0143A464C7E}"/>
              </a:ext>
            </a:extLst>
          </p:cNvPr>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42" name="Text 0">
            <a:extLst>
              <a:ext uri="{FF2B5EF4-FFF2-40B4-BE49-F238E27FC236}">
                <a16:creationId xmlns:a16="http://schemas.microsoft.com/office/drawing/2014/main" id="{FFFBB21B-8550-8025-1B36-A45B18D2209F}"/>
              </a:ext>
            </a:extLst>
          </p:cNvPr>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Agent Portal – Super user</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Super Manager view: the whole network, one question at a time</a:t>
            </a:r>
            <a:endParaRPr lang="en-US" sz="1400" dirty="0"/>
          </a:p>
        </p:txBody>
      </p:sp>
      <p:sp>
        <p:nvSpPr>
          <p:cNvPr id="43" name="Rounded Rectangle 42"/>
          <p:cNvSpPr/>
          <p:nvPr/>
        </p:nvSpPr>
        <p:spPr>
          <a:xfrm>
            <a:off x="548640" y="1463040"/>
            <a:ext cx="7490165" cy="3794760"/>
          </a:xfrm>
          <a:prstGeom prst="roundRect">
            <a:avLst>
              <a:gd name="adj" fmla="val 2409"/>
            </a:avLst>
          </a:prstGeom>
          <a:solidFill>
            <a:srgbClr val="F3F7FC"/>
          </a:solidFill>
          <a:ln w="9525">
            <a:solidFill>
              <a:srgbClr val="C9D6E8"/>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94944" y="1545336"/>
            <a:ext cx="109728" cy="109728"/>
          </a:xfrm>
          <a:prstGeom prst="ellipse">
            <a:avLst/>
          </a:prstGeom>
          <a:solidFill>
            <a:srgbClr val="E5534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77824" y="1545336"/>
            <a:ext cx="109728" cy="109728"/>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1060704" y="1545336"/>
            <a:ext cx="109728" cy="109728"/>
          </a:xfrm>
          <a:prstGeom prst="ellipse">
            <a:avLst/>
          </a:prstGeom>
          <a:solidFill>
            <a:srgbClr val="3DBA5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Picture 46" descr="image.png"/>
          <p:cNvPicPr>
            <a:picLocks noChangeAspect="1"/>
          </p:cNvPicPr>
          <p:nvPr/>
        </p:nvPicPr>
        <p:blipFill>
          <a:blip r:embed="rId4"/>
          <a:stretch>
            <a:fillRect/>
          </a:stretch>
        </p:blipFill>
        <p:spPr>
          <a:xfrm>
            <a:off x="548640" y="1737360"/>
            <a:ext cx="7490165" cy="3520440"/>
          </a:xfrm>
          <a:prstGeom prst="rect">
            <a:avLst/>
          </a:prstGeom>
        </p:spPr>
      </p:pic>
      <p:sp>
        <p:nvSpPr>
          <p:cNvPr id="48" name="Oval 47"/>
          <p:cNvSpPr/>
          <p:nvPr/>
        </p:nvSpPr>
        <p:spPr>
          <a:xfrm>
            <a:off x="3033037" y="1917039"/>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3033037" y="1917039"/>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1</a:t>
            </a:r>
          </a:p>
        </p:txBody>
      </p:sp>
      <p:sp>
        <p:nvSpPr>
          <p:cNvPr id="50" name="Oval 49"/>
          <p:cNvSpPr/>
          <p:nvPr/>
        </p:nvSpPr>
        <p:spPr>
          <a:xfrm>
            <a:off x="6890472" y="2515514"/>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6890472" y="2515514"/>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2</a:t>
            </a:r>
          </a:p>
        </p:txBody>
      </p:sp>
      <p:sp>
        <p:nvSpPr>
          <p:cNvPr id="52" name="Oval 51"/>
          <p:cNvSpPr/>
          <p:nvPr/>
        </p:nvSpPr>
        <p:spPr>
          <a:xfrm>
            <a:off x="1647357" y="2328931"/>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1647357" y="2328931"/>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3</a:t>
            </a:r>
          </a:p>
        </p:txBody>
      </p:sp>
      <p:sp>
        <p:nvSpPr>
          <p:cNvPr id="54" name="Oval 53"/>
          <p:cNvSpPr/>
          <p:nvPr/>
        </p:nvSpPr>
        <p:spPr>
          <a:xfrm>
            <a:off x="1647357" y="4944618"/>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1647357" y="4944618"/>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4</a:t>
            </a:r>
          </a:p>
        </p:txBody>
      </p:sp>
      <p:sp>
        <p:nvSpPr>
          <p:cNvPr id="56" name="Rounded Rectangle 55"/>
          <p:cNvSpPr/>
          <p:nvPr/>
        </p:nvSpPr>
        <p:spPr>
          <a:xfrm>
            <a:off x="8358845" y="1463040"/>
            <a:ext cx="3299755"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Oval 56"/>
          <p:cNvSpPr/>
          <p:nvPr/>
        </p:nvSpPr>
        <p:spPr>
          <a:xfrm>
            <a:off x="8523437" y="1733931"/>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8523437" y="1733931"/>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1</a:t>
            </a:r>
          </a:p>
        </p:txBody>
      </p:sp>
      <p:sp>
        <p:nvSpPr>
          <p:cNvPr id="59" name="TextBox 58"/>
          <p:cNvSpPr txBox="1"/>
          <p:nvPr/>
        </p:nvSpPr>
        <p:spPr>
          <a:xfrm>
            <a:off x="8998925" y="1554480"/>
            <a:ext cx="2522515"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Scope on every answer</a:t>
            </a:r>
          </a:p>
          <a:p>
            <a:pPr algn="l">
              <a:spcAft>
                <a:spcPts val="200"/>
              </a:spcAft>
            </a:pPr>
            <a:r>
              <a:rPr sz="1050" b="0">
                <a:solidFill>
                  <a:srgbClr val="5F6B7A"/>
                </a:solidFill>
                <a:latin typeface="Arial"/>
              </a:rPr>
              <a:t>The badge and the Scope line name the stores, metric and dates</a:t>
            </a:r>
          </a:p>
        </p:txBody>
      </p:sp>
      <p:sp>
        <p:nvSpPr>
          <p:cNvPr id="60" name="Rounded Rectangle 59"/>
          <p:cNvSpPr/>
          <p:nvPr/>
        </p:nvSpPr>
        <p:spPr>
          <a:xfrm>
            <a:off x="8358845" y="2443734"/>
            <a:ext cx="3299755"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8523437" y="2714625"/>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8523437" y="2714625"/>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2</a:t>
            </a:r>
          </a:p>
        </p:txBody>
      </p:sp>
      <p:sp>
        <p:nvSpPr>
          <p:cNvPr id="63" name="TextBox 62"/>
          <p:cNvSpPr txBox="1"/>
          <p:nvPr/>
        </p:nvSpPr>
        <p:spPr>
          <a:xfrm>
            <a:off x="8998925" y="2535174"/>
            <a:ext cx="2522515"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Grounded text and tables</a:t>
            </a:r>
          </a:p>
          <a:p>
            <a:pPr algn="l">
              <a:spcAft>
                <a:spcPts val="200"/>
              </a:spcAft>
            </a:pPr>
            <a:r>
              <a:rPr sz="1050" b="0">
                <a:solidFill>
                  <a:srgbClr val="5F6B7A"/>
                </a:solidFill>
                <a:latin typeface="Arial"/>
              </a:rPr>
              <a:t>Figures come from live Zava data and are checked in code first</a:t>
            </a:r>
          </a:p>
        </p:txBody>
      </p:sp>
      <p:sp>
        <p:nvSpPr>
          <p:cNvPr id="64" name="Rounded Rectangle 63"/>
          <p:cNvSpPr/>
          <p:nvPr/>
        </p:nvSpPr>
        <p:spPr>
          <a:xfrm>
            <a:off x="8358845" y="3424428"/>
            <a:ext cx="3299755"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Oval 64"/>
          <p:cNvSpPr/>
          <p:nvPr/>
        </p:nvSpPr>
        <p:spPr>
          <a:xfrm>
            <a:off x="8523437" y="3695319"/>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8523437" y="3695319"/>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3</a:t>
            </a:r>
          </a:p>
        </p:txBody>
      </p:sp>
      <p:sp>
        <p:nvSpPr>
          <p:cNvPr id="67" name="TextBox 66"/>
          <p:cNvSpPr txBox="1"/>
          <p:nvPr/>
        </p:nvSpPr>
        <p:spPr>
          <a:xfrm>
            <a:off x="8998925" y="3515868"/>
            <a:ext cx="2522515"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Private saved chats</a:t>
            </a:r>
          </a:p>
          <a:p>
            <a:pPr algn="l">
              <a:spcAft>
                <a:spcPts val="200"/>
              </a:spcAft>
            </a:pPr>
            <a:r>
              <a:rPr sz="1050" b="0">
                <a:solidFill>
                  <a:srgbClr val="5F6B7A"/>
                </a:solidFill>
                <a:latin typeface="Arial"/>
              </a:rPr>
              <a:t>History is kept per person, searchable and never shared</a:t>
            </a:r>
          </a:p>
        </p:txBody>
      </p:sp>
      <p:sp>
        <p:nvSpPr>
          <p:cNvPr id="68" name="Rounded Rectangle 67"/>
          <p:cNvSpPr/>
          <p:nvPr/>
        </p:nvSpPr>
        <p:spPr>
          <a:xfrm>
            <a:off x="8358845" y="4405122"/>
            <a:ext cx="3299755"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Oval 68"/>
          <p:cNvSpPr/>
          <p:nvPr/>
        </p:nvSpPr>
        <p:spPr>
          <a:xfrm>
            <a:off x="8523437" y="4676013"/>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TextBox 69"/>
          <p:cNvSpPr txBox="1"/>
          <p:nvPr/>
        </p:nvSpPr>
        <p:spPr>
          <a:xfrm>
            <a:off x="8523437" y="4676013"/>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4</a:t>
            </a:r>
          </a:p>
        </p:txBody>
      </p:sp>
      <p:sp>
        <p:nvSpPr>
          <p:cNvPr id="71" name="TextBox 70"/>
          <p:cNvSpPr txBox="1"/>
          <p:nvPr/>
        </p:nvSpPr>
        <p:spPr>
          <a:xfrm>
            <a:off x="8998925" y="4496562"/>
            <a:ext cx="2522515"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Role from sign-in</a:t>
            </a:r>
          </a:p>
          <a:p>
            <a:pPr algn="l">
              <a:spcAft>
                <a:spcPts val="200"/>
              </a:spcAft>
            </a:pPr>
            <a:r>
              <a:rPr sz="1050" b="0">
                <a:solidFill>
                  <a:srgbClr val="5F6B7A"/>
                </a:solidFill>
                <a:latin typeface="Arial"/>
              </a:rPr>
              <a:t>Set by the access list; claiming more access changes nothing</a:t>
            </a:r>
          </a:p>
        </p:txBody>
      </p:sp>
      <p:sp>
        <p:nvSpPr>
          <p:cNvPr id="72" name="Rounded Rectangle 71"/>
          <p:cNvSpPr/>
          <p:nvPr/>
        </p:nvSpPr>
        <p:spPr>
          <a:xfrm>
            <a:off x="548640" y="5513832"/>
            <a:ext cx="11109960" cy="749808"/>
          </a:xfrm>
          <a:prstGeom prst="roundRect">
            <a:avLst>
              <a:gd name="adj" fmla="val 14634"/>
            </a:avLst>
          </a:prstGeom>
          <a:solidFill>
            <a:srgbClr val="1F3864"/>
          </a:solidFill>
          <a:ln>
            <a:no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822960" y="5513832"/>
            <a:ext cx="10561320" cy="749808"/>
          </a:xfrm>
          <a:prstGeom prst="rect">
            <a:avLst/>
          </a:prstGeom>
          <a:noFill/>
        </p:spPr>
        <p:txBody>
          <a:bodyPr wrap="square" lIns="0" rIns="0" tIns="0" bIns="0" anchor="ctr">
            <a:spAutoFit/>
          </a:bodyPr>
          <a:lstStyle/>
          <a:p>
            <a:pPr algn="l">
              <a:spcAft>
                <a:spcPts val="0"/>
              </a:spcAft>
            </a:pPr>
            <a:r>
              <a:rPr sz="1100" b="1" spc="120">
                <a:solidFill>
                  <a:srgbClr val="F2A900"/>
                </a:solidFill>
                <a:latin typeface="Arial"/>
              </a:rPr>
              <a:t>SUPER MANAGER   </a:t>
            </a:r>
            <a:r>
              <a:rPr sz="1250" b="0">
                <a:solidFill>
                  <a:srgbClr val="FFFFFF"/>
                </a:solidFill>
                <a:latin typeface="Arial"/>
              </a:rPr>
              <a:t>Sees all 8 stores: 3,997,159 units on hand across the network. The scope is stated in every answer.</a:t>
            </a:r>
          </a:p>
        </p:txBody>
      </p:sp>
      <p:sp>
        <p:nvSpPr>
          <p:cNvPr id="74" name="Rectangle 73"/>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extLst>
      <p:ext uri="{BB962C8B-B14F-4D97-AF65-F5344CB8AC3E}">
        <p14:creationId xmlns:p14="http://schemas.microsoft.com/office/powerpoint/2010/main" val="5454973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BE5A4C-3CD5-1E08-A1A5-6604A42F1F51}"/>
            </a:ext>
          </a:extLst>
        </p:cNvPr>
        <p:cNvGrpSpPr/>
        <p:nvPr/>
      </p:nvGrpSpPr>
      <p:grpSpPr>
        <a:xfrm>
          <a:off x="0" y="0"/>
          <a:ext cx="0" cy="0"/>
          <a:chOff x="0" y="0"/>
          <a:chExt cx="0" cy="0"/>
        </a:xfrm>
      </p:grpSpPr>
      <p:sp>
        <p:nvSpPr>
          <p:cNvPr id="4" name="Shape 2">
            <a:extLst>
              <a:ext uri="{FF2B5EF4-FFF2-40B4-BE49-F238E27FC236}">
                <a16:creationId xmlns:a16="http://schemas.microsoft.com/office/drawing/2014/main" id="{E8862464-BA5B-E3A0-7E69-9D55A0422A23}"/>
              </a:ext>
            </a:extLst>
          </p:cNvPr>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a:extLst>
              <a:ext uri="{FF2B5EF4-FFF2-40B4-BE49-F238E27FC236}">
                <a16:creationId xmlns:a16="http://schemas.microsoft.com/office/drawing/2014/main" id="{58D5778E-E382-4B0A-99B7-5F47B031B677}"/>
              </a:ext>
            </a:extLst>
          </p:cNvPr>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a:extLst>
              <a:ext uri="{FF2B5EF4-FFF2-40B4-BE49-F238E27FC236}">
                <a16:creationId xmlns:a16="http://schemas.microsoft.com/office/drawing/2014/main" id="{5C0356FF-C9F3-C0E5-3150-24813D29A7F2}"/>
              </a:ext>
            </a:extLst>
          </p:cNvPr>
          <p:cNvPicPr>
            <a:picLocks noChangeAspect="1"/>
          </p:cNvPicPr>
          <p:nvPr/>
        </p:nvPicPr>
        <p:blipFill>
          <a:blip r:embed="rId3"/>
          <a:stretch>
            <a:fillRect/>
          </a:stretch>
        </p:blipFill>
        <p:spPr>
          <a:xfrm>
            <a:off x="9358884" y="589788"/>
            <a:ext cx="228600" cy="228600"/>
          </a:xfrm>
          <a:prstGeom prst="rect">
            <a:avLst/>
          </a:prstGeom>
        </p:spPr>
      </p:pic>
      <p:sp>
        <p:nvSpPr>
          <p:cNvPr id="7" name="Text 4">
            <a:extLst>
              <a:ext uri="{FF2B5EF4-FFF2-40B4-BE49-F238E27FC236}">
                <a16:creationId xmlns:a16="http://schemas.microsoft.com/office/drawing/2014/main" id="{81D21AD2-11CE-A821-A061-C7A27E4A9375}"/>
              </a:ext>
            </a:extLst>
          </p:cNvPr>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Ranjith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Implementation Lead</a:t>
            </a:r>
            <a:endParaRPr lang="en-US" sz="1200" dirty="0"/>
          </a:p>
        </p:txBody>
      </p:sp>
      <p:sp>
        <p:nvSpPr>
          <p:cNvPr id="8" name="Text 5">
            <a:extLst>
              <a:ext uri="{FF2B5EF4-FFF2-40B4-BE49-F238E27FC236}">
                <a16:creationId xmlns:a16="http://schemas.microsoft.com/office/drawing/2014/main" id="{32212B15-6CC2-6E89-B303-82E34F8328C9}"/>
              </a:ext>
            </a:extLst>
          </p:cNvPr>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14</a:t>
            </a:r>
            <a:endParaRPr lang="en-US" sz="1000" dirty="0"/>
          </a:p>
        </p:txBody>
      </p:sp>
      <p:sp>
        <p:nvSpPr>
          <p:cNvPr id="9" name="Text 6">
            <a:extLst>
              <a:ext uri="{FF2B5EF4-FFF2-40B4-BE49-F238E27FC236}">
                <a16:creationId xmlns:a16="http://schemas.microsoft.com/office/drawing/2014/main" id="{9DF92ABD-BD63-E67C-6E67-75EF6A0BFD86}"/>
              </a:ext>
            </a:extLst>
          </p:cNvPr>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Store Manager view: one store, enforced in the database</a:t>
            </a:r>
            <a:endParaRPr lang="en-US" sz="1400" dirty="0"/>
          </a:p>
        </p:txBody>
      </p:sp>
      <p:sp>
        <p:nvSpPr>
          <p:cNvPr id="42" name="Text 0">
            <a:extLst>
              <a:ext uri="{FF2B5EF4-FFF2-40B4-BE49-F238E27FC236}">
                <a16:creationId xmlns:a16="http://schemas.microsoft.com/office/drawing/2014/main" id="{FFFBB21B-8550-8025-1B36-A45B18D2209F}"/>
              </a:ext>
            </a:extLst>
          </p:cNvPr>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Agent Portal – Store manager</a:t>
            </a:r>
            <a:endParaRPr lang="en-US" sz="2800" dirty="0"/>
          </a:p>
        </p:txBody>
      </p:sp>
      <p:sp>
        <p:nvSpPr>
          <p:cNvPr id="43" name="Rounded Rectangle 42"/>
          <p:cNvSpPr/>
          <p:nvPr/>
        </p:nvSpPr>
        <p:spPr>
          <a:xfrm>
            <a:off x="548640" y="1463040"/>
            <a:ext cx="6142434" cy="3794760"/>
          </a:xfrm>
          <a:prstGeom prst="roundRect">
            <a:avLst>
              <a:gd name="adj" fmla="val 2409"/>
            </a:avLst>
          </a:prstGeom>
          <a:solidFill>
            <a:srgbClr val="F3F7FC"/>
          </a:solidFill>
          <a:ln w="9525">
            <a:solidFill>
              <a:srgbClr val="C9D6E8"/>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94944" y="1545336"/>
            <a:ext cx="109728" cy="109728"/>
          </a:xfrm>
          <a:prstGeom prst="ellipse">
            <a:avLst/>
          </a:prstGeom>
          <a:solidFill>
            <a:srgbClr val="E5534B"/>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Oval 44"/>
          <p:cNvSpPr/>
          <p:nvPr/>
        </p:nvSpPr>
        <p:spPr>
          <a:xfrm>
            <a:off x="877824" y="1545336"/>
            <a:ext cx="109728" cy="109728"/>
          </a:xfrm>
          <a:prstGeom prst="ellipse">
            <a:avLst/>
          </a:prstGeom>
          <a:solidFill>
            <a:srgbClr val="F2A9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Oval 45"/>
          <p:cNvSpPr/>
          <p:nvPr/>
        </p:nvSpPr>
        <p:spPr>
          <a:xfrm>
            <a:off x="1060704" y="1545336"/>
            <a:ext cx="109728" cy="109728"/>
          </a:xfrm>
          <a:prstGeom prst="ellipse">
            <a:avLst/>
          </a:prstGeom>
          <a:solidFill>
            <a:srgbClr val="3DBA5D"/>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ectangle 46"/>
          <p:cNvSpPr/>
          <p:nvPr/>
        </p:nvSpPr>
        <p:spPr>
          <a:xfrm>
            <a:off x="548640" y="1737360"/>
            <a:ext cx="6142434" cy="3520440"/>
          </a:xfrm>
          <a:prstGeom prst="rect">
            <a:avLst/>
          </a:prstGeom>
          <a:solidFill>
            <a:srgbClr val="FFFFFF"/>
          </a:solidFill>
          <a:ln w="19050">
            <a:solidFill>
              <a:srgbClr val="2E75B6"/>
            </a:solidFill>
            <a:prstDash val="dash"/>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548640" y="1737360"/>
            <a:ext cx="6142434" cy="3520440"/>
          </a:xfrm>
          <a:prstGeom prst="rect">
            <a:avLst/>
          </a:prstGeom>
          <a:noFill/>
        </p:spPr>
        <p:txBody>
          <a:bodyPr wrap="square" lIns="0" rIns="0" tIns="0" bIns="0" anchor="ctr">
            <a:spAutoFit/>
          </a:bodyPr>
          <a:lstStyle/>
          <a:p>
            <a:pPr algn="ctr">
              <a:spcAft>
                <a:spcPts val="600"/>
              </a:spcAft>
            </a:pPr>
            <a:r>
              <a:rPr sz="1400" b="0">
                <a:solidFill>
                  <a:srgbClr val="5F6B7A"/>
                </a:solidFill>
                <a:latin typeface="Arial"/>
              </a:rPr>
              <a:t>Store Manager screenshot</a:t>
            </a:r>
          </a:p>
          <a:p>
            <a:pPr algn="ctr">
              <a:spcAft>
                <a:spcPts val="600"/>
              </a:spcAft>
            </a:pPr>
            <a:r>
              <a:rPr sz="1400" b="0">
                <a:solidFill>
                  <a:srgbClr val="5F6B7A"/>
                </a:solidFill>
                <a:latin typeface="Arial"/>
              </a:rPr>
              <a:t>Save it as docs/store_manager_portal.png and rerun the build script</a:t>
            </a:r>
          </a:p>
        </p:txBody>
      </p:sp>
      <p:sp>
        <p:nvSpPr>
          <p:cNvPr id="49" name="Oval 48"/>
          <p:cNvSpPr/>
          <p:nvPr/>
        </p:nvSpPr>
        <p:spPr>
          <a:xfrm>
            <a:off x="1670678" y="2420462"/>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670678" y="2420462"/>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1</a:t>
            </a:r>
          </a:p>
        </p:txBody>
      </p:sp>
      <p:sp>
        <p:nvSpPr>
          <p:cNvPr id="51" name="Oval 50"/>
          <p:cNvSpPr/>
          <p:nvPr/>
        </p:nvSpPr>
        <p:spPr>
          <a:xfrm>
            <a:off x="2592044" y="1804385"/>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2592044" y="1804385"/>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2</a:t>
            </a:r>
          </a:p>
        </p:txBody>
      </p:sp>
      <p:sp>
        <p:nvSpPr>
          <p:cNvPr id="53" name="Oval 52"/>
          <p:cNvSpPr/>
          <p:nvPr/>
        </p:nvSpPr>
        <p:spPr>
          <a:xfrm>
            <a:off x="5417563" y="3325215"/>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417563" y="3325215"/>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3</a:t>
            </a:r>
          </a:p>
        </p:txBody>
      </p:sp>
      <p:sp>
        <p:nvSpPr>
          <p:cNvPr id="55" name="Oval 54"/>
          <p:cNvSpPr/>
          <p:nvPr/>
        </p:nvSpPr>
        <p:spPr>
          <a:xfrm>
            <a:off x="1639966" y="4944618"/>
            <a:ext cx="274320" cy="274320"/>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1639966" y="4944618"/>
            <a:ext cx="274320" cy="274320"/>
          </a:xfrm>
          <a:prstGeom prst="rect">
            <a:avLst/>
          </a:prstGeom>
          <a:noFill/>
        </p:spPr>
        <p:txBody>
          <a:bodyPr wrap="square" lIns="0" rIns="0" tIns="0" bIns="0" anchor="ctr">
            <a:spAutoFit/>
          </a:bodyPr>
          <a:lstStyle/>
          <a:p>
            <a:pPr algn="ctr">
              <a:spcAft>
                <a:spcPts val="0"/>
              </a:spcAft>
            </a:pPr>
            <a:r>
              <a:rPr sz="1100" b="1">
                <a:solidFill>
                  <a:srgbClr val="1F3864"/>
                </a:solidFill>
                <a:latin typeface="Arial"/>
              </a:rPr>
              <a:t>4</a:t>
            </a:r>
          </a:p>
        </p:txBody>
      </p:sp>
      <p:sp>
        <p:nvSpPr>
          <p:cNvPr id="57" name="Rounded Rectangle 56"/>
          <p:cNvSpPr/>
          <p:nvPr/>
        </p:nvSpPr>
        <p:spPr>
          <a:xfrm>
            <a:off x="7011114" y="1463040"/>
            <a:ext cx="4647486"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Oval 57"/>
          <p:cNvSpPr/>
          <p:nvPr/>
        </p:nvSpPr>
        <p:spPr>
          <a:xfrm>
            <a:off x="7175706" y="1733931"/>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7175706" y="1733931"/>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1</a:t>
            </a:r>
          </a:p>
        </p:txBody>
      </p:sp>
      <p:sp>
        <p:nvSpPr>
          <p:cNvPr id="60" name="TextBox 59"/>
          <p:cNvSpPr txBox="1"/>
          <p:nvPr/>
        </p:nvSpPr>
        <p:spPr>
          <a:xfrm>
            <a:off x="7651194" y="1554480"/>
            <a:ext cx="3870246"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One store, fixed by sign-in</a:t>
            </a:r>
          </a:p>
          <a:p>
            <a:pPr algn="l">
              <a:spcAft>
                <a:spcPts val="200"/>
              </a:spcAft>
            </a:pPr>
            <a:r>
              <a:rPr sz="1050" b="0">
                <a:solidFill>
                  <a:srgbClr val="5F6B7A"/>
                </a:solidFill>
                <a:latin typeface="Arial"/>
              </a:rPr>
              <a:t>This manager works in Kirkland; row-level security limits every query</a:t>
            </a:r>
          </a:p>
        </p:txBody>
      </p:sp>
      <p:sp>
        <p:nvSpPr>
          <p:cNvPr id="61" name="Rounded Rectangle 60"/>
          <p:cNvSpPr/>
          <p:nvPr/>
        </p:nvSpPr>
        <p:spPr>
          <a:xfrm>
            <a:off x="7011114" y="2443734"/>
            <a:ext cx="4647486"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Oval 61"/>
          <p:cNvSpPr/>
          <p:nvPr/>
        </p:nvSpPr>
        <p:spPr>
          <a:xfrm>
            <a:off x="7175706" y="2714625"/>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7175706" y="2714625"/>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2</a:t>
            </a:r>
          </a:p>
        </p:txBody>
      </p:sp>
      <p:sp>
        <p:nvSpPr>
          <p:cNvPr id="64" name="TextBox 63"/>
          <p:cNvSpPr txBox="1"/>
          <p:nvPr/>
        </p:nvSpPr>
        <p:spPr>
          <a:xfrm>
            <a:off x="7651194" y="2535174"/>
            <a:ext cx="3870246"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Read-only, with a reminder</a:t>
            </a:r>
          </a:p>
          <a:p>
            <a:pPr algn="l">
              <a:spcAft>
                <a:spcPts val="200"/>
              </a:spcAft>
            </a:pPr>
            <a:r>
              <a:rPr sz="1050" b="0">
                <a:solidFill>
                  <a:srgbClr val="5F6B7A"/>
                </a:solidFill>
                <a:latin typeface="Arial"/>
              </a:rPr>
              <a:t>Header says live stock and sales, read-only; footer asks users to check decisions</a:t>
            </a:r>
          </a:p>
        </p:txBody>
      </p:sp>
      <p:sp>
        <p:nvSpPr>
          <p:cNvPr id="65" name="Rounded Rectangle 64"/>
          <p:cNvSpPr/>
          <p:nvPr/>
        </p:nvSpPr>
        <p:spPr>
          <a:xfrm>
            <a:off x="7011114" y="3424428"/>
            <a:ext cx="4647486"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Oval 65"/>
          <p:cNvSpPr/>
          <p:nvPr/>
        </p:nvSpPr>
        <p:spPr>
          <a:xfrm>
            <a:off x="7175706" y="3695319"/>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7175706" y="3695319"/>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3</a:t>
            </a:r>
          </a:p>
        </p:txBody>
      </p:sp>
      <p:sp>
        <p:nvSpPr>
          <p:cNvPr id="68" name="TextBox 67"/>
          <p:cNvSpPr txBox="1"/>
          <p:nvPr/>
        </p:nvSpPr>
        <p:spPr>
          <a:xfrm>
            <a:off x="7651194" y="3515868"/>
            <a:ext cx="3870246"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Four starter questions</a:t>
            </a:r>
          </a:p>
          <a:p>
            <a:pPr algn="l">
              <a:spcAft>
                <a:spcPts val="200"/>
              </a:spcAft>
            </a:pPr>
            <a:r>
              <a:rPr sz="1050" b="0">
                <a:solidFill>
                  <a:srgbClr val="5F6B7A"/>
                </a:solidFill>
                <a:latin typeface="Arial"/>
              </a:rPr>
              <a:t>Excess stock, best sellers, capital tied up and seasonal pattern</a:t>
            </a:r>
          </a:p>
        </p:txBody>
      </p:sp>
      <p:sp>
        <p:nvSpPr>
          <p:cNvPr id="69" name="Rounded Rectangle 68"/>
          <p:cNvSpPr/>
          <p:nvPr/>
        </p:nvSpPr>
        <p:spPr>
          <a:xfrm>
            <a:off x="7011114" y="4405122"/>
            <a:ext cx="4647486" cy="852678"/>
          </a:xfrm>
          <a:prstGeom prst="roundRect">
            <a:avLst>
              <a:gd name="adj" fmla="val 10723"/>
            </a:avLst>
          </a:prstGeom>
          <a:solidFill>
            <a:srgbClr val="FFFFFF"/>
          </a:solidFill>
          <a:ln w="9525">
            <a:solidFill>
              <a:srgbClr val="D9E2EE"/>
            </a:solid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Oval 69"/>
          <p:cNvSpPr/>
          <p:nvPr/>
        </p:nvSpPr>
        <p:spPr>
          <a:xfrm>
            <a:off x="7175706" y="4676013"/>
            <a:ext cx="310896" cy="310896"/>
          </a:xfrm>
          <a:prstGeom prst="ellipse">
            <a:avLst/>
          </a:prstGeom>
          <a:solidFill>
            <a:srgbClr val="F2A900"/>
          </a:solidFill>
          <a:ln w="190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7175706" y="4676013"/>
            <a:ext cx="310896" cy="310896"/>
          </a:xfrm>
          <a:prstGeom prst="rect">
            <a:avLst/>
          </a:prstGeom>
          <a:noFill/>
        </p:spPr>
        <p:txBody>
          <a:bodyPr wrap="square" lIns="0" rIns="0" tIns="0" bIns="0" anchor="ctr">
            <a:spAutoFit/>
          </a:bodyPr>
          <a:lstStyle/>
          <a:p>
            <a:pPr algn="ctr">
              <a:spcAft>
                <a:spcPts val="0"/>
              </a:spcAft>
            </a:pPr>
            <a:r>
              <a:rPr sz="1200" b="1">
                <a:solidFill>
                  <a:srgbClr val="1F3864"/>
                </a:solidFill>
                <a:latin typeface="Arial"/>
              </a:rPr>
              <a:t>4</a:t>
            </a:r>
          </a:p>
        </p:txBody>
      </p:sp>
      <p:sp>
        <p:nvSpPr>
          <p:cNvPr id="72" name="TextBox 71"/>
          <p:cNvSpPr txBox="1"/>
          <p:nvPr/>
        </p:nvSpPr>
        <p:spPr>
          <a:xfrm>
            <a:off x="7651194" y="4496562"/>
            <a:ext cx="3870246" cy="669798"/>
          </a:xfrm>
          <a:prstGeom prst="rect">
            <a:avLst/>
          </a:prstGeom>
          <a:noFill/>
        </p:spPr>
        <p:txBody>
          <a:bodyPr wrap="square" lIns="0" rIns="0" tIns="0" bIns="0" anchor="ctr">
            <a:spAutoFit/>
          </a:bodyPr>
          <a:lstStyle/>
          <a:p>
            <a:pPr algn="l">
              <a:spcAft>
                <a:spcPts val="200"/>
              </a:spcAft>
            </a:pPr>
            <a:r>
              <a:rPr sz="1250" b="1">
                <a:solidFill>
                  <a:srgbClr val="1F3864"/>
                </a:solidFill>
                <a:latin typeface="Arial"/>
              </a:rPr>
              <a:t>Named identity</a:t>
            </a:r>
          </a:p>
          <a:p>
            <a:pPr algn="l">
              <a:spcAft>
                <a:spcPts val="200"/>
              </a:spcAft>
            </a:pPr>
            <a:r>
              <a:rPr sz="1050" b="0">
                <a:solidFill>
                  <a:srgbClr val="5F6B7A"/>
                </a:solidFill>
                <a:latin typeface="Arial"/>
              </a:rPr>
              <a:t>Name, role and store come from sign-in; chats stay private</a:t>
            </a:r>
          </a:p>
        </p:txBody>
      </p:sp>
      <p:sp>
        <p:nvSpPr>
          <p:cNvPr id="73" name="Rounded Rectangle 72"/>
          <p:cNvSpPr/>
          <p:nvPr/>
        </p:nvSpPr>
        <p:spPr>
          <a:xfrm>
            <a:off x="548640" y="5513832"/>
            <a:ext cx="11109960" cy="749808"/>
          </a:xfrm>
          <a:prstGeom prst="roundRect">
            <a:avLst>
              <a:gd name="adj" fmla="val 14634"/>
            </a:avLst>
          </a:prstGeom>
          <a:solidFill>
            <a:srgbClr val="1F3864"/>
          </a:solidFill>
          <a:ln>
            <a:no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22960" y="5513832"/>
            <a:ext cx="10561320" cy="749808"/>
          </a:xfrm>
          <a:prstGeom prst="rect">
            <a:avLst/>
          </a:prstGeom>
          <a:noFill/>
        </p:spPr>
        <p:txBody>
          <a:bodyPr wrap="square" lIns="0" rIns="0" tIns="0" bIns="0" anchor="ctr">
            <a:spAutoFit/>
          </a:bodyPr>
          <a:lstStyle/>
          <a:p>
            <a:pPr algn="l">
              <a:spcAft>
                <a:spcPts val="0"/>
              </a:spcAft>
            </a:pPr>
            <a:r>
              <a:rPr sz="1100" b="1" spc="120">
                <a:solidFill>
                  <a:srgbClr val="F2A900"/>
                </a:solidFill>
                <a:latin typeface="Arial"/>
              </a:rPr>
              <a:t>STORE MANAGER   </a:t>
            </a:r>
            <a:r>
              <a:rPr sz="1250" b="0">
                <a:solidFill>
                  <a:srgbClr val="FFFFFF"/>
                </a:solidFill>
                <a:latin typeface="Arial"/>
              </a:rPr>
              <a:t>Sees Kirkland only: 119,941 units on hand. Other stores' rows are never returned, because the limit is enforced in the database, not in the prompt.</a:t>
            </a:r>
          </a:p>
        </p:txBody>
      </p:sp>
      <p:sp>
        <p:nvSpPr>
          <p:cNvPr id="75" name="Rectangle 74"/>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extLst>
      <p:ext uri="{BB962C8B-B14F-4D97-AF65-F5344CB8AC3E}">
        <p14:creationId xmlns:p14="http://schemas.microsoft.com/office/powerpoint/2010/main" val="3081556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Governance: defence in depth</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No single control is relied on · every rule is enforced in code and tested</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Ankur</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AI Governance Lead</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15</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Shape 7"/>
          <p:cNvSpPr/>
          <p:nvPr/>
        </p:nvSpPr>
        <p:spPr>
          <a:xfrm>
            <a:off x="54864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1" name="Shape 8"/>
          <p:cNvSpPr/>
          <p:nvPr/>
        </p:nvSpPr>
        <p:spPr>
          <a:xfrm>
            <a:off x="77724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12" name="Image 1" descr="preencoded.png"/>
          <p:cNvPicPr>
            <a:picLocks noChangeAspect="1"/>
          </p:cNvPicPr>
          <p:nvPr/>
        </p:nvPicPr>
        <p:blipFill>
          <a:blip r:embed="rId4"/>
          <a:stretch>
            <a:fillRect/>
          </a:stretch>
        </p:blipFill>
        <p:spPr>
          <a:xfrm>
            <a:off x="902970" y="1634489"/>
            <a:ext cx="251460" cy="251460"/>
          </a:xfrm>
          <a:prstGeom prst="rect">
            <a:avLst/>
          </a:prstGeom>
        </p:spPr>
      </p:pic>
      <p:sp>
        <p:nvSpPr>
          <p:cNvPr id="13" name="Text 9"/>
          <p:cNvSpPr txBox="1"/>
          <p:nvPr/>
        </p:nvSpPr>
        <p:spPr>
          <a:xfrm>
            <a:off x="256032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1</a:t>
            </a:r>
            <a:endParaRPr lang="en-US" sz="2200" dirty="0"/>
          </a:p>
        </p:txBody>
      </p:sp>
      <p:sp>
        <p:nvSpPr>
          <p:cNvPr id="14" name="Text 10"/>
          <p:cNvSpPr txBox="1"/>
          <p:nvPr/>
        </p:nvSpPr>
        <p:spPr>
          <a:xfrm>
            <a:off x="77724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Row-level security</a:t>
            </a:r>
            <a:endParaRPr lang="en-US" sz="1400" dirty="0"/>
          </a:p>
        </p:txBody>
      </p:sp>
      <p:sp>
        <p:nvSpPr>
          <p:cNvPr id="15" name="Text 11"/>
          <p:cNvSpPr txBox="1"/>
          <p:nvPr/>
        </p:nvSpPr>
        <p:spPr>
          <a:xfrm>
            <a:off x="77724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Who sees what</a:t>
            </a:r>
            <a:endParaRPr lang="en-US" sz="1200" dirty="0"/>
          </a:p>
        </p:txBody>
      </p:sp>
      <p:sp>
        <p:nvSpPr>
          <p:cNvPr id="16" name="Text 12"/>
          <p:cNvSpPr txBox="1"/>
          <p:nvPr/>
        </p:nvSpPr>
        <p:spPr>
          <a:xfrm>
            <a:off x="77724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Cases A1–A6, V1</a:t>
            </a:r>
            <a:endParaRPr lang="en-US" sz="1050" dirty="0"/>
          </a:p>
        </p:txBody>
      </p:sp>
      <p:sp>
        <p:nvSpPr>
          <p:cNvPr id="17" name="Shape 13"/>
          <p:cNvSpPr/>
          <p:nvPr/>
        </p:nvSpPr>
        <p:spPr>
          <a:xfrm>
            <a:off x="338328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18" name="Shape 14"/>
          <p:cNvSpPr/>
          <p:nvPr/>
        </p:nvSpPr>
        <p:spPr>
          <a:xfrm>
            <a:off x="361188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19" name="Image 2" descr="preencoded.png"/>
          <p:cNvPicPr>
            <a:picLocks noChangeAspect="1"/>
          </p:cNvPicPr>
          <p:nvPr/>
        </p:nvPicPr>
        <p:blipFill>
          <a:blip r:embed="rId5"/>
          <a:stretch>
            <a:fillRect/>
          </a:stretch>
        </p:blipFill>
        <p:spPr>
          <a:xfrm>
            <a:off x="3737610" y="1634489"/>
            <a:ext cx="251460" cy="251460"/>
          </a:xfrm>
          <a:prstGeom prst="rect">
            <a:avLst/>
          </a:prstGeom>
        </p:spPr>
      </p:pic>
      <p:sp>
        <p:nvSpPr>
          <p:cNvPr id="20" name="Text 15"/>
          <p:cNvSpPr txBox="1"/>
          <p:nvPr/>
        </p:nvSpPr>
        <p:spPr>
          <a:xfrm>
            <a:off x="539496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2</a:t>
            </a:r>
            <a:endParaRPr lang="en-US" sz="2200" dirty="0"/>
          </a:p>
        </p:txBody>
      </p:sp>
      <p:sp>
        <p:nvSpPr>
          <p:cNvPr id="21" name="Text 16"/>
          <p:cNvSpPr txBox="1"/>
          <p:nvPr/>
        </p:nvSpPr>
        <p:spPr>
          <a:xfrm>
            <a:off x="361188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Scope gate</a:t>
            </a:r>
            <a:endParaRPr lang="en-US" sz="1400" dirty="0"/>
          </a:p>
        </p:txBody>
      </p:sp>
      <p:sp>
        <p:nvSpPr>
          <p:cNvPr id="22" name="Text 17"/>
          <p:cNvSpPr txBox="1"/>
          <p:nvPr/>
        </p:nvSpPr>
        <p:spPr>
          <a:xfrm>
            <a:off x="361188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is asked</a:t>
            </a:r>
            <a:endParaRPr lang="en-US" sz="1200" dirty="0"/>
          </a:p>
        </p:txBody>
      </p:sp>
      <p:sp>
        <p:nvSpPr>
          <p:cNvPr id="23" name="Text 18"/>
          <p:cNvSpPr txBox="1"/>
          <p:nvPr/>
        </p:nvSpPr>
        <p:spPr>
          <a:xfrm>
            <a:off x="361188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38-message gate check</a:t>
            </a:r>
            <a:endParaRPr lang="en-US" sz="1050" dirty="0"/>
          </a:p>
        </p:txBody>
      </p:sp>
      <p:sp>
        <p:nvSpPr>
          <p:cNvPr id="24" name="Shape 19"/>
          <p:cNvSpPr/>
          <p:nvPr/>
        </p:nvSpPr>
        <p:spPr>
          <a:xfrm>
            <a:off x="621792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25" name="Shape 20"/>
          <p:cNvSpPr/>
          <p:nvPr/>
        </p:nvSpPr>
        <p:spPr>
          <a:xfrm>
            <a:off x="644652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26" name="Image 3" descr="preencoded.png"/>
          <p:cNvPicPr>
            <a:picLocks noChangeAspect="1"/>
          </p:cNvPicPr>
          <p:nvPr/>
        </p:nvPicPr>
        <p:blipFill>
          <a:blip r:embed="rId6"/>
          <a:stretch>
            <a:fillRect/>
          </a:stretch>
        </p:blipFill>
        <p:spPr>
          <a:xfrm>
            <a:off x="6572250" y="1634489"/>
            <a:ext cx="251460" cy="251460"/>
          </a:xfrm>
          <a:prstGeom prst="rect">
            <a:avLst/>
          </a:prstGeom>
        </p:spPr>
      </p:pic>
      <p:sp>
        <p:nvSpPr>
          <p:cNvPr id="27" name="Text 21"/>
          <p:cNvSpPr txBox="1"/>
          <p:nvPr/>
        </p:nvSpPr>
        <p:spPr>
          <a:xfrm>
            <a:off x="822960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3</a:t>
            </a:r>
            <a:endParaRPr lang="en-US" sz="2200" dirty="0"/>
          </a:p>
        </p:txBody>
      </p:sp>
      <p:sp>
        <p:nvSpPr>
          <p:cNvPr id="28" name="Text 22"/>
          <p:cNvSpPr txBox="1"/>
          <p:nvPr/>
        </p:nvSpPr>
        <p:spPr>
          <a:xfrm>
            <a:off x="644652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Read-only transaction</a:t>
            </a:r>
            <a:endParaRPr lang="en-US" sz="1400" dirty="0"/>
          </a:p>
        </p:txBody>
      </p:sp>
      <p:sp>
        <p:nvSpPr>
          <p:cNvPr id="29" name="Text 23"/>
          <p:cNvSpPr txBox="1"/>
          <p:nvPr/>
        </p:nvSpPr>
        <p:spPr>
          <a:xfrm>
            <a:off x="644652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can change</a:t>
            </a:r>
            <a:endParaRPr lang="en-US" sz="1200" dirty="0"/>
          </a:p>
        </p:txBody>
      </p:sp>
      <p:sp>
        <p:nvSpPr>
          <p:cNvPr id="30" name="Text 24"/>
          <p:cNvSpPr txBox="1"/>
          <p:nvPr/>
        </p:nvSpPr>
        <p:spPr>
          <a:xfrm>
            <a:off x="644652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V3, O1, O8, T6</a:t>
            </a:r>
            <a:endParaRPr lang="en-US" sz="1050" dirty="0"/>
          </a:p>
        </p:txBody>
      </p:sp>
      <p:sp>
        <p:nvSpPr>
          <p:cNvPr id="31" name="Shape 25"/>
          <p:cNvSpPr/>
          <p:nvPr/>
        </p:nvSpPr>
        <p:spPr>
          <a:xfrm>
            <a:off x="9052560" y="13716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2" name="Shape 26"/>
          <p:cNvSpPr/>
          <p:nvPr/>
        </p:nvSpPr>
        <p:spPr>
          <a:xfrm>
            <a:off x="9281160" y="15087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33" name="Image 4" descr="preencoded.png"/>
          <p:cNvPicPr>
            <a:picLocks noChangeAspect="1"/>
          </p:cNvPicPr>
          <p:nvPr/>
        </p:nvPicPr>
        <p:blipFill>
          <a:blip r:embed="rId7"/>
          <a:stretch>
            <a:fillRect/>
          </a:stretch>
        </p:blipFill>
        <p:spPr>
          <a:xfrm>
            <a:off x="9406890" y="1634489"/>
            <a:ext cx="251460" cy="251460"/>
          </a:xfrm>
          <a:prstGeom prst="rect">
            <a:avLst/>
          </a:prstGeom>
        </p:spPr>
      </p:pic>
      <p:sp>
        <p:nvSpPr>
          <p:cNvPr id="34" name="Text 27"/>
          <p:cNvSpPr txBox="1"/>
          <p:nvPr/>
        </p:nvSpPr>
        <p:spPr>
          <a:xfrm>
            <a:off x="11064240" y="14813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4</a:t>
            </a:r>
            <a:endParaRPr lang="en-US" sz="2200" dirty="0"/>
          </a:p>
        </p:txBody>
      </p:sp>
      <p:sp>
        <p:nvSpPr>
          <p:cNvPr id="35" name="Text 28"/>
          <p:cNvSpPr txBox="1"/>
          <p:nvPr/>
        </p:nvSpPr>
        <p:spPr>
          <a:xfrm>
            <a:off x="9281160" y="20848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Answer verifier</a:t>
            </a:r>
            <a:endParaRPr lang="en-US" sz="1400" dirty="0"/>
          </a:p>
        </p:txBody>
      </p:sp>
      <p:sp>
        <p:nvSpPr>
          <p:cNvPr id="36" name="Text 29"/>
          <p:cNvSpPr txBox="1"/>
          <p:nvPr/>
        </p:nvSpPr>
        <p:spPr>
          <a:xfrm>
            <a:off x="9281160" y="23591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is claimed</a:t>
            </a:r>
            <a:endParaRPr lang="en-US" sz="1200" dirty="0"/>
          </a:p>
        </p:txBody>
      </p:sp>
      <p:sp>
        <p:nvSpPr>
          <p:cNvPr id="37" name="Text 30"/>
          <p:cNvSpPr txBox="1"/>
          <p:nvPr/>
        </p:nvSpPr>
        <p:spPr>
          <a:xfrm>
            <a:off x="9281160" y="25786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29-answer audit; H1–H3</a:t>
            </a:r>
            <a:endParaRPr lang="en-US" sz="1050" dirty="0"/>
          </a:p>
        </p:txBody>
      </p:sp>
      <p:sp>
        <p:nvSpPr>
          <p:cNvPr id="38" name="Shape 31"/>
          <p:cNvSpPr/>
          <p:nvPr/>
        </p:nvSpPr>
        <p:spPr>
          <a:xfrm>
            <a:off x="548640" y="29718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39" name="Shape 32"/>
          <p:cNvSpPr/>
          <p:nvPr/>
        </p:nvSpPr>
        <p:spPr>
          <a:xfrm>
            <a:off x="77724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40" name="Image 5" descr="preencoded.png"/>
          <p:cNvPicPr>
            <a:picLocks noChangeAspect="1"/>
          </p:cNvPicPr>
          <p:nvPr/>
        </p:nvPicPr>
        <p:blipFill>
          <a:blip r:embed="rId8"/>
          <a:stretch>
            <a:fillRect/>
          </a:stretch>
        </p:blipFill>
        <p:spPr>
          <a:xfrm>
            <a:off x="902970" y="3234690"/>
            <a:ext cx="251460" cy="251460"/>
          </a:xfrm>
          <a:prstGeom prst="rect">
            <a:avLst/>
          </a:prstGeom>
        </p:spPr>
      </p:pic>
      <p:sp>
        <p:nvSpPr>
          <p:cNvPr id="41" name="Text 33"/>
          <p:cNvSpPr txBox="1"/>
          <p:nvPr/>
        </p:nvSpPr>
        <p:spPr>
          <a:xfrm>
            <a:off x="2560320" y="30815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5</a:t>
            </a:r>
            <a:endParaRPr lang="en-US" sz="2200" dirty="0"/>
          </a:p>
        </p:txBody>
      </p:sp>
      <p:sp>
        <p:nvSpPr>
          <p:cNvPr id="42" name="Text 34"/>
          <p:cNvSpPr txBox="1"/>
          <p:nvPr/>
        </p:nvSpPr>
        <p:spPr>
          <a:xfrm>
            <a:off x="77724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Privacy guard</a:t>
            </a:r>
            <a:endParaRPr lang="en-US" sz="1400" dirty="0"/>
          </a:p>
        </p:txBody>
      </p:sp>
      <p:sp>
        <p:nvSpPr>
          <p:cNvPr id="43" name="Text 35"/>
          <p:cNvSpPr txBox="1"/>
          <p:nvPr/>
        </p:nvSpPr>
        <p:spPr>
          <a:xfrm>
            <a:off x="777240" y="39593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No customer personal details</a:t>
            </a:r>
            <a:endParaRPr lang="en-US" sz="1200" dirty="0"/>
          </a:p>
        </p:txBody>
      </p:sp>
      <p:sp>
        <p:nvSpPr>
          <p:cNvPr id="44" name="Text 36"/>
          <p:cNvSpPr txBox="1"/>
          <p:nvPr/>
        </p:nvSpPr>
        <p:spPr>
          <a:xfrm>
            <a:off x="777240" y="41788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Tool test; T8</a:t>
            </a:r>
            <a:endParaRPr lang="en-US" sz="1050" dirty="0"/>
          </a:p>
        </p:txBody>
      </p:sp>
      <p:sp>
        <p:nvSpPr>
          <p:cNvPr id="45" name="Shape 37"/>
          <p:cNvSpPr/>
          <p:nvPr/>
        </p:nvSpPr>
        <p:spPr>
          <a:xfrm>
            <a:off x="3383280" y="29718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46" name="Shape 38"/>
          <p:cNvSpPr/>
          <p:nvPr/>
        </p:nvSpPr>
        <p:spPr>
          <a:xfrm>
            <a:off x="361188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47" name="Image 6" descr="preencoded.png"/>
          <p:cNvPicPr>
            <a:picLocks noChangeAspect="1"/>
          </p:cNvPicPr>
          <p:nvPr/>
        </p:nvPicPr>
        <p:blipFill>
          <a:blip r:embed="rId9"/>
          <a:stretch>
            <a:fillRect/>
          </a:stretch>
        </p:blipFill>
        <p:spPr>
          <a:xfrm>
            <a:off x="3737610" y="3234690"/>
            <a:ext cx="251460" cy="251460"/>
          </a:xfrm>
          <a:prstGeom prst="rect">
            <a:avLst/>
          </a:prstGeom>
        </p:spPr>
      </p:pic>
      <p:sp>
        <p:nvSpPr>
          <p:cNvPr id="48" name="Text 39"/>
          <p:cNvSpPr txBox="1"/>
          <p:nvPr/>
        </p:nvSpPr>
        <p:spPr>
          <a:xfrm>
            <a:off x="5394960" y="30815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6</a:t>
            </a:r>
            <a:endParaRPr lang="en-US" sz="2200" dirty="0"/>
          </a:p>
        </p:txBody>
      </p:sp>
      <p:sp>
        <p:nvSpPr>
          <p:cNvPr id="49" name="Text 40"/>
          <p:cNvSpPr txBox="1"/>
          <p:nvPr/>
        </p:nvSpPr>
        <p:spPr>
          <a:xfrm>
            <a:off x="361188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Audit log</a:t>
            </a:r>
            <a:endParaRPr lang="en-US" sz="1400" dirty="0"/>
          </a:p>
        </p:txBody>
      </p:sp>
      <p:sp>
        <p:nvSpPr>
          <p:cNvPr id="50" name="Text 41"/>
          <p:cNvSpPr txBox="1"/>
          <p:nvPr/>
        </p:nvSpPr>
        <p:spPr>
          <a:xfrm>
            <a:off x="3611880" y="39593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happened</a:t>
            </a:r>
            <a:endParaRPr lang="en-US" sz="1200" dirty="0"/>
          </a:p>
        </p:txBody>
      </p:sp>
      <p:sp>
        <p:nvSpPr>
          <p:cNvPr id="51" name="Text 42"/>
          <p:cNvSpPr txBox="1"/>
          <p:nvPr/>
        </p:nvSpPr>
        <p:spPr>
          <a:xfrm>
            <a:off x="3611880" y="41788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Reviewed in audit</a:t>
            </a:r>
            <a:endParaRPr lang="en-US" sz="1050" dirty="0"/>
          </a:p>
        </p:txBody>
      </p:sp>
      <p:sp>
        <p:nvSpPr>
          <p:cNvPr id="52" name="Shape 43"/>
          <p:cNvSpPr/>
          <p:nvPr/>
        </p:nvSpPr>
        <p:spPr>
          <a:xfrm>
            <a:off x="6217920" y="2971800"/>
            <a:ext cx="2651760" cy="1508760"/>
          </a:xfrm>
          <a:prstGeom prst="roundRect">
            <a:avLst>
              <a:gd name="adj" fmla="val 5455"/>
            </a:avLst>
          </a:prstGeom>
          <a:solidFill>
            <a:srgbClr val="FFFFFF"/>
          </a:solidFill>
          <a:ln w="9525">
            <a:solidFill>
              <a:srgbClr val="D9E2EE"/>
            </a:solidFill>
            <a:prstDash val="solid"/>
          </a:ln>
          <a:effectLst>
            <a:outerShdw blurRad="101600" dist="25400" dir="5400000" algn="bl" rotWithShape="0">
              <a:srgbClr val="1F3864">
                <a:alpha val="12000"/>
              </a:srgbClr>
            </a:outerShdw>
          </a:effectLst>
        </p:spPr>
        <p:txBody>
          <a:bodyPr/>
          <a:lstStyle/>
          <a:p>
            <a:endParaRPr lang="en-NZ"/>
          </a:p>
        </p:txBody>
      </p:sp>
      <p:sp>
        <p:nvSpPr>
          <p:cNvPr id="53" name="Shape 44"/>
          <p:cNvSpPr/>
          <p:nvPr/>
        </p:nvSpPr>
        <p:spPr>
          <a:xfrm>
            <a:off x="644652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54" name="Image 7" descr="preencoded.png"/>
          <p:cNvPicPr>
            <a:picLocks noChangeAspect="1"/>
          </p:cNvPicPr>
          <p:nvPr/>
        </p:nvPicPr>
        <p:blipFill>
          <a:blip r:embed="rId3"/>
          <a:stretch>
            <a:fillRect/>
          </a:stretch>
        </p:blipFill>
        <p:spPr>
          <a:xfrm>
            <a:off x="6572250" y="3234690"/>
            <a:ext cx="251460" cy="251460"/>
          </a:xfrm>
          <a:prstGeom prst="rect">
            <a:avLst/>
          </a:prstGeom>
        </p:spPr>
      </p:pic>
      <p:sp>
        <p:nvSpPr>
          <p:cNvPr id="55" name="Text 45"/>
          <p:cNvSpPr txBox="1"/>
          <p:nvPr/>
        </p:nvSpPr>
        <p:spPr>
          <a:xfrm>
            <a:off x="8229600" y="3081528"/>
            <a:ext cx="457200" cy="457200"/>
          </a:xfrm>
          <a:prstGeom prst="rect">
            <a:avLst/>
          </a:prstGeom>
          <a:noFill/>
          <a:ln/>
        </p:spPr>
        <p:txBody>
          <a:bodyPr wrap="square" lIns="0" tIns="0" rIns="0" bIns="0" rtlCol="0" anchor="t"/>
          <a:lstStyle/>
          <a:p>
            <a:pPr marL="0" indent="0" algn="r">
              <a:buNone/>
            </a:pPr>
            <a:r>
              <a:rPr lang="en-US" sz="2200" b="1" dirty="0">
                <a:solidFill>
                  <a:srgbClr val="C9D6E8"/>
                </a:solidFill>
                <a:latin typeface="Arial" pitchFamily="34" charset="0"/>
                <a:ea typeface="Arial" pitchFamily="34" charset="-122"/>
                <a:cs typeface="Arial" pitchFamily="34" charset="-120"/>
              </a:rPr>
              <a:t>7</a:t>
            </a:r>
            <a:endParaRPr lang="en-US" sz="2200" dirty="0"/>
          </a:p>
        </p:txBody>
      </p:sp>
      <p:sp>
        <p:nvSpPr>
          <p:cNvPr id="56" name="Text 46"/>
          <p:cNvSpPr txBox="1"/>
          <p:nvPr/>
        </p:nvSpPr>
        <p:spPr>
          <a:xfrm>
            <a:off x="644652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Azure content filter</a:t>
            </a:r>
            <a:endParaRPr lang="en-US" sz="1400" dirty="0"/>
          </a:p>
        </p:txBody>
      </p:sp>
      <p:sp>
        <p:nvSpPr>
          <p:cNvPr id="57" name="Text 47"/>
          <p:cNvSpPr txBox="1"/>
          <p:nvPr/>
        </p:nvSpPr>
        <p:spPr>
          <a:xfrm>
            <a:off x="6446520" y="3959352"/>
            <a:ext cx="2286000" cy="237744"/>
          </a:xfrm>
          <a:prstGeom prst="rect">
            <a:avLst/>
          </a:prstGeom>
          <a:noFill/>
          <a:ln/>
        </p:spPr>
        <p:txBody>
          <a:bodyPr wrap="square" lIns="0" tIns="0" rIns="0" bIns="0" rtlCol="0" anchor="t"/>
          <a:lstStyle/>
          <a:p>
            <a:pPr marL="0" indent="0">
              <a:buNone/>
            </a:pPr>
            <a:r>
              <a:rPr lang="en-US" sz="1200" b="1" dirty="0">
                <a:solidFill>
                  <a:srgbClr val="2E75B6"/>
                </a:solidFill>
                <a:latin typeface="Arial" pitchFamily="34" charset="0"/>
                <a:ea typeface="Arial" pitchFamily="34" charset="-122"/>
                <a:cs typeface="Arial" pitchFamily="34" charset="-120"/>
              </a:rPr>
              <a:t>What is generated</a:t>
            </a:r>
            <a:endParaRPr lang="en-US" sz="1200" dirty="0"/>
          </a:p>
        </p:txBody>
      </p:sp>
      <p:sp>
        <p:nvSpPr>
          <p:cNvPr id="58" name="Text 48"/>
          <p:cNvSpPr txBox="1"/>
          <p:nvPr/>
        </p:nvSpPr>
        <p:spPr>
          <a:xfrm>
            <a:off x="6446520" y="4178808"/>
            <a:ext cx="2286000" cy="237744"/>
          </a:xfrm>
          <a:prstGeom prst="rect">
            <a:avLst/>
          </a:prstGeom>
          <a:noFill/>
          <a:ln/>
        </p:spPr>
        <p:txBody>
          <a:bodyPr wrap="square" lIns="0" tIns="0" rIns="0" bIns="0" rtlCol="0" anchor="t"/>
          <a:lstStyle/>
          <a:p>
            <a:pPr marL="0" indent="0">
              <a:buNone/>
            </a:pPr>
            <a:r>
              <a:rPr lang="en-US" sz="1050" dirty="0">
                <a:solidFill>
                  <a:srgbClr val="5F6B7A"/>
                </a:solidFill>
                <a:latin typeface="Arial" pitchFamily="34" charset="0"/>
                <a:ea typeface="Arial" pitchFamily="34" charset="-122"/>
                <a:cs typeface="Arial" pitchFamily="34" charset="-120"/>
              </a:rPr>
              <a:t>Always on</a:t>
            </a:r>
            <a:endParaRPr lang="en-US" sz="1050" dirty="0"/>
          </a:p>
        </p:txBody>
      </p:sp>
      <p:sp>
        <p:nvSpPr>
          <p:cNvPr id="59" name="Shape 49"/>
          <p:cNvSpPr/>
          <p:nvPr/>
        </p:nvSpPr>
        <p:spPr>
          <a:xfrm>
            <a:off x="9052560" y="2971800"/>
            <a:ext cx="2651760" cy="1508760"/>
          </a:xfrm>
          <a:prstGeom prst="roundRect">
            <a:avLst>
              <a:gd name="adj" fmla="val 5455"/>
            </a:avLst>
          </a:prstGeom>
          <a:solidFill>
            <a:srgbClr val="F2A900"/>
          </a:solidFill>
          <a:ln w="12700">
            <a:solidFill>
              <a:srgbClr val="F2A900"/>
            </a:solidFill>
            <a:prstDash val="solid"/>
          </a:ln>
        </p:spPr>
        <p:txBody>
          <a:bodyPr/>
          <a:lstStyle/>
          <a:p>
            <a:endParaRPr lang="en-NZ"/>
          </a:p>
        </p:txBody>
      </p:sp>
      <p:sp>
        <p:nvSpPr>
          <p:cNvPr id="60" name="Shape 50"/>
          <p:cNvSpPr/>
          <p:nvPr/>
        </p:nvSpPr>
        <p:spPr>
          <a:xfrm>
            <a:off x="9281160" y="3108960"/>
            <a:ext cx="502920" cy="502920"/>
          </a:xfrm>
          <a:prstGeom prst="ellipse">
            <a:avLst/>
          </a:prstGeom>
          <a:solidFill>
            <a:srgbClr val="1F3864"/>
          </a:solidFill>
          <a:ln w="12700">
            <a:solidFill>
              <a:srgbClr val="1F3864"/>
            </a:solidFill>
            <a:prstDash val="solid"/>
          </a:ln>
        </p:spPr>
        <p:txBody>
          <a:bodyPr/>
          <a:lstStyle/>
          <a:p>
            <a:endParaRPr lang="en-NZ"/>
          </a:p>
        </p:txBody>
      </p:sp>
      <p:pic>
        <p:nvPicPr>
          <p:cNvPr id="61" name="Image 8" descr="preencoded.png"/>
          <p:cNvPicPr>
            <a:picLocks noChangeAspect="1"/>
          </p:cNvPicPr>
          <p:nvPr/>
        </p:nvPicPr>
        <p:blipFill>
          <a:blip r:embed="rId10"/>
          <a:stretch>
            <a:fillRect/>
          </a:stretch>
        </p:blipFill>
        <p:spPr>
          <a:xfrm>
            <a:off x="9406890" y="3234690"/>
            <a:ext cx="251460" cy="251460"/>
          </a:xfrm>
          <a:prstGeom prst="rect">
            <a:avLst/>
          </a:prstGeom>
        </p:spPr>
      </p:pic>
      <p:sp>
        <p:nvSpPr>
          <p:cNvPr id="62" name="Text 51"/>
          <p:cNvSpPr txBox="1"/>
          <p:nvPr/>
        </p:nvSpPr>
        <p:spPr>
          <a:xfrm>
            <a:off x="9281160" y="3685032"/>
            <a:ext cx="2286000" cy="292608"/>
          </a:xfrm>
          <a:prstGeom prst="rect">
            <a:avLst/>
          </a:prstGeom>
          <a:noFill/>
          <a:ln/>
        </p:spPr>
        <p:txBody>
          <a:bodyPr wrap="square" lIns="0" tIns="0" rIns="0" bIns="0" rtlCol="0" anchor="t"/>
          <a:lstStyle/>
          <a:p>
            <a:pPr marL="0" indent="0">
              <a:buNone/>
            </a:pPr>
            <a:r>
              <a:rPr lang="en-US" sz="1400" b="1" dirty="0">
                <a:solidFill>
                  <a:srgbClr val="1F3864"/>
                </a:solidFill>
                <a:latin typeface="Arial" pitchFamily="34" charset="0"/>
                <a:ea typeface="Arial" pitchFamily="34" charset="-122"/>
                <a:cs typeface="Arial" pitchFamily="34" charset="-120"/>
              </a:rPr>
              <a:t>Human approval</a:t>
            </a:r>
            <a:endParaRPr lang="en-US" sz="1400" dirty="0"/>
          </a:p>
        </p:txBody>
      </p:sp>
      <p:sp>
        <p:nvSpPr>
          <p:cNvPr id="63" name="Text 52"/>
          <p:cNvSpPr txBox="1"/>
          <p:nvPr/>
        </p:nvSpPr>
        <p:spPr>
          <a:xfrm>
            <a:off x="9281160" y="3959352"/>
            <a:ext cx="2286000" cy="457200"/>
          </a:xfrm>
          <a:prstGeom prst="rect">
            <a:avLst/>
          </a:prstGeom>
          <a:noFill/>
          <a:ln/>
        </p:spPr>
        <p:txBody>
          <a:bodyPr wrap="square" lIns="0" tIns="0" rIns="0" bIns="0" rtlCol="0" anchor="t"/>
          <a:lstStyle/>
          <a:p>
            <a:pPr marL="0" indent="0">
              <a:buNone/>
            </a:pPr>
            <a:r>
              <a:rPr lang="en-US" sz="1050" dirty="0">
                <a:solidFill>
                  <a:srgbClr val="1F3864"/>
                </a:solidFill>
                <a:latin typeface="Arial" pitchFamily="34" charset="0"/>
                <a:ea typeface="Arial" pitchFamily="34" charset="-122"/>
                <a:cs typeface="Arial" pitchFamily="34" charset="-120"/>
              </a:rPr>
              <a:t>The agent only drafts. A manager stays accountable for every decision.</a:t>
            </a:r>
            <a:endParaRPr lang="en-US" sz="1150" dirty="0"/>
          </a:p>
        </p:txBody>
      </p:sp>
      <p:sp>
        <p:nvSpPr>
          <p:cNvPr id="64" name="Rounded Rectangle 63"/>
          <p:cNvSpPr/>
          <p:nvPr/>
        </p:nvSpPr>
        <p:spPr>
          <a:xfrm>
            <a:off x="548640" y="4754880"/>
            <a:ext cx="11109960" cy="1463040"/>
          </a:xfrm>
          <a:prstGeom prst="roundRect">
            <a:avLst>
              <a:gd name="adj" fmla="val 8750"/>
            </a:avLst>
          </a:prstGeom>
          <a:solidFill>
            <a:srgbClr val="1F3864"/>
          </a:solidFill>
          <a:ln>
            <a:noFill/>
          </a:ln>
          <a:effectLst>
            <a:outerShdw blurRad="152400" dist="38100" dir="5400000" algn="t" rotWithShape="0">
              <a:srgbClr val="1F3864">
                <a:alpha val="16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822960" y="4919472"/>
            <a:ext cx="7315200" cy="237744"/>
          </a:xfrm>
          <a:prstGeom prst="rect">
            <a:avLst/>
          </a:prstGeom>
          <a:noFill/>
        </p:spPr>
        <p:txBody>
          <a:bodyPr wrap="square" lIns="0" rIns="0" tIns="0" bIns="0" anchor="ctr">
            <a:spAutoFit/>
          </a:bodyPr>
          <a:lstStyle/>
          <a:p>
            <a:pPr algn="l">
              <a:spcAft>
                <a:spcPts val="0"/>
              </a:spcAft>
            </a:pPr>
            <a:r>
              <a:rPr sz="1000" b="1" spc="150">
                <a:solidFill>
                  <a:srgbClr val="F2A900"/>
                </a:solidFill>
                <a:latin typeface="Arial"/>
              </a:rPr>
              <a:t>WHY THIS HOLDS UP</a:t>
            </a:r>
          </a:p>
        </p:txBody>
      </p:sp>
      <p:sp>
        <p:nvSpPr>
          <p:cNvPr id="66" name="TextBox 65"/>
          <p:cNvSpPr txBox="1"/>
          <p:nvPr/>
        </p:nvSpPr>
        <p:spPr>
          <a:xfrm>
            <a:off x="822960" y="5212080"/>
            <a:ext cx="320040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7</a:t>
            </a:r>
          </a:p>
        </p:txBody>
      </p:sp>
      <p:sp>
        <p:nvSpPr>
          <p:cNvPr id="67" name="TextBox 66"/>
          <p:cNvSpPr txBox="1"/>
          <p:nvPr/>
        </p:nvSpPr>
        <p:spPr>
          <a:xfrm>
            <a:off x="822960" y="5715000"/>
            <a:ext cx="3200400" cy="45720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automated controls, each enforced in code</a:t>
            </a:r>
          </a:p>
        </p:txBody>
      </p:sp>
      <p:sp>
        <p:nvSpPr>
          <p:cNvPr id="68" name="Rectangle 67"/>
          <p:cNvSpPr/>
          <p:nvPr/>
        </p:nvSpPr>
        <p:spPr>
          <a:xfrm>
            <a:off x="4178808" y="5257800"/>
            <a:ext cx="9525" cy="77724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extBox 68"/>
          <p:cNvSpPr txBox="1"/>
          <p:nvPr/>
        </p:nvSpPr>
        <p:spPr>
          <a:xfrm>
            <a:off x="4343400" y="5212080"/>
            <a:ext cx="320040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1</a:t>
            </a:r>
          </a:p>
        </p:txBody>
      </p:sp>
      <p:sp>
        <p:nvSpPr>
          <p:cNvPr id="70" name="TextBox 69"/>
          <p:cNvSpPr txBox="1"/>
          <p:nvPr/>
        </p:nvSpPr>
        <p:spPr>
          <a:xfrm>
            <a:off x="4343400" y="5715000"/>
            <a:ext cx="3200400" cy="45720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human approval: the agent only drafts, a manager decides</a:t>
            </a:r>
          </a:p>
        </p:txBody>
      </p:sp>
      <p:sp>
        <p:nvSpPr>
          <p:cNvPr id="71" name="Rectangle 70"/>
          <p:cNvSpPr/>
          <p:nvPr/>
        </p:nvSpPr>
        <p:spPr>
          <a:xfrm>
            <a:off x="7699248" y="5257800"/>
            <a:ext cx="9525" cy="777240"/>
          </a:xfrm>
          <a:prstGeom prst="rect">
            <a:avLst/>
          </a:prstGeom>
          <a:solidFill>
            <a:srgbClr val="3F5F9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7863840" y="5212080"/>
            <a:ext cx="3200400" cy="457200"/>
          </a:xfrm>
          <a:prstGeom prst="rect">
            <a:avLst/>
          </a:prstGeom>
          <a:noFill/>
        </p:spPr>
        <p:txBody>
          <a:bodyPr wrap="square" lIns="0" rIns="0" tIns="0" bIns="0" anchor="ctr">
            <a:spAutoFit/>
          </a:bodyPr>
          <a:lstStyle/>
          <a:p>
            <a:pPr algn="l">
              <a:spcAft>
                <a:spcPts val="0"/>
              </a:spcAft>
            </a:pPr>
            <a:r>
              <a:rPr sz="2800" b="1">
                <a:solidFill>
                  <a:srgbClr val="FFFFFF"/>
                </a:solidFill>
                <a:latin typeface="Arial"/>
              </a:rPr>
              <a:t>0</a:t>
            </a:r>
          </a:p>
        </p:txBody>
      </p:sp>
      <p:sp>
        <p:nvSpPr>
          <p:cNvPr id="73" name="TextBox 72"/>
          <p:cNvSpPr txBox="1"/>
          <p:nvPr/>
        </p:nvSpPr>
        <p:spPr>
          <a:xfrm>
            <a:off x="7863840" y="5715000"/>
            <a:ext cx="3200400" cy="457200"/>
          </a:xfrm>
          <a:prstGeom prst="rect">
            <a:avLst/>
          </a:prstGeom>
          <a:noFill/>
        </p:spPr>
        <p:txBody>
          <a:bodyPr wrap="square" lIns="0" rIns="0" tIns="0" bIns="0" anchor="t">
            <a:spAutoFit/>
          </a:bodyPr>
          <a:lstStyle/>
          <a:p>
            <a:pPr algn="l">
              <a:spcAft>
                <a:spcPts val="0"/>
              </a:spcAft>
            </a:pPr>
            <a:r>
              <a:rPr sz="1100" b="0">
                <a:solidFill>
                  <a:srgbClr val="C9D6E8"/>
                </a:solidFill>
                <a:latin typeface="Arial"/>
              </a:rPr>
              <a:t>controls trusted alone: every layer is tested</a:t>
            </a:r>
          </a:p>
        </p:txBody>
      </p:sp>
      <p:sp>
        <p:nvSpPr>
          <p:cNvPr id="74" name="Rectangle 73"/>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Risk management</a:t>
            </a:r>
            <a:endParaRPr lang="en-US" sz="2800" dirty="0"/>
          </a:p>
        </p:txBody>
      </p:sp>
      <p:sp>
        <p:nvSpPr>
          <p:cNvPr id="3" name="Text 1"/>
          <p:cNvSpPr txBox="1"/>
          <p:nvPr/>
        </p:nvSpPr>
        <p:spPr>
          <a:xfrm>
            <a:off x="548640" y="987552"/>
            <a:ext cx="8778240" cy="365760"/>
          </a:xfrm>
          <a:prstGeom prst="rect">
            <a:avLst/>
          </a:prstGeom>
          <a:noFill/>
          <a:ln/>
        </p:spPr>
        <p:txBody>
          <a:bodyPr wrap="square" lIns="0" tIns="0" rIns="0" bIns="0" rtlCol="0" anchor="t"/>
          <a:lstStyle/>
          <a:p>
            <a:pPr marL="0" indent="0">
              <a:buNone/>
            </a:pPr>
            <a:r>
              <a:rPr lang="en-US" sz="1400" dirty="0">
                <a:solidFill>
                  <a:srgbClr val="5F6B7A"/>
                </a:solidFill>
                <a:latin typeface="Arial" pitchFamily="34" charset="0"/>
                <a:ea typeface="Arial" pitchFamily="34" charset="-122"/>
                <a:cs typeface="Arial" pitchFamily="34" charset="-120"/>
              </a:rPr>
              <a:t>Main risks found during the project, rated Low / Medium / High</a:t>
            </a:r>
            <a:endParaRPr lang="en-US" sz="1400" dirty="0"/>
          </a:p>
        </p:txBody>
      </p:sp>
      <p:sp>
        <p:nvSpPr>
          <p:cNvPr id="4" name="Shape 2"/>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5" name="Shape 3"/>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6"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7" name="Text 4"/>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Ankur</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AI Governance Lead</a:t>
            </a:r>
            <a:endParaRPr lang="en-US" sz="1200" dirty="0"/>
          </a:p>
        </p:txBody>
      </p:sp>
      <p:sp>
        <p:nvSpPr>
          <p:cNvPr id="8" name="Text 5"/>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16</a:t>
            </a:r>
            <a:endParaRPr lang="en-US" sz="1000" dirty="0"/>
          </a:p>
        </p:txBody>
      </p:sp>
      <p:sp>
        <p:nvSpPr>
          <p:cNvPr id="9" name="Text 6"/>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10" name="Text 7"/>
          <p:cNvSpPr txBox="1"/>
          <p:nvPr/>
        </p:nvSpPr>
        <p:spPr>
          <a:xfrm>
            <a:off x="685800" y="1463040"/>
            <a:ext cx="2286000" cy="274320"/>
          </a:xfrm>
          <a:prstGeom prst="rect">
            <a:avLst/>
          </a:prstGeom>
          <a:noFill/>
          <a:ln/>
        </p:spPr>
        <p:txBody>
          <a:bodyPr wrap="square" lIns="0" tIns="0" rIns="0" bIns="0" rtlCol="0" anchor="t"/>
          <a:lstStyle/>
          <a:p>
            <a:pPr marL="0" indent="0">
              <a:buNone/>
            </a:pPr>
            <a:r>
              <a:rPr lang="en-US" sz="1000" b="1" kern="0" spc="100" dirty="0">
                <a:solidFill>
                  <a:srgbClr val="2E75B6"/>
                </a:solidFill>
                <a:latin typeface="Arial" pitchFamily="34" charset="0"/>
                <a:ea typeface="Arial" pitchFamily="34" charset="-122"/>
                <a:cs typeface="Arial" pitchFamily="34" charset="-120"/>
              </a:rPr>
              <a:t>RISK</a:t>
            </a:r>
            <a:endParaRPr lang="en-US" sz="1000" dirty="0"/>
          </a:p>
        </p:txBody>
      </p:sp>
      <p:sp>
        <p:nvSpPr>
          <p:cNvPr id="11" name="Text 8"/>
          <p:cNvSpPr txBox="1"/>
          <p:nvPr/>
        </p:nvSpPr>
        <p:spPr>
          <a:xfrm>
            <a:off x="4480560" y="1463040"/>
            <a:ext cx="2286000" cy="274320"/>
          </a:xfrm>
          <a:prstGeom prst="rect">
            <a:avLst/>
          </a:prstGeom>
          <a:noFill/>
          <a:ln/>
        </p:spPr>
        <p:txBody>
          <a:bodyPr wrap="square" lIns="0" tIns="0" rIns="0" bIns="0" rtlCol="0" anchor="t"/>
          <a:lstStyle/>
          <a:p>
            <a:pPr marL="0" indent="0">
              <a:buNone/>
            </a:pPr>
            <a:r>
              <a:rPr lang="en-US" sz="1000" b="1" kern="0" spc="100" dirty="0">
                <a:solidFill>
                  <a:srgbClr val="2E75B6"/>
                </a:solidFill>
                <a:latin typeface="Arial" pitchFamily="34" charset="0"/>
                <a:ea typeface="Arial" pitchFamily="34" charset="-122"/>
                <a:cs typeface="Arial" pitchFamily="34" charset="-120"/>
              </a:rPr>
              <a:t>LIKELIHOOD</a:t>
            </a:r>
            <a:endParaRPr lang="en-US" sz="1000" dirty="0"/>
          </a:p>
        </p:txBody>
      </p:sp>
      <p:sp>
        <p:nvSpPr>
          <p:cNvPr id="12" name="Text 9"/>
          <p:cNvSpPr txBox="1"/>
          <p:nvPr/>
        </p:nvSpPr>
        <p:spPr>
          <a:xfrm>
            <a:off x="5760720" y="1463040"/>
            <a:ext cx="2286000" cy="274320"/>
          </a:xfrm>
          <a:prstGeom prst="rect">
            <a:avLst/>
          </a:prstGeom>
          <a:noFill/>
          <a:ln/>
        </p:spPr>
        <p:txBody>
          <a:bodyPr wrap="square" lIns="0" tIns="0" rIns="0" bIns="0" rtlCol="0" anchor="t"/>
          <a:lstStyle/>
          <a:p>
            <a:pPr marL="0" indent="0">
              <a:buNone/>
            </a:pPr>
            <a:r>
              <a:rPr lang="en-US" sz="1000" b="1" kern="0" spc="100" dirty="0">
                <a:solidFill>
                  <a:srgbClr val="2E75B6"/>
                </a:solidFill>
                <a:latin typeface="Arial" pitchFamily="34" charset="0"/>
                <a:ea typeface="Arial" pitchFamily="34" charset="-122"/>
                <a:cs typeface="Arial" pitchFamily="34" charset="-120"/>
              </a:rPr>
              <a:t>IMPACT</a:t>
            </a:r>
            <a:endParaRPr lang="en-US" sz="1000" dirty="0"/>
          </a:p>
        </p:txBody>
      </p:sp>
      <p:sp>
        <p:nvSpPr>
          <p:cNvPr id="13" name="Text 10"/>
          <p:cNvSpPr txBox="1"/>
          <p:nvPr/>
        </p:nvSpPr>
        <p:spPr>
          <a:xfrm>
            <a:off x="7178040" y="1463040"/>
            <a:ext cx="4343400" cy="274320"/>
          </a:xfrm>
          <a:prstGeom prst="rect">
            <a:avLst/>
          </a:prstGeom>
          <a:noFill/>
          <a:ln/>
        </p:spPr>
        <p:txBody>
          <a:bodyPr wrap="square" lIns="0" tIns="0" rIns="0" bIns="0" rtlCol="0" anchor="t"/>
          <a:lstStyle/>
          <a:p>
            <a:pPr marL="0" indent="0">
              <a:buNone/>
            </a:pPr>
            <a:r>
              <a:rPr lang="en-US" sz="1100" b="1" kern="0" spc="100" dirty="0">
                <a:solidFill>
                  <a:srgbClr val="2E75B6"/>
                </a:solidFill>
                <a:latin typeface="Arial" pitchFamily="34" charset="0"/>
                <a:ea typeface="Arial" pitchFamily="34" charset="-122"/>
                <a:cs typeface="Arial" pitchFamily="34" charset="-120"/>
              </a:rPr>
              <a:t>MITIGATION</a:t>
            </a:r>
            <a:endParaRPr lang="en-US" sz="1000" dirty="0"/>
          </a:p>
        </p:txBody>
      </p:sp>
      <p:sp>
        <p:nvSpPr>
          <p:cNvPr id="14" name="Shape 11"/>
          <p:cNvSpPr/>
          <p:nvPr/>
        </p:nvSpPr>
        <p:spPr>
          <a:xfrm>
            <a:off x="548640" y="1810512"/>
            <a:ext cx="11109960"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15" name="Text 12"/>
          <p:cNvSpPr txBox="1"/>
          <p:nvPr/>
        </p:nvSpPr>
        <p:spPr>
          <a:xfrm>
            <a:off x="685800" y="1810512"/>
            <a:ext cx="356616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Hallucinated figure or product</a:t>
            </a:r>
            <a:endParaRPr lang="en-US" sz="1250" dirty="0"/>
          </a:p>
        </p:txBody>
      </p:sp>
      <p:sp>
        <p:nvSpPr>
          <p:cNvPr id="16" name="Shape 13"/>
          <p:cNvSpPr/>
          <p:nvPr/>
        </p:nvSpPr>
        <p:spPr>
          <a:xfrm>
            <a:off x="4480560" y="194767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17" name="Text 14"/>
          <p:cNvSpPr txBox="1"/>
          <p:nvPr/>
        </p:nvSpPr>
        <p:spPr>
          <a:xfrm>
            <a:off x="4480560" y="194767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18" name="Shape 15"/>
          <p:cNvSpPr/>
          <p:nvPr/>
        </p:nvSpPr>
        <p:spPr>
          <a:xfrm>
            <a:off x="5760720" y="194767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19" name="Text 16"/>
          <p:cNvSpPr txBox="1"/>
          <p:nvPr/>
        </p:nvSpPr>
        <p:spPr>
          <a:xfrm>
            <a:off x="5760720" y="194767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20" name="Text 17"/>
          <p:cNvSpPr txBox="1"/>
          <p:nvPr/>
        </p:nvSpPr>
        <p:spPr>
          <a:xfrm>
            <a:off x="7178040" y="1810512"/>
            <a:ext cx="4343400" cy="566928"/>
          </a:xfrm>
          <a:prstGeom prst="rect">
            <a:avLst/>
          </a:prstGeom>
          <a:noFill/>
          <a:ln/>
        </p:spPr>
        <p:txBody>
          <a:bodyPr wrap="square" lIns="0" tIns="0" rIns="0" bIns="0" rtlCol="0" anchor="ctr"/>
          <a:lstStyle/>
          <a:p>
            <a:pPr marL="0" indent="0">
              <a:buNone/>
            </a:pPr>
            <a:r>
              <a:rPr lang="en-US" sz="1155" dirty="0">
                <a:solidFill>
                  <a:srgbClr val="222B3A"/>
                </a:solidFill>
                <a:latin typeface="Arial" pitchFamily="34" charset="0"/>
                <a:ea typeface="Arial" pitchFamily="34" charset="-122"/>
                <a:cs typeface="Arial" pitchFamily="34" charset="-120"/>
              </a:rPr>
              <a:t>Every figure and code checked; calculate tool; audit and 75 cases rerun</a:t>
            </a:r>
            <a:endParaRPr lang="en-US" sz="1150" dirty="0"/>
          </a:p>
        </p:txBody>
      </p:sp>
      <p:sp>
        <p:nvSpPr>
          <p:cNvPr id="21" name="Shape 18"/>
          <p:cNvSpPr/>
          <p:nvPr/>
        </p:nvSpPr>
        <p:spPr>
          <a:xfrm>
            <a:off x="548640" y="2450592"/>
            <a:ext cx="11109960" cy="566928"/>
          </a:xfrm>
          <a:prstGeom prst="roundRect">
            <a:avLst>
              <a:gd name="adj" fmla="val 19355"/>
            </a:avLst>
          </a:prstGeom>
          <a:solidFill>
            <a:srgbClr val="FFFFFF"/>
          </a:solidFill>
          <a:ln w="12700">
            <a:solidFill>
              <a:srgbClr val="FFFFFF"/>
            </a:solidFill>
            <a:prstDash val="solid"/>
          </a:ln>
        </p:spPr>
        <p:txBody>
          <a:bodyPr/>
          <a:lstStyle/>
          <a:p>
            <a:endParaRPr lang="en-NZ"/>
          </a:p>
        </p:txBody>
      </p:sp>
      <p:sp>
        <p:nvSpPr>
          <p:cNvPr id="22" name="Text 19"/>
          <p:cNvSpPr txBox="1"/>
          <p:nvPr/>
        </p:nvSpPr>
        <p:spPr>
          <a:xfrm>
            <a:off x="685800" y="2450592"/>
            <a:ext cx="356616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Person sees stores they should not</a:t>
            </a:r>
            <a:endParaRPr lang="en-US" sz="1250" dirty="0"/>
          </a:p>
        </p:txBody>
      </p:sp>
      <p:sp>
        <p:nvSpPr>
          <p:cNvPr id="23" name="Shape 20"/>
          <p:cNvSpPr/>
          <p:nvPr/>
        </p:nvSpPr>
        <p:spPr>
          <a:xfrm>
            <a:off x="4480560" y="2587752"/>
            <a:ext cx="914400" cy="292608"/>
          </a:xfrm>
          <a:prstGeom prst="roundRect">
            <a:avLst>
              <a:gd name="adj" fmla="val 50000"/>
            </a:avLst>
          </a:prstGeom>
          <a:solidFill>
            <a:srgbClr val="E2F0D9"/>
          </a:solidFill>
          <a:ln w="12700">
            <a:solidFill>
              <a:srgbClr val="E2F0D9"/>
            </a:solidFill>
            <a:prstDash val="solid"/>
          </a:ln>
        </p:spPr>
        <p:txBody>
          <a:bodyPr/>
          <a:lstStyle/>
          <a:p>
            <a:endParaRPr lang="en-NZ"/>
          </a:p>
        </p:txBody>
      </p:sp>
      <p:sp>
        <p:nvSpPr>
          <p:cNvPr id="24" name="Text 21"/>
          <p:cNvSpPr txBox="1"/>
          <p:nvPr/>
        </p:nvSpPr>
        <p:spPr>
          <a:xfrm>
            <a:off x="4480560" y="2587752"/>
            <a:ext cx="914400" cy="292608"/>
          </a:xfrm>
          <a:prstGeom prst="rect">
            <a:avLst/>
          </a:prstGeom>
          <a:noFill/>
          <a:ln/>
        </p:spPr>
        <p:txBody>
          <a:bodyPr wrap="square" lIns="0" tIns="0" rIns="0" bIns="0" rtlCol="0" anchor="ctr"/>
          <a:lstStyle/>
          <a:p>
            <a:pPr marL="0" indent="0" algn="ctr">
              <a:buNone/>
            </a:pPr>
            <a:r>
              <a:rPr lang="en-US" sz="950" b="1" dirty="0">
                <a:solidFill>
                  <a:srgbClr val="375623"/>
                </a:solidFill>
                <a:latin typeface="Arial" pitchFamily="34" charset="0"/>
                <a:ea typeface="Arial" pitchFamily="34" charset="-122"/>
                <a:cs typeface="Arial" pitchFamily="34" charset="-120"/>
              </a:rPr>
              <a:t>LOW</a:t>
            </a:r>
            <a:endParaRPr lang="en-US" sz="950" dirty="0"/>
          </a:p>
        </p:txBody>
      </p:sp>
      <p:sp>
        <p:nvSpPr>
          <p:cNvPr id="25" name="Shape 22"/>
          <p:cNvSpPr/>
          <p:nvPr/>
        </p:nvSpPr>
        <p:spPr>
          <a:xfrm>
            <a:off x="5760720" y="258775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26" name="Text 23"/>
          <p:cNvSpPr txBox="1"/>
          <p:nvPr/>
        </p:nvSpPr>
        <p:spPr>
          <a:xfrm>
            <a:off x="5760720" y="258775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27" name="Text 24"/>
          <p:cNvSpPr txBox="1"/>
          <p:nvPr/>
        </p:nvSpPr>
        <p:spPr>
          <a:xfrm>
            <a:off x="7178040" y="2450592"/>
            <a:ext cx="4343400" cy="566928"/>
          </a:xfrm>
          <a:prstGeom prst="rect">
            <a:avLst/>
          </a:prstGeom>
          <a:noFill/>
          <a:ln/>
        </p:spPr>
        <p:txBody>
          <a:bodyPr wrap="square" lIns="0" tIns="0" rIns="0" bIns="0" rtlCol="0" anchor="ctr"/>
          <a:lstStyle/>
          <a:p>
            <a:pPr marL="0" indent="0">
              <a:buNone/>
            </a:pPr>
            <a:r>
              <a:rPr lang="en-US" sz="1155" dirty="0">
                <a:solidFill>
                  <a:srgbClr val="222B3A"/>
                </a:solidFill>
                <a:latin typeface="Arial" pitchFamily="34" charset="0"/>
                <a:ea typeface="Arial" pitchFamily="34" charset="-122"/>
                <a:cs typeface="Arial" pitchFamily="34" charset="-120"/>
              </a:rPr>
              <a:t>Row-level security, one identity per person; A1–A6, V1</a:t>
            </a:r>
            <a:endParaRPr lang="en-US" sz="1150" dirty="0"/>
          </a:p>
        </p:txBody>
      </p:sp>
      <p:sp>
        <p:nvSpPr>
          <p:cNvPr id="28" name="Shape 25"/>
          <p:cNvSpPr/>
          <p:nvPr/>
        </p:nvSpPr>
        <p:spPr>
          <a:xfrm>
            <a:off x="548640" y="3090672"/>
            <a:ext cx="11109960"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29" name="Text 26"/>
          <p:cNvSpPr txBox="1"/>
          <p:nvPr/>
        </p:nvSpPr>
        <p:spPr>
          <a:xfrm>
            <a:off x="685800" y="3090672"/>
            <a:ext cx="356616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Prompt injection or request to change data</a:t>
            </a:r>
            <a:endParaRPr lang="en-US" sz="1250" dirty="0"/>
          </a:p>
        </p:txBody>
      </p:sp>
      <p:sp>
        <p:nvSpPr>
          <p:cNvPr id="30" name="Shape 27"/>
          <p:cNvSpPr/>
          <p:nvPr/>
        </p:nvSpPr>
        <p:spPr>
          <a:xfrm>
            <a:off x="4480560" y="322783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31" name="Text 28"/>
          <p:cNvSpPr txBox="1"/>
          <p:nvPr/>
        </p:nvSpPr>
        <p:spPr>
          <a:xfrm>
            <a:off x="4480560" y="322783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32" name="Shape 29"/>
          <p:cNvSpPr/>
          <p:nvPr/>
        </p:nvSpPr>
        <p:spPr>
          <a:xfrm>
            <a:off x="5760720" y="322783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33" name="Text 30"/>
          <p:cNvSpPr txBox="1"/>
          <p:nvPr/>
        </p:nvSpPr>
        <p:spPr>
          <a:xfrm>
            <a:off x="5760720" y="322783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34" name="Text 31"/>
          <p:cNvSpPr txBox="1"/>
          <p:nvPr/>
        </p:nvSpPr>
        <p:spPr>
          <a:xfrm>
            <a:off x="7178040" y="3090672"/>
            <a:ext cx="4343400" cy="566928"/>
          </a:xfrm>
          <a:prstGeom prst="rect">
            <a:avLst/>
          </a:prstGeom>
          <a:noFill/>
          <a:ln/>
        </p:spPr>
        <p:txBody>
          <a:bodyPr wrap="square" lIns="0" tIns="0" rIns="0" bIns="0" rtlCol="0" anchor="ctr"/>
          <a:lstStyle/>
          <a:p>
            <a:pPr marL="0" indent="0">
              <a:buNone/>
            </a:pPr>
            <a:r>
              <a:rPr lang="en-US" sz="1155" dirty="0">
                <a:solidFill>
                  <a:srgbClr val="222B3A"/>
                </a:solidFill>
                <a:latin typeface="Arial" pitchFamily="34" charset="0"/>
                <a:ea typeface="Arial" pitchFamily="34" charset="-122"/>
                <a:cs typeface="Arial" pitchFamily="34" charset="-120"/>
              </a:rPr>
              <a:t>Read-only SQL; tool output treated as data; content filter; scope gate</a:t>
            </a:r>
            <a:endParaRPr lang="en-US" sz="1150" dirty="0"/>
          </a:p>
        </p:txBody>
      </p:sp>
      <p:sp>
        <p:nvSpPr>
          <p:cNvPr id="35" name="Shape 32"/>
          <p:cNvSpPr/>
          <p:nvPr/>
        </p:nvSpPr>
        <p:spPr>
          <a:xfrm>
            <a:off x="548640" y="3730752"/>
            <a:ext cx="11109960" cy="566928"/>
          </a:xfrm>
          <a:prstGeom prst="roundRect">
            <a:avLst>
              <a:gd name="adj" fmla="val 19355"/>
            </a:avLst>
          </a:prstGeom>
          <a:solidFill>
            <a:srgbClr val="FFFFFF"/>
          </a:solidFill>
          <a:ln w="12700">
            <a:solidFill>
              <a:srgbClr val="FFFFFF"/>
            </a:solidFill>
            <a:prstDash val="solid"/>
          </a:ln>
        </p:spPr>
        <p:txBody>
          <a:bodyPr/>
          <a:lstStyle/>
          <a:p>
            <a:endParaRPr lang="en-NZ"/>
          </a:p>
        </p:txBody>
      </p:sp>
      <p:sp>
        <p:nvSpPr>
          <p:cNvPr id="36" name="Text 33"/>
          <p:cNvSpPr txBox="1"/>
          <p:nvPr/>
        </p:nvSpPr>
        <p:spPr>
          <a:xfrm>
            <a:off x="685800" y="3730752"/>
            <a:ext cx="356616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Customer personal details exposed</a:t>
            </a:r>
            <a:endParaRPr lang="en-US" sz="1250" dirty="0"/>
          </a:p>
        </p:txBody>
      </p:sp>
      <p:sp>
        <p:nvSpPr>
          <p:cNvPr id="37" name="Shape 34"/>
          <p:cNvSpPr/>
          <p:nvPr/>
        </p:nvSpPr>
        <p:spPr>
          <a:xfrm>
            <a:off x="4480560" y="386791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38" name="Text 35"/>
          <p:cNvSpPr txBox="1"/>
          <p:nvPr/>
        </p:nvSpPr>
        <p:spPr>
          <a:xfrm>
            <a:off x="4480560" y="386791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39" name="Shape 36"/>
          <p:cNvSpPr/>
          <p:nvPr/>
        </p:nvSpPr>
        <p:spPr>
          <a:xfrm>
            <a:off x="5760720" y="386791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40" name="Text 37"/>
          <p:cNvSpPr txBox="1"/>
          <p:nvPr/>
        </p:nvSpPr>
        <p:spPr>
          <a:xfrm>
            <a:off x="5760720" y="386791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41" name="Text 38"/>
          <p:cNvSpPr txBox="1"/>
          <p:nvPr/>
        </p:nvSpPr>
        <p:spPr>
          <a:xfrm>
            <a:off x="7178040" y="3730752"/>
            <a:ext cx="4343400" cy="566928"/>
          </a:xfrm>
          <a:prstGeom prst="rect">
            <a:avLst/>
          </a:prstGeom>
          <a:noFill/>
          <a:ln/>
        </p:spPr>
        <p:txBody>
          <a:bodyPr wrap="square" lIns="0" tIns="0" rIns="0" bIns="0" rtlCol="0" anchor="ctr"/>
          <a:lstStyle/>
          <a:p>
            <a:pPr marL="0" indent="0">
              <a:buNone/>
            </a:pPr>
            <a:r>
              <a:rPr lang="en-US" sz="1155" dirty="0">
                <a:solidFill>
                  <a:srgbClr val="222B3A"/>
                </a:solidFill>
                <a:latin typeface="Arial" pitchFamily="34" charset="0"/>
                <a:ea typeface="Arial" pitchFamily="34" charset="-122"/>
                <a:cs typeface="Arial" pitchFamily="34" charset="-120"/>
              </a:rPr>
              <a:t>Columns refused and removed; prompt rule; test and case T8</a:t>
            </a:r>
            <a:endParaRPr lang="en-US" sz="1150" dirty="0"/>
          </a:p>
        </p:txBody>
      </p:sp>
      <p:sp>
        <p:nvSpPr>
          <p:cNvPr id="42" name="Shape 39"/>
          <p:cNvSpPr/>
          <p:nvPr/>
        </p:nvSpPr>
        <p:spPr>
          <a:xfrm>
            <a:off x="548640" y="4370832"/>
            <a:ext cx="11109960"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43" name="Text 40"/>
          <p:cNvSpPr txBox="1"/>
          <p:nvPr/>
        </p:nvSpPr>
        <p:spPr>
          <a:xfrm>
            <a:off x="685800" y="4370832"/>
            <a:ext cx="356616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Synthetic or incomplete data misleads</a:t>
            </a:r>
            <a:endParaRPr lang="en-US" sz="1250" dirty="0"/>
          </a:p>
        </p:txBody>
      </p:sp>
      <p:sp>
        <p:nvSpPr>
          <p:cNvPr id="44" name="Shape 41"/>
          <p:cNvSpPr/>
          <p:nvPr/>
        </p:nvSpPr>
        <p:spPr>
          <a:xfrm>
            <a:off x="4480560" y="450799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45" name="Text 42"/>
          <p:cNvSpPr txBox="1"/>
          <p:nvPr/>
        </p:nvSpPr>
        <p:spPr>
          <a:xfrm>
            <a:off x="4480560" y="450799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46" name="Shape 43"/>
          <p:cNvSpPr/>
          <p:nvPr/>
        </p:nvSpPr>
        <p:spPr>
          <a:xfrm>
            <a:off x="5760720" y="450799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47" name="Text 44"/>
          <p:cNvSpPr txBox="1"/>
          <p:nvPr/>
        </p:nvSpPr>
        <p:spPr>
          <a:xfrm>
            <a:off x="5760720" y="450799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48" name="Text 45"/>
          <p:cNvSpPr txBox="1"/>
          <p:nvPr/>
        </p:nvSpPr>
        <p:spPr>
          <a:xfrm>
            <a:off x="7178040" y="4370832"/>
            <a:ext cx="4343400" cy="566928"/>
          </a:xfrm>
          <a:prstGeom prst="rect">
            <a:avLst/>
          </a:prstGeom>
          <a:noFill/>
          <a:ln/>
        </p:spPr>
        <p:txBody>
          <a:bodyPr wrap="square" lIns="0" tIns="0" rIns="0" bIns="0" rtlCol="0" anchor="ctr"/>
          <a:lstStyle/>
          <a:p>
            <a:pPr marL="0" indent="0">
              <a:buNone/>
            </a:pPr>
            <a:r>
              <a:rPr lang="en-US" sz="1155" dirty="0">
                <a:solidFill>
                  <a:srgbClr val="222B3A"/>
                </a:solidFill>
                <a:latin typeface="Arial" pitchFamily="34" charset="0"/>
                <a:ea typeface="Arial" pitchFamily="34" charset="-122"/>
                <a:cs typeface="Arial" pitchFamily="34" charset="-120"/>
              </a:rPr>
              <a:t>Limits stated; "within this dataset"; cost as upper bound; no forecasts</a:t>
            </a:r>
            <a:endParaRPr lang="en-US" sz="1150" dirty="0"/>
          </a:p>
        </p:txBody>
      </p:sp>
      <p:sp>
        <p:nvSpPr>
          <p:cNvPr id="49" name="Shape 46"/>
          <p:cNvSpPr/>
          <p:nvPr/>
        </p:nvSpPr>
        <p:spPr>
          <a:xfrm>
            <a:off x="548640" y="5010912"/>
            <a:ext cx="11109960" cy="566928"/>
          </a:xfrm>
          <a:prstGeom prst="roundRect">
            <a:avLst>
              <a:gd name="adj" fmla="val 19355"/>
            </a:avLst>
          </a:prstGeom>
          <a:solidFill>
            <a:srgbClr val="FFFFFF"/>
          </a:solidFill>
          <a:ln w="12700">
            <a:solidFill>
              <a:srgbClr val="FFFFFF"/>
            </a:solidFill>
            <a:prstDash val="solid"/>
          </a:ln>
        </p:spPr>
        <p:txBody>
          <a:bodyPr/>
          <a:lstStyle/>
          <a:p>
            <a:endParaRPr lang="en-NZ"/>
          </a:p>
        </p:txBody>
      </p:sp>
      <p:sp>
        <p:nvSpPr>
          <p:cNvPr id="50" name="Text 47"/>
          <p:cNvSpPr txBox="1"/>
          <p:nvPr/>
        </p:nvSpPr>
        <p:spPr>
          <a:xfrm>
            <a:off x="685800" y="5010912"/>
            <a:ext cx="356616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Inconsistent answers or wrong self-explanation</a:t>
            </a:r>
            <a:endParaRPr lang="en-US" sz="1250" dirty="0"/>
          </a:p>
        </p:txBody>
      </p:sp>
      <p:sp>
        <p:nvSpPr>
          <p:cNvPr id="51" name="Shape 48"/>
          <p:cNvSpPr/>
          <p:nvPr/>
        </p:nvSpPr>
        <p:spPr>
          <a:xfrm>
            <a:off x="4480560" y="5148072"/>
            <a:ext cx="914400" cy="292608"/>
          </a:xfrm>
          <a:prstGeom prst="roundRect">
            <a:avLst>
              <a:gd name="adj" fmla="val 50000"/>
            </a:avLst>
          </a:prstGeom>
          <a:solidFill>
            <a:srgbClr val="FBE4E4"/>
          </a:solidFill>
          <a:ln w="12700">
            <a:solidFill>
              <a:srgbClr val="FBE4E4"/>
            </a:solidFill>
            <a:prstDash val="solid"/>
          </a:ln>
        </p:spPr>
        <p:txBody>
          <a:bodyPr/>
          <a:lstStyle/>
          <a:p>
            <a:endParaRPr lang="en-NZ"/>
          </a:p>
        </p:txBody>
      </p:sp>
      <p:sp>
        <p:nvSpPr>
          <p:cNvPr id="52" name="Text 49"/>
          <p:cNvSpPr txBox="1"/>
          <p:nvPr/>
        </p:nvSpPr>
        <p:spPr>
          <a:xfrm>
            <a:off x="4480560" y="5148072"/>
            <a:ext cx="914400" cy="292608"/>
          </a:xfrm>
          <a:prstGeom prst="rect">
            <a:avLst/>
          </a:prstGeom>
          <a:noFill/>
          <a:ln/>
        </p:spPr>
        <p:txBody>
          <a:bodyPr wrap="square" lIns="0" tIns="0" rIns="0" bIns="0" rtlCol="0" anchor="ctr"/>
          <a:lstStyle/>
          <a:p>
            <a:pPr marL="0" indent="0" algn="ctr">
              <a:buNone/>
            </a:pPr>
            <a:r>
              <a:rPr lang="en-US" sz="950" b="1" dirty="0">
                <a:solidFill>
                  <a:srgbClr val="9C1C1C"/>
                </a:solidFill>
                <a:latin typeface="Arial" pitchFamily="34" charset="0"/>
                <a:ea typeface="Arial" pitchFamily="34" charset="-122"/>
                <a:cs typeface="Arial" pitchFamily="34" charset="-120"/>
              </a:rPr>
              <a:t>HIGH</a:t>
            </a:r>
            <a:endParaRPr lang="en-US" sz="950" dirty="0"/>
          </a:p>
        </p:txBody>
      </p:sp>
      <p:sp>
        <p:nvSpPr>
          <p:cNvPr id="53" name="Shape 50"/>
          <p:cNvSpPr/>
          <p:nvPr/>
        </p:nvSpPr>
        <p:spPr>
          <a:xfrm>
            <a:off x="5760720" y="514807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54" name="Text 51"/>
          <p:cNvSpPr txBox="1"/>
          <p:nvPr/>
        </p:nvSpPr>
        <p:spPr>
          <a:xfrm>
            <a:off x="5760720" y="514807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55" name="Text 52"/>
          <p:cNvSpPr txBox="1"/>
          <p:nvPr/>
        </p:nvSpPr>
        <p:spPr>
          <a:xfrm>
            <a:off x="7178040" y="5010912"/>
            <a:ext cx="4343400" cy="566928"/>
          </a:xfrm>
          <a:prstGeom prst="rect">
            <a:avLst/>
          </a:prstGeom>
          <a:noFill/>
          <a:ln/>
        </p:spPr>
        <p:txBody>
          <a:bodyPr wrap="square" lIns="0" tIns="0" rIns="0" bIns="0" rtlCol="0" anchor="ctr"/>
          <a:lstStyle/>
          <a:p>
            <a:pPr marL="0" indent="0">
              <a:buNone/>
            </a:pPr>
            <a:r>
              <a:rPr lang="en-US" sz="1155" dirty="0">
                <a:solidFill>
                  <a:srgbClr val="222B3A"/>
                </a:solidFill>
                <a:latin typeface="Arial" pitchFamily="34" charset="0"/>
                <a:ea typeface="Arial" pitchFamily="34" charset="-122"/>
                <a:cs typeface="Arial" pitchFamily="34" charset="-120"/>
              </a:rPr>
              <a:t>Fixed procedures in code; repeat-run check; W1–W3</a:t>
            </a:r>
            <a:endParaRPr lang="en-US" sz="1150" dirty="0"/>
          </a:p>
        </p:txBody>
      </p:sp>
      <p:sp>
        <p:nvSpPr>
          <p:cNvPr id="56" name="Shape 53"/>
          <p:cNvSpPr/>
          <p:nvPr/>
        </p:nvSpPr>
        <p:spPr>
          <a:xfrm>
            <a:off x="548640" y="5650992"/>
            <a:ext cx="11109960" cy="566928"/>
          </a:xfrm>
          <a:prstGeom prst="roundRect">
            <a:avLst>
              <a:gd name="adj" fmla="val 19355"/>
            </a:avLst>
          </a:prstGeom>
          <a:solidFill>
            <a:srgbClr val="F3F7FC"/>
          </a:solidFill>
          <a:ln w="12700">
            <a:solidFill>
              <a:srgbClr val="F3F7FC"/>
            </a:solidFill>
            <a:prstDash val="solid"/>
          </a:ln>
        </p:spPr>
        <p:txBody>
          <a:bodyPr/>
          <a:lstStyle/>
          <a:p>
            <a:endParaRPr lang="en-NZ"/>
          </a:p>
        </p:txBody>
      </p:sp>
      <p:sp>
        <p:nvSpPr>
          <p:cNvPr id="57" name="Text 54"/>
          <p:cNvSpPr txBox="1"/>
          <p:nvPr/>
        </p:nvSpPr>
        <p:spPr>
          <a:xfrm>
            <a:off x="685800" y="5650992"/>
            <a:ext cx="3566160" cy="566928"/>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Slow or unavailable model, or cost overrun</a:t>
            </a:r>
            <a:endParaRPr lang="en-US" sz="1250" dirty="0"/>
          </a:p>
        </p:txBody>
      </p:sp>
      <p:sp>
        <p:nvSpPr>
          <p:cNvPr id="58" name="Shape 55"/>
          <p:cNvSpPr/>
          <p:nvPr/>
        </p:nvSpPr>
        <p:spPr>
          <a:xfrm>
            <a:off x="4480560" y="578815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59" name="Text 56"/>
          <p:cNvSpPr txBox="1"/>
          <p:nvPr/>
        </p:nvSpPr>
        <p:spPr>
          <a:xfrm>
            <a:off x="4480560" y="578815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60" name="Shape 57"/>
          <p:cNvSpPr/>
          <p:nvPr/>
        </p:nvSpPr>
        <p:spPr>
          <a:xfrm>
            <a:off x="5760720" y="5788152"/>
            <a:ext cx="914400" cy="292608"/>
          </a:xfrm>
          <a:prstGeom prst="roundRect">
            <a:avLst>
              <a:gd name="adj" fmla="val 50000"/>
            </a:avLst>
          </a:prstGeom>
          <a:solidFill>
            <a:srgbClr val="FFF2CC"/>
          </a:solidFill>
          <a:ln w="12700">
            <a:solidFill>
              <a:srgbClr val="FFF2CC"/>
            </a:solidFill>
            <a:prstDash val="solid"/>
          </a:ln>
        </p:spPr>
        <p:txBody>
          <a:bodyPr/>
          <a:lstStyle/>
          <a:p>
            <a:endParaRPr lang="en-NZ"/>
          </a:p>
        </p:txBody>
      </p:sp>
      <p:sp>
        <p:nvSpPr>
          <p:cNvPr id="61" name="Text 58"/>
          <p:cNvSpPr txBox="1"/>
          <p:nvPr/>
        </p:nvSpPr>
        <p:spPr>
          <a:xfrm>
            <a:off x="5760720" y="5788152"/>
            <a:ext cx="914400" cy="292608"/>
          </a:xfrm>
          <a:prstGeom prst="rect">
            <a:avLst/>
          </a:prstGeom>
          <a:noFill/>
          <a:ln/>
        </p:spPr>
        <p:txBody>
          <a:bodyPr wrap="square" lIns="0" tIns="0" rIns="0" bIns="0" rtlCol="0" anchor="ctr"/>
          <a:lstStyle/>
          <a:p>
            <a:pPr marL="0" indent="0" algn="ctr">
              <a:buNone/>
            </a:pPr>
            <a:r>
              <a:rPr lang="en-US" sz="950" b="1" dirty="0">
                <a:solidFill>
                  <a:srgbClr val="7F6000"/>
                </a:solidFill>
                <a:latin typeface="Arial" pitchFamily="34" charset="0"/>
                <a:ea typeface="Arial" pitchFamily="34" charset="-122"/>
                <a:cs typeface="Arial" pitchFamily="34" charset="-120"/>
              </a:rPr>
              <a:t>MEDIUM</a:t>
            </a:r>
            <a:endParaRPr lang="en-US" sz="950" dirty="0"/>
          </a:p>
        </p:txBody>
      </p:sp>
      <p:sp>
        <p:nvSpPr>
          <p:cNvPr id="62" name="Text 59"/>
          <p:cNvSpPr txBox="1"/>
          <p:nvPr/>
        </p:nvSpPr>
        <p:spPr>
          <a:xfrm>
            <a:off x="7178040" y="5650992"/>
            <a:ext cx="4343400" cy="566928"/>
          </a:xfrm>
          <a:prstGeom prst="rect">
            <a:avLst/>
          </a:prstGeom>
          <a:noFill/>
          <a:ln/>
        </p:spPr>
        <p:txBody>
          <a:bodyPr wrap="square" lIns="0" tIns="0" rIns="0" bIns="0" rtlCol="0" anchor="ctr"/>
          <a:lstStyle/>
          <a:p>
            <a:pPr marL="0" indent="0">
              <a:buNone/>
            </a:pPr>
            <a:r>
              <a:rPr lang="en-US" sz="1155" dirty="0">
                <a:solidFill>
                  <a:srgbClr val="222B3A"/>
                </a:solidFill>
                <a:latin typeface="Arial" pitchFamily="34" charset="0"/>
                <a:ea typeface="Arial" pitchFamily="34" charset="-122"/>
                <a:cs typeface="Arial" pitchFamily="34" charset="-120"/>
              </a:rPr>
              <a:t>Timeouts and retries; ~10.5 s, ~$0.007; fallback video planned</a:t>
            </a:r>
            <a:endParaRPr lang="en-US" sz="1150" dirty="0"/>
          </a:p>
        </p:txBody>
      </p:sp>
      <p:sp>
        <p:nvSpPr>
          <p:cNvPr id="63" name="Rectangle 62"/>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Privacy, limitations and ethics</a:t>
            </a:r>
            <a:endParaRPr lang="en-US" sz="28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Ankur</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AI Governance Lead</a:t>
            </a:r>
            <a:endParaRPr lang="en-US" sz="1200" dirty="0"/>
          </a:p>
        </p:txBody>
      </p:sp>
      <p:sp>
        <p:nvSpPr>
          <p:cNvPr id="7" name="Text 4"/>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17</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3566160" cy="4572000"/>
          </a:xfrm>
          <a:prstGeom prst="roundRect">
            <a:avLst>
              <a:gd name="adj" fmla="val 3077"/>
            </a:avLst>
          </a:prstGeom>
          <a:solidFill>
            <a:srgbClr val="F3F7FC"/>
          </a:solidFill>
          <a:ln w="12700">
            <a:solidFill>
              <a:srgbClr val="F3F7FC"/>
            </a:solidFill>
            <a:prstDash val="solid"/>
          </a:ln>
        </p:spPr>
        <p:txBody>
          <a:bodyPr/>
          <a:lstStyle/>
          <a:p>
            <a:endParaRPr lang="en-NZ"/>
          </a:p>
        </p:txBody>
      </p:sp>
      <p:sp>
        <p:nvSpPr>
          <p:cNvPr id="10" name="Shape 7"/>
          <p:cNvSpPr/>
          <p:nvPr/>
        </p:nvSpPr>
        <p:spPr>
          <a:xfrm>
            <a:off x="822960" y="1600200"/>
            <a:ext cx="640080" cy="640080"/>
          </a:xfrm>
          <a:prstGeom prst="ellipse">
            <a:avLst/>
          </a:prstGeom>
          <a:solidFill>
            <a:srgbClr val="1F3864"/>
          </a:solidFill>
          <a:ln w="12700">
            <a:solidFill>
              <a:srgbClr val="1F3864"/>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982980" y="1760220"/>
            <a:ext cx="320040" cy="320040"/>
          </a:xfrm>
          <a:prstGeom prst="rect">
            <a:avLst/>
          </a:prstGeom>
        </p:spPr>
      </p:pic>
      <p:sp>
        <p:nvSpPr>
          <p:cNvPr id="12" name="Text 8"/>
          <p:cNvSpPr txBox="1"/>
          <p:nvPr/>
        </p:nvSpPr>
        <p:spPr>
          <a:xfrm>
            <a:off x="1600200" y="1600200"/>
            <a:ext cx="2377440" cy="640080"/>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Data privacy</a:t>
            </a:r>
            <a:endParaRPr lang="en-US" sz="1700" dirty="0"/>
          </a:p>
        </p:txBody>
      </p:sp>
      <p:sp>
        <p:nvSpPr>
          <p:cNvPr id="13" name="Text 9"/>
          <p:cNvSpPr txBox="1"/>
          <p:nvPr/>
        </p:nvSpPr>
        <p:spPr>
          <a:xfrm>
            <a:off x="822960" y="2331720"/>
            <a:ext cx="3063240" cy="320040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Dataset is synthetic</a:t>
            </a:r>
            <a:endParaRPr lang="en-US" sz="1400" dirty="0"/>
          </a:p>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Store access enforced in the database; a claim of more access changes nothing</a:t>
            </a:r>
            <a:endParaRPr lang="en-US" sz="1400" dirty="0"/>
          </a:p>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Customer names, emails and phones never returned (defect found 25/10/2026, fixed)</a:t>
            </a:r>
            <a:endParaRPr lang="en-US" sz="1400" dirty="0"/>
          </a:p>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Saved chats private to each person</a:t>
            </a:r>
            <a:endParaRPr lang="en-US" sz="1400" dirty="0"/>
          </a:p>
        </p:txBody>
      </p:sp>
      <p:sp>
        <p:nvSpPr>
          <p:cNvPr id="14" name="Shape 10"/>
          <p:cNvSpPr/>
          <p:nvPr/>
        </p:nvSpPr>
        <p:spPr>
          <a:xfrm>
            <a:off x="4297680" y="1371600"/>
            <a:ext cx="3566160" cy="4572000"/>
          </a:xfrm>
          <a:prstGeom prst="roundRect">
            <a:avLst>
              <a:gd name="adj" fmla="val 3077"/>
            </a:avLst>
          </a:prstGeom>
          <a:solidFill>
            <a:srgbClr val="FFF8E6"/>
          </a:solidFill>
          <a:ln w="12700">
            <a:solidFill>
              <a:srgbClr val="FFF8E6"/>
            </a:solidFill>
            <a:prstDash val="solid"/>
          </a:ln>
        </p:spPr>
        <p:txBody>
          <a:bodyPr/>
          <a:lstStyle/>
          <a:p>
            <a:endParaRPr lang="en-NZ"/>
          </a:p>
        </p:txBody>
      </p:sp>
      <p:sp>
        <p:nvSpPr>
          <p:cNvPr id="15" name="Shape 11"/>
          <p:cNvSpPr/>
          <p:nvPr/>
        </p:nvSpPr>
        <p:spPr>
          <a:xfrm>
            <a:off x="4572000" y="1600200"/>
            <a:ext cx="640080" cy="640080"/>
          </a:xfrm>
          <a:prstGeom prst="ellipse">
            <a:avLst/>
          </a:prstGeom>
          <a:solidFill>
            <a:srgbClr val="C55A11"/>
          </a:solidFill>
          <a:ln w="12700">
            <a:solidFill>
              <a:srgbClr val="C55A11"/>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4732020" y="1760220"/>
            <a:ext cx="320040" cy="320040"/>
          </a:xfrm>
          <a:prstGeom prst="rect">
            <a:avLst/>
          </a:prstGeom>
        </p:spPr>
      </p:pic>
      <p:sp>
        <p:nvSpPr>
          <p:cNvPr id="17" name="Text 12"/>
          <p:cNvSpPr txBox="1"/>
          <p:nvPr/>
        </p:nvSpPr>
        <p:spPr>
          <a:xfrm>
            <a:off x="5349240" y="1600200"/>
            <a:ext cx="2377440" cy="640080"/>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Limitations we state</a:t>
            </a:r>
            <a:endParaRPr lang="en-US" sz="1700" dirty="0"/>
          </a:p>
        </p:txBody>
      </p:sp>
      <p:sp>
        <p:nvSpPr>
          <p:cNvPr id="18" name="Text 13"/>
          <p:cNvSpPr txBox="1"/>
          <p:nvPr/>
        </p:nvSpPr>
        <p:spPr>
          <a:xfrm>
            <a:off x="4572000" y="2331720"/>
            <a:ext cx="3063240" cy="320040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Synthetic data shows the method, not real savings</a:t>
            </a:r>
            <a:endParaRPr lang="en-US" sz="1400" dirty="0"/>
          </a:p>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Words such as "highest" or "fell" are not checked by code</a:t>
            </a:r>
            <a:endParaRPr lang="en-US" sz="1400" dirty="0"/>
          </a:p>
          <a:p>
            <a:pPr marL="342900" indent="-342900">
              <a:spcAft>
                <a:spcPts val="700"/>
              </a:spcAft>
              <a:buSzPct val="100000"/>
              <a:buChar char="•"/>
            </a:pPr>
            <a:r>
              <a:rPr lang="en-US" sz="1550" dirty="0">
                <a:solidFill>
                  <a:srgbClr val="222B3A"/>
                </a:solidFill>
                <a:highlight>
                  <a:srgbClr val="FF0000"/>
                </a:highlight>
                <a:latin typeface="Arial" pitchFamily="34" charset="0"/>
                <a:ea typeface="Arial" pitchFamily="34" charset="-122"/>
                <a:cs typeface="Arial" pitchFamily="34" charset="-120"/>
              </a:rPr>
              <a:t>The model sometimes adds general-knowledge remarks</a:t>
            </a:r>
            <a:endParaRPr lang="en-US" sz="1400" dirty="0">
              <a:highlight>
                <a:srgbClr val="FF0000"/>
              </a:highlight>
            </a:endParaRPr>
          </a:p>
          <a:p>
            <a:pPr marL="342900" indent="-342900">
              <a:spcAft>
                <a:spcPts val="700"/>
              </a:spcAft>
              <a:buSzPct val="100000"/>
              <a:buChar char="•"/>
            </a:pPr>
            <a:r>
              <a:rPr lang="en-US" sz="1550" dirty="0">
                <a:solidFill>
                  <a:srgbClr val="222B3A"/>
                </a:solidFill>
                <a:highlight>
                  <a:srgbClr val="FF0000"/>
                </a:highlight>
                <a:latin typeface="Arial" pitchFamily="34" charset="0"/>
                <a:ea typeface="Arial" pitchFamily="34" charset="-122"/>
                <a:cs typeface="Arial" pitchFamily="34" charset="-120"/>
              </a:rPr>
              <a:t>Not yet tested with real managers or timed</a:t>
            </a:r>
            <a:endParaRPr lang="en-US" sz="1400" dirty="0">
              <a:highlight>
                <a:srgbClr val="FF0000"/>
              </a:highlight>
            </a:endParaRPr>
          </a:p>
        </p:txBody>
      </p:sp>
      <p:sp>
        <p:nvSpPr>
          <p:cNvPr id="19" name="Shape 14"/>
          <p:cNvSpPr/>
          <p:nvPr/>
        </p:nvSpPr>
        <p:spPr>
          <a:xfrm>
            <a:off x="8046720" y="1371600"/>
            <a:ext cx="3566160" cy="4572000"/>
          </a:xfrm>
          <a:prstGeom prst="roundRect">
            <a:avLst>
              <a:gd name="adj" fmla="val 3077"/>
            </a:avLst>
          </a:prstGeom>
          <a:solidFill>
            <a:srgbClr val="F3F7FC"/>
          </a:solidFill>
          <a:ln w="12700">
            <a:solidFill>
              <a:srgbClr val="F3F7FC"/>
            </a:solidFill>
            <a:prstDash val="solid"/>
          </a:ln>
        </p:spPr>
        <p:txBody>
          <a:bodyPr/>
          <a:lstStyle/>
          <a:p>
            <a:endParaRPr lang="en-NZ"/>
          </a:p>
        </p:txBody>
      </p:sp>
      <p:sp>
        <p:nvSpPr>
          <p:cNvPr id="20" name="Shape 15"/>
          <p:cNvSpPr/>
          <p:nvPr/>
        </p:nvSpPr>
        <p:spPr>
          <a:xfrm>
            <a:off x="8321040" y="1600200"/>
            <a:ext cx="640080" cy="640080"/>
          </a:xfrm>
          <a:prstGeom prst="ellipse">
            <a:avLst/>
          </a:prstGeom>
          <a:solidFill>
            <a:srgbClr val="1F3864"/>
          </a:solidFill>
          <a:ln w="12700">
            <a:solidFill>
              <a:srgbClr val="1F3864"/>
            </a:solidFill>
            <a:prstDash val="solid"/>
          </a:ln>
        </p:spPr>
        <p:txBody>
          <a:bodyPr/>
          <a:lstStyle/>
          <a:p>
            <a:endParaRPr lang="en-NZ"/>
          </a:p>
        </p:txBody>
      </p:sp>
      <p:pic>
        <p:nvPicPr>
          <p:cNvPr id="21" name="Image 3" descr="preencoded.png"/>
          <p:cNvPicPr>
            <a:picLocks noChangeAspect="1"/>
          </p:cNvPicPr>
          <p:nvPr/>
        </p:nvPicPr>
        <p:blipFill>
          <a:blip r:embed="rId6"/>
          <a:stretch>
            <a:fillRect/>
          </a:stretch>
        </p:blipFill>
        <p:spPr>
          <a:xfrm>
            <a:off x="8481060" y="1760220"/>
            <a:ext cx="320040" cy="320040"/>
          </a:xfrm>
          <a:prstGeom prst="rect">
            <a:avLst/>
          </a:prstGeom>
        </p:spPr>
      </p:pic>
      <p:sp>
        <p:nvSpPr>
          <p:cNvPr id="22" name="Text 16"/>
          <p:cNvSpPr txBox="1"/>
          <p:nvPr/>
        </p:nvSpPr>
        <p:spPr>
          <a:xfrm>
            <a:off x="9098280" y="1600200"/>
            <a:ext cx="2377440" cy="640080"/>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Bias and ethics</a:t>
            </a:r>
            <a:endParaRPr lang="en-US" sz="1700" dirty="0"/>
          </a:p>
        </p:txBody>
      </p:sp>
      <p:sp>
        <p:nvSpPr>
          <p:cNvPr id="23" name="Text 17"/>
          <p:cNvSpPr txBox="1"/>
          <p:nvPr/>
        </p:nvSpPr>
        <p:spPr>
          <a:xfrm>
            <a:off x="8321040" y="2331720"/>
            <a:ext cx="3063240" cy="3200400"/>
          </a:xfrm>
          <a:prstGeom prst="rect">
            <a:avLst/>
          </a:prstGeom>
          <a:noFill/>
          <a:ln/>
        </p:spPr>
        <p:txBody>
          <a:bodyPr wrap="square" lIns="0" tIns="0" rIns="0" bIns="0" rtlCol="0" anchor="t"/>
          <a:lstStyle/>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Rankings use units sold unless revenue is asked, so the metric is always stated</a:t>
            </a:r>
            <a:endParaRPr lang="en-US" sz="1400" dirty="0"/>
          </a:p>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No profiling of individual customers</a:t>
            </a:r>
            <a:endParaRPr lang="en-US" sz="1400" dirty="0"/>
          </a:p>
          <a:p>
            <a:pPr marL="342900" indent="-342900">
              <a:spcAft>
                <a:spcPts val="700"/>
              </a:spcAft>
              <a:buSzPct val="100000"/>
              <a:buChar char="•"/>
            </a:pPr>
            <a:r>
              <a:rPr lang="en-US" sz="1550" dirty="0">
                <a:solidFill>
                  <a:srgbClr val="222B3A"/>
                </a:solidFill>
                <a:latin typeface="Arial" pitchFamily="34" charset="0"/>
                <a:ea typeface="Arial" pitchFamily="34" charset="-122"/>
                <a:cs typeface="Arial" pitchFamily="34" charset="-120"/>
              </a:rPr>
              <a:t>Seasons are northern hemisphere</a:t>
            </a:r>
            <a:endParaRPr lang="en-US" sz="1400" dirty="0"/>
          </a:p>
          <a:p>
            <a:pPr marL="342900" indent="-342900">
              <a:spcAft>
                <a:spcPts val="700"/>
              </a:spcAft>
              <a:buSzPct val="100000"/>
              <a:buChar char="•"/>
            </a:pPr>
            <a:r>
              <a:rPr lang="en-US" sz="1550" dirty="0">
                <a:solidFill>
                  <a:srgbClr val="222B3A"/>
                </a:solidFill>
                <a:highlight>
                  <a:srgbClr val="FF0000"/>
                </a:highlight>
                <a:latin typeface="Arial" pitchFamily="34" charset="0"/>
                <a:ea typeface="Arial" pitchFamily="34" charset="-122"/>
                <a:cs typeface="Arial" pitchFamily="34" charset="-120"/>
              </a:rPr>
              <a:t>Users reminded not to over-rely; managers stay accountable</a:t>
            </a:r>
            <a:endParaRPr lang="en-US" sz="1400" dirty="0">
              <a:highlight>
                <a:srgbClr val="FF0000"/>
              </a:highlight>
            </a:endParaRPr>
          </a:p>
        </p:txBody>
      </p:sp>
      <p:sp>
        <p:nvSpPr>
          <p:cNvPr id="24" name="Rectangle 23"/>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503920" cy="640080"/>
          </a:xfrm>
          <a:prstGeom prst="rect">
            <a:avLst/>
          </a:prstGeom>
          <a:noFill/>
          <a:ln/>
        </p:spPr>
        <p:txBody>
          <a:bodyPr wrap="square" lIns="0" tIns="0" rIns="0" bIns="0" rtlCol="0" anchor="ctr"/>
          <a:lstStyle/>
          <a:p>
            <a:pPr marL="0" indent="0">
              <a:buNone/>
            </a:pPr>
            <a:r>
              <a:rPr lang="en-US" sz="2800" b="1" dirty="0">
                <a:solidFill>
                  <a:srgbClr val="1F3864"/>
                </a:solidFill>
                <a:latin typeface="Arial" pitchFamily="34" charset="0"/>
                <a:ea typeface="Arial" pitchFamily="34" charset="-122"/>
                <a:cs typeface="Arial" pitchFamily="34" charset="-120"/>
              </a:rPr>
              <a:t>Where we are and what comes next</a:t>
            </a:r>
            <a:endParaRPr lang="en-US" sz="2800" dirty="0"/>
          </a:p>
        </p:txBody>
      </p:sp>
      <p:sp>
        <p:nvSpPr>
          <p:cNvPr id="3" name="Shape 1"/>
          <p:cNvSpPr/>
          <p:nvPr/>
        </p:nvSpPr>
        <p:spPr>
          <a:xfrm>
            <a:off x="9189720" y="438912"/>
            <a:ext cx="2468880" cy="530352"/>
          </a:xfrm>
          <a:prstGeom prst="roundRect">
            <a:avLst>
              <a:gd name="adj" fmla="val 50000"/>
            </a:avLst>
          </a:prstGeom>
          <a:solidFill>
            <a:srgbClr val="DEEAF6"/>
          </a:solidFill>
          <a:ln w="12700">
            <a:solidFill>
              <a:srgbClr val="DEEAF6"/>
            </a:solidFill>
            <a:prstDash val="solid"/>
          </a:ln>
        </p:spPr>
        <p:txBody>
          <a:bodyPr/>
          <a:lstStyle/>
          <a:p>
            <a:endParaRPr lang="en-NZ"/>
          </a:p>
        </p:txBody>
      </p:sp>
      <p:sp>
        <p:nvSpPr>
          <p:cNvPr id="4" name="Shape 2"/>
          <p:cNvSpPr/>
          <p:nvPr/>
        </p:nvSpPr>
        <p:spPr>
          <a:xfrm>
            <a:off x="9244584" y="475488"/>
            <a:ext cx="457200" cy="457200"/>
          </a:xfrm>
          <a:prstGeom prst="ellipse">
            <a:avLst/>
          </a:prstGeom>
          <a:solidFill>
            <a:srgbClr val="1F3864"/>
          </a:solidFill>
          <a:ln w="12700">
            <a:solidFill>
              <a:srgbClr val="1F3864"/>
            </a:solidFill>
            <a:prstDash val="solid"/>
          </a:ln>
        </p:spPr>
        <p:txBody>
          <a:bodyPr/>
          <a:lstStyle/>
          <a:p>
            <a:endParaRPr lang="en-NZ"/>
          </a:p>
        </p:txBody>
      </p:sp>
      <p:pic>
        <p:nvPicPr>
          <p:cNvPr id="5" name="Image 0" descr="preencoded.png"/>
          <p:cNvPicPr>
            <a:picLocks noChangeAspect="1"/>
          </p:cNvPicPr>
          <p:nvPr/>
        </p:nvPicPr>
        <p:blipFill>
          <a:blip r:embed="rId3"/>
          <a:stretch>
            <a:fillRect/>
          </a:stretch>
        </p:blipFill>
        <p:spPr>
          <a:xfrm>
            <a:off x="9358884" y="589788"/>
            <a:ext cx="228600" cy="228600"/>
          </a:xfrm>
          <a:prstGeom prst="rect">
            <a:avLst/>
          </a:prstGeom>
        </p:spPr>
      </p:pic>
      <p:sp>
        <p:nvSpPr>
          <p:cNvPr id="6" name="Text 3"/>
          <p:cNvSpPr txBox="1"/>
          <p:nvPr/>
        </p:nvSpPr>
        <p:spPr>
          <a:xfrm>
            <a:off x="9784080" y="475488"/>
            <a:ext cx="1828800" cy="457200"/>
          </a:xfrm>
          <a:prstGeom prst="rect">
            <a:avLst/>
          </a:prstGeom>
          <a:noFill/>
          <a:ln/>
        </p:spPr>
        <p:txBody>
          <a:bodyPr wrap="square" lIns="0" tIns="0" rIns="0" bIns="0" rtlCol="0" anchor="ctr"/>
          <a:lstStyle/>
          <a:p>
            <a:pPr marL="0" indent="0">
              <a:buNone/>
            </a:pPr>
            <a:r>
              <a:rPr lang="en-US" sz="1200" b="1" dirty="0">
                <a:solidFill>
                  <a:srgbClr val="1F3864"/>
                </a:solidFill>
                <a:latin typeface="Arial" pitchFamily="34" charset="0"/>
                <a:ea typeface="Arial" pitchFamily="34" charset="-122"/>
                <a:cs typeface="Arial" pitchFamily="34" charset="-120"/>
              </a:rPr>
              <a:t>Sateesh</a:t>
            </a:r>
            <a:endParaRPr lang="en-US" sz="1200" dirty="0"/>
          </a:p>
          <a:p>
            <a:pPr marL="0" indent="0">
              <a:buNone/>
            </a:pPr>
            <a:r>
              <a:rPr lang="en-US" sz="950" dirty="0">
                <a:solidFill>
                  <a:srgbClr val="5F6B7A"/>
                </a:solidFill>
                <a:latin typeface="Arial" pitchFamily="34" charset="0"/>
                <a:ea typeface="Arial" pitchFamily="34" charset="-122"/>
                <a:cs typeface="Arial" pitchFamily="34" charset="-120"/>
              </a:rPr>
              <a:t>Project Lead</a:t>
            </a:r>
            <a:endParaRPr lang="en-US" sz="1200" dirty="0"/>
          </a:p>
        </p:txBody>
      </p:sp>
      <p:sp>
        <p:nvSpPr>
          <p:cNvPr id="7" name="Text 4"/>
          <p:cNvSpPr txBox="1"/>
          <p:nvPr/>
        </p:nvSpPr>
        <p:spPr>
          <a:xfrm>
            <a:off x="11109960" y="6446520"/>
            <a:ext cx="548640" cy="274320"/>
          </a:xfrm>
          <a:prstGeom prst="rect">
            <a:avLst/>
          </a:prstGeom>
          <a:noFill/>
          <a:ln/>
        </p:spPr>
        <p:txBody>
          <a:bodyPr wrap="square" lIns="0" tIns="0" rIns="0" bIns="0" rtlCol="0" anchor="t"/>
          <a:lstStyle/>
          <a:p>
            <a:pPr marL="0" indent="0" algn="r">
              <a:buNone/>
            </a:pPr>
            <a:r>
              <a:rPr lang="en-US" sz="1000" dirty="0">
                <a:solidFill>
                  <a:srgbClr val="5F6B7A"/>
                </a:solidFill>
                <a:latin typeface="Arial" pitchFamily="34" charset="0"/>
                <a:ea typeface="Arial" pitchFamily="34" charset="-122"/>
                <a:cs typeface="Arial" pitchFamily="34" charset="-120"/>
              </a:rPr>
              <a:t>18</a:t>
            </a:r>
            <a:endParaRPr lang="en-US" sz="1000" dirty="0"/>
          </a:p>
        </p:txBody>
      </p:sp>
      <p:sp>
        <p:nvSpPr>
          <p:cNvPr id="8" name="Text 5"/>
          <p:cNvSpPr txBox="1"/>
          <p:nvPr/>
        </p:nvSpPr>
        <p:spPr>
          <a:xfrm>
            <a:off x="548640" y="6446520"/>
            <a:ext cx="3657600" cy="274320"/>
          </a:xfrm>
          <a:prstGeom prst="rect">
            <a:avLst/>
          </a:prstGeom>
          <a:noFill/>
          <a:ln/>
        </p:spPr>
        <p:txBody>
          <a:bodyPr wrap="square" lIns="0" tIns="0" rIns="0" bIns="0" rtlCol="0" anchor="t"/>
          <a:lstStyle/>
          <a:p>
            <a:pPr marL="0" indent="0">
              <a:buNone/>
            </a:pPr>
            <a:r>
              <a:rPr lang="en-US" sz="1000" dirty="0">
                <a:solidFill>
                  <a:srgbClr val="5F6B7A"/>
                </a:solidFill>
                <a:latin typeface="Arial" pitchFamily="34" charset="0"/>
                <a:ea typeface="Arial" pitchFamily="34" charset="-122"/>
                <a:cs typeface="Arial" pitchFamily="34" charset="-120"/>
              </a:rPr>
              <a:t>Team BlueBird  ·  COMPSCI 714</a:t>
            </a:r>
            <a:endParaRPr lang="en-US" sz="1000" dirty="0"/>
          </a:p>
        </p:txBody>
      </p:sp>
      <p:sp>
        <p:nvSpPr>
          <p:cNvPr id="9" name="Shape 6"/>
          <p:cNvSpPr/>
          <p:nvPr/>
        </p:nvSpPr>
        <p:spPr>
          <a:xfrm>
            <a:off x="548640" y="1371600"/>
            <a:ext cx="5394960" cy="4572000"/>
          </a:xfrm>
          <a:prstGeom prst="roundRect">
            <a:avLst>
              <a:gd name="adj" fmla="val 2264"/>
            </a:avLst>
          </a:prstGeom>
          <a:solidFill>
            <a:srgbClr val="F3F7FC"/>
          </a:solidFill>
          <a:ln w="12700">
            <a:solidFill>
              <a:srgbClr val="F3F7FC"/>
            </a:solidFill>
            <a:prstDash val="solid"/>
          </a:ln>
        </p:spPr>
        <p:txBody>
          <a:bodyPr/>
          <a:lstStyle/>
          <a:p>
            <a:endParaRPr lang="en-NZ"/>
          </a:p>
        </p:txBody>
      </p:sp>
      <p:sp>
        <p:nvSpPr>
          <p:cNvPr id="10" name="Shape 7"/>
          <p:cNvSpPr/>
          <p:nvPr/>
        </p:nvSpPr>
        <p:spPr>
          <a:xfrm>
            <a:off x="822960" y="1572768"/>
            <a:ext cx="603504" cy="603504"/>
          </a:xfrm>
          <a:prstGeom prst="ellipse">
            <a:avLst/>
          </a:prstGeom>
          <a:solidFill>
            <a:srgbClr val="548235"/>
          </a:solidFill>
          <a:ln w="12700">
            <a:solidFill>
              <a:srgbClr val="548235"/>
            </a:solidFill>
            <a:prstDash val="solid"/>
          </a:ln>
        </p:spPr>
        <p:txBody>
          <a:bodyPr/>
          <a:lstStyle/>
          <a:p>
            <a:endParaRPr lang="en-NZ"/>
          </a:p>
        </p:txBody>
      </p:sp>
      <p:pic>
        <p:nvPicPr>
          <p:cNvPr id="11" name="Image 1" descr="preencoded.png"/>
          <p:cNvPicPr>
            <a:picLocks noChangeAspect="1"/>
          </p:cNvPicPr>
          <p:nvPr/>
        </p:nvPicPr>
        <p:blipFill>
          <a:blip r:embed="rId4"/>
          <a:stretch>
            <a:fillRect/>
          </a:stretch>
        </p:blipFill>
        <p:spPr>
          <a:xfrm>
            <a:off x="973836" y="1723644"/>
            <a:ext cx="301752" cy="301752"/>
          </a:xfrm>
          <a:prstGeom prst="rect">
            <a:avLst/>
          </a:prstGeom>
        </p:spPr>
      </p:pic>
      <p:sp>
        <p:nvSpPr>
          <p:cNvPr id="12" name="Text 8"/>
          <p:cNvSpPr txBox="1"/>
          <p:nvPr/>
        </p:nvSpPr>
        <p:spPr>
          <a:xfrm>
            <a:off x="1554480" y="1572768"/>
            <a:ext cx="4206240" cy="603504"/>
          </a:xfrm>
          <a:prstGeom prst="rect">
            <a:avLst/>
          </a:prstGeom>
          <a:noFill/>
          <a:ln/>
        </p:spPr>
        <p:txBody>
          <a:bodyPr wrap="square" lIns="0" tIns="0" rIns="0" bIns="0" rtlCol="0" anchor="ctr"/>
          <a:lstStyle/>
          <a:p>
            <a:pPr marL="0" indent="0">
              <a:buNone/>
            </a:pPr>
            <a:r>
              <a:rPr lang="en-US" sz="1700" b="1" dirty="0">
                <a:solidFill>
                  <a:srgbClr val="1F3864"/>
                </a:solidFill>
                <a:latin typeface="Arial" pitchFamily="34" charset="0"/>
                <a:ea typeface="Arial" pitchFamily="34" charset="-122"/>
                <a:cs typeface="Arial" pitchFamily="34" charset="-120"/>
              </a:rPr>
              <a:t>Delivered in the proof of concept</a:t>
            </a:r>
            <a:endParaRPr lang="en-US" sz="1700" dirty="0"/>
          </a:p>
        </p:txBody>
      </p:sp>
      <p:sp>
        <p:nvSpPr>
          <p:cNvPr id="13" name="Text 9"/>
          <p:cNvSpPr txBox="1"/>
          <p:nvPr/>
        </p:nvSpPr>
        <p:spPr>
          <a:xfrm>
            <a:off x="868680" y="2240280"/>
            <a:ext cx="4846320" cy="320040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222B3A"/>
                </a:solidFill>
                <a:latin typeface="Arial" pitchFamily="34" charset="0"/>
                <a:ea typeface="Arial" pitchFamily="34" charset="-122"/>
                <a:cs typeface="Arial" pitchFamily="34" charset="-120"/>
              </a:rPr>
              <a:t>Chat page with role sign-in, private saved chats, charts and CSV / PDF downloads</a:t>
            </a:r>
            <a:endParaRPr lang="en-US" sz="1300" dirty="0"/>
          </a:p>
          <a:p>
            <a:pPr marL="342900" indent="-342900">
              <a:spcAft>
                <a:spcPts val="700"/>
              </a:spcAft>
              <a:buSzPct val="100000"/>
              <a:buChar char="•"/>
            </a:pPr>
            <a:r>
              <a:rPr lang="en-US" sz="1450" dirty="0">
                <a:solidFill>
                  <a:srgbClr val="222B3A"/>
                </a:solidFill>
                <a:latin typeface="Arial" pitchFamily="34" charset="0"/>
                <a:ea typeface="Arial" pitchFamily="34" charset="-122"/>
                <a:cs typeface="Arial" pitchFamily="34" charset="-120"/>
              </a:rPr>
              <a:t>Excess-stock ranking with a seasonal clearance guard</a:t>
            </a:r>
            <a:endParaRPr lang="en-US" sz="1300" dirty="0"/>
          </a:p>
          <a:p>
            <a:pPr marL="342900" indent="-342900">
              <a:spcAft>
                <a:spcPts val="700"/>
              </a:spcAft>
              <a:buSzPct val="100000"/>
              <a:buChar char="•"/>
            </a:pPr>
            <a:r>
              <a:rPr lang="en-US" sz="1450" dirty="0">
                <a:solidFill>
                  <a:srgbClr val="222B3A"/>
                </a:solidFill>
                <a:latin typeface="Arial" pitchFamily="34" charset="0"/>
                <a:ea typeface="Arial" pitchFamily="34" charset="-122"/>
                <a:cs typeface="Arial" pitchFamily="34" charset="-120"/>
              </a:rPr>
              <a:t>Store coverage, transfer, sales, seasonal and stock-cover analysis</a:t>
            </a:r>
            <a:endParaRPr lang="en-US" sz="1300" dirty="0"/>
          </a:p>
          <a:p>
            <a:pPr marL="342900" indent="-342900">
              <a:spcAft>
                <a:spcPts val="700"/>
              </a:spcAft>
              <a:buSzPct val="100000"/>
              <a:buChar char="•"/>
            </a:pPr>
            <a:r>
              <a:rPr lang="en-US" sz="1450" dirty="0">
                <a:solidFill>
                  <a:srgbClr val="222B3A"/>
                </a:solidFill>
                <a:latin typeface="Arial" pitchFamily="34" charset="0"/>
                <a:ea typeface="Arial" pitchFamily="34" charset="-122"/>
                <a:cs typeface="Arial" pitchFamily="34" charset="-120"/>
              </a:rPr>
              <a:t>Product lookup and search by meaning</a:t>
            </a:r>
            <a:endParaRPr lang="en-US" sz="1300" dirty="0"/>
          </a:p>
          <a:p>
            <a:pPr marL="342900" indent="-342900">
              <a:spcAft>
                <a:spcPts val="700"/>
              </a:spcAft>
              <a:buSzPct val="100000"/>
              <a:buChar char="•"/>
            </a:pPr>
            <a:r>
              <a:rPr lang="en-US" sz="1450" dirty="0">
                <a:solidFill>
                  <a:srgbClr val="222B3A"/>
                </a:solidFill>
                <a:latin typeface="Arial" pitchFamily="34" charset="0"/>
                <a:ea typeface="Arial" pitchFamily="34" charset="-122"/>
                <a:cs typeface="Arial" pitchFamily="34" charset="-120"/>
              </a:rPr>
              <a:t>Answer verification, scope gate and refusals</a:t>
            </a:r>
            <a:endParaRPr lang="en-US" sz="1300" dirty="0"/>
          </a:p>
          <a:p>
            <a:pPr marL="342900" indent="-342900">
              <a:spcAft>
                <a:spcPts val="700"/>
              </a:spcAft>
              <a:buSzPct val="100000"/>
              <a:buChar char="•"/>
            </a:pPr>
            <a:r>
              <a:rPr lang="en-US" sz="1450" dirty="0">
                <a:solidFill>
                  <a:srgbClr val="222B3A"/>
                </a:solidFill>
                <a:latin typeface="Arial" pitchFamily="34" charset="0"/>
                <a:ea typeface="Arial" pitchFamily="34" charset="-122"/>
                <a:cs typeface="Arial" pitchFamily="34" charset="-120"/>
              </a:rPr>
              <a:t>Read-only, human-approved drafts</a:t>
            </a:r>
            <a:endParaRPr lang="en-US" sz="1300" dirty="0"/>
          </a:p>
          <a:p>
            <a:pPr marL="342900" indent="-342900">
              <a:spcAft>
                <a:spcPts val="700"/>
              </a:spcAft>
              <a:buSzPct val="100000"/>
              <a:buChar char="•"/>
            </a:pPr>
            <a:r>
              <a:rPr lang="en-US" sz="1450" dirty="0">
                <a:solidFill>
                  <a:srgbClr val="222B3A"/>
                </a:solidFill>
                <a:latin typeface="Arial" pitchFamily="34" charset="0"/>
                <a:ea typeface="Arial" pitchFamily="34" charset="-122"/>
                <a:cs typeface="Arial" pitchFamily="34" charset="-120"/>
              </a:rPr>
              <a:t>75-case evaluation, grounding audit and decision log</a:t>
            </a:r>
            <a:endParaRPr lang="en-US" sz="1300" dirty="0"/>
          </a:p>
        </p:txBody>
      </p:sp>
      <p:sp>
        <p:nvSpPr>
          <p:cNvPr id="14" name="Shape 10"/>
          <p:cNvSpPr/>
          <p:nvPr/>
        </p:nvSpPr>
        <p:spPr>
          <a:xfrm>
            <a:off x="6245352" y="1371600"/>
            <a:ext cx="5394960" cy="4572000"/>
          </a:xfrm>
          <a:prstGeom prst="roundRect">
            <a:avLst>
              <a:gd name="adj" fmla="val 2264"/>
            </a:avLst>
          </a:prstGeom>
          <a:solidFill>
            <a:srgbClr val="1F3864"/>
          </a:solidFill>
          <a:ln w="12700">
            <a:solidFill>
              <a:srgbClr val="1F3864"/>
            </a:solidFill>
            <a:prstDash val="solid"/>
          </a:ln>
        </p:spPr>
        <p:txBody>
          <a:bodyPr/>
          <a:lstStyle/>
          <a:p>
            <a:endParaRPr lang="en-NZ"/>
          </a:p>
        </p:txBody>
      </p:sp>
      <p:sp>
        <p:nvSpPr>
          <p:cNvPr id="15" name="Shape 11"/>
          <p:cNvSpPr/>
          <p:nvPr/>
        </p:nvSpPr>
        <p:spPr>
          <a:xfrm>
            <a:off x="6519672" y="1572768"/>
            <a:ext cx="603504" cy="603504"/>
          </a:xfrm>
          <a:prstGeom prst="ellipse">
            <a:avLst/>
          </a:prstGeom>
          <a:solidFill>
            <a:srgbClr val="F2A900"/>
          </a:solidFill>
          <a:ln w="12700">
            <a:solidFill>
              <a:srgbClr val="F2A900"/>
            </a:solidFill>
            <a:prstDash val="solid"/>
          </a:ln>
        </p:spPr>
        <p:txBody>
          <a:bodyPr/>
          <a:lstStyle/>
          <a:p>
            <a:endParaRPr lang="en-NZ"/>
          </a:p>
        </p:txBody>
      </p:sp>
      <p:pic>
        <p:nvPicPr>
          <p:cNvPr id="16" name="Image 2" descr="preencoded.png"/>
          <p:cNvPicPr>
            <a:picLocks noChangeAspect="1"/>
          </p:cNvPicPr>
          <p:nvPr/>
        </p:nvPicPr>
        <p:blipFill>
          <a:blip r:embed="rId5"/>
          <a:stretch>
            <a:fillRect/>
          </a:stretch>
        </p:blipFill>
        <p:spPr>
          <a:xfrm>
            <a:off x="6670548" y="1723644"/>
            <a:ext cx="301752" cy="301752"/>
          </a:xfrm>
          <a:prstGeom prst="rect">
            <a:avLst/>
          </a:prstGeom>
        </p:spPr>
      </p:pic>
      <p:sp>
        <p:nvSpPr>
          <p:cNvPr id="17" name="Text 12"/>
          <p:cNvSpPr txBox="1"/>
          <p:nvPr/>
        </p:nvSpPr>
        <p:spPr>
          <a:xfrm>
            <a:off x="7251192" y="1572768"/>
            <a:ext cx="4206240" cy="603504"/>
          </a:xfrm>
          <a:prstGeom prst="rect">
            <a:avLst/>
          </a:prstGeom>
          <a:noFill/>
          <a:ln/>
        </p:spPr>
        <p:txBody>
          <a:bodyPr wrap="square" lIns="0" tIns="0" rIns="0" bIns="0" rtlCol="0" anchor="ctr"/>
          <a:lstStyle/>
          <a:p>
            <a:pPr marL="0" indent="0">
              <a:buNone/>
            </a:pPr>
            <a:r>
              <a:rPr lang="en-US" sz="1700" b="1" dirty="0">
                <a:solidFill>
                  <a:srgbClr val="FFFFFF"/>
                </a:solidFill>
                <a:latin typeface="Arial" pitchFamily="34" charset="0"/>
                <a:ea typeface="Arial" pitchFamily="34" charset="-122"/>
                <a:cs typeface="Arial" pitchFamily="34" charset="-120"/>
              </a:rPr>
              <a:t>Next steps toward production</a:t>
            </a:r>
            <a:endParaRPr lang="en-US" sz="1700" dirty="0"/>
          </a:p>
        </p:txBody>
      </p:sp>
      <p:sp>
        <p:nvSpPr>
          <p:cNvPr id="18" name="Text 13"/>
          <p:cNvSpPr txBox="1"/>
          <p:nvPr/>
        </p:nvSpPr>
        <p:spPr>
          <a:xfrm>
            <a:off x="6565392" y="2240280"/>
            <a:ext cx="4846320" cy="320040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rgbClr val="FFFFFF"/>
                </a:solidFill>
                <a:latin typeface="Arial" pitchFamily="34" charset="0"/>
                <a:ea typeface="Arial" pitchFamily="34" charset="-122"/>
                <a:cs typeface="Arial" pitchFamily="34" charset="-120"/>
              </a:rPr>
              <a:t>Demand forecasting once lead times, safety stock and receipts are available</a:t>
            </a:r>
            <a:endParaRPr lang="en-US" sz="1300" dirty="0"/>
          </a:p>
          <a:p>
            <a:pPr marL="342900" indent="-342900">
              <a:spcAft>
                <a:spcPts val="700"/>
              </a:spcAft>
              <a:buSzPct val="100000"/>
              <a:buChar char="•"/>
            </a:pPr>
            <a:r>
              <a:rPr lang="en-US" sz="1450" dirty="0">
                <a:solidFill>
                  <a:srgbClr val="FFFFFF"/>
                </a:solidFill>
                <a:latin typeface="Arial" pitchFamily="34" charset="0"/>
                <a:ea typeface="Arial" pitchFamily="34" charset="-122"/>
                <a:cs typeface="Arial" pitchFamily="34" charset="-120"/>
              </a:rPr>
              <a:t>Execute transfers, orders or clearances with an approval workflow</a:t>
            </a:r>
            <a:endParaRPr lang="en-US" sz="1300" dirty="0"/>
          </a:p>
          <a:p>
            <a:pPr marL="342900" indent="-342900">
              <a:spcAft>
                <a:spcPts val="700"/>
              </a:spcAft>
              <a:buSzPct val="100000"/>
              <a:buChar char="•"/>
            </a:pPr>
            <a:r>
              <a:rPr lang="en-US" sz="1450" dirty="0">
                <a:solidFill>
                  <a:srgbClr val="FFFFFF"/>
                </a:solidFill>
                <a:latin typeface="Arial" pitchFamily="34" charset="0"/>
                <a:ea typeface="Arial" pitchFamily="34" charset="-122"/>
                <a:cs typeface="Arial" pitchFamily="34" charset="-120"/>
              </a:rPr>
              <a:t>Hosted deployment in Azure AI Foundry with Microsoft Entra sign-in</a:t>
            </a:r>
            <a:endParaRPr lang="en-US" sz="1300" dirty="0"/>
          </a:p>
          <a:p>
            <a:pPr marL="342900" indent="-342900">
              <a:spcAft>
                <a:spcPts val="700"/>
              </a:spcAft>
              <a:buSzPct val="100000"/>
              <a:buChar char="•"/>
            </a:pPr>
            <a:r>
              <a:rPr lang="en-US" sz="1450" dirty="0">
                <a:solidFill>
                  <a:srgbClr val="FFFFFF"/>
                </a:solidFill>
                <a:latin typeface="Arial" pitchFamily="34" charset="0"/>
                <a:ea typeface="Arial" pitchFamily="34" charset="-122"/>
                <a:cs typeface="Arial" pitchFamily="34" charset="-120"/>
              </a:rPr>
              <a:t>Scheduled reviews and threshold alerts</a:t>
            </a:r>
            <a:endParaRPr lang="en-US" sz="1300" dirty="0"/>
          </a:p>
          <a:p>
            <a:pPr marL="342900" indent="-342900">
              <a:spcAft>
                <a:spcPts val="700"/>
              </a:spcAft>
              <a:buSzPct val="100000"/>
              <a:buChar char="•"/>
            </a:pPr>
            <a:r>
              <a:rPr lang="en-US" sz="1450" dirty="0">
                <a:solidFill>
                  <a:srgbClr val="FFFFFF"/>
                </a:solidFill>
                <a:latin typeface="Arial" pitchFamily="34" charset="0"/>
                <a:ea typeface="Arial" pitchFamily="34" charset="-122"/>
                <a:cs typeface="Arial" pitchFamily="34" charset="-120"/>
              </a:rPr>
              <a:t>ERP, point-of-sale and supplier integration</a:t>
            </a:r>
            <a:endParaRPr lang="en-US" sz="1300" dirty="0"/>
          </a:p>
          <a:p>
            <a:pPr marL="342900" indent="-342900">
              <a:spcAft>
                <a:spcPts val="700"/>
              </a:spcAft>
              <a:buSzPct val="100000"/>
              <a:buChar char="•"/>
            </a:pPr>
            <a:r>
              <a:rPr lang="en-US" sz="1450" dirty="0">
                <a:solidFill>
                  <a:srgbClr val="FFFFFF"/>
                </a:solidFill>
                <a:latin typeface="Arial" pitchFamily="34" charset="0"/>
                <a:ea typeface="Arial" pitchFamily="34" charset="-122"/>
                <a:cs typeface="Arial" pitchFamily="34" charset="-120"/>
              </a:rPr>
              <a:t>Cost modelling for transfers and clearance prices</a:t>
            </a:r>
            <a:endParaRPr lang="en-US" sz="1300" dirty="0"/>
          </a:p>
          <a:p>
            <a:pPr marL="342900" indent="-342900">
              <a:spcAft>
                <a:spcPts val="700"/>
              </a:spcAft>
              <a:buSzPct val="100000"/>
              <a:buChar char="•"/>
            </a:pPr>
            <a:r>
              <a:rPr lang="en-US" sz="1450" dirty="0">
                <a:solidFill>
                  <a:srgbClr val="FFFFFF"/>
                </a:solidFill>
                <a:latin typeface="Arial" pitchFamily="34" charset="0"/>
                <a:ea typeface="Arial" pitchFamily="34" charset="-122"/>
                <a:cs typeface="Arial" pitchFamily="34" charset="-120"/>
              </a:rPr>
              <a:t>Timing study with real managers to prove effort saved</a:t>
            </a:r>
            <a:endParaRPr lang="en-US" sz="1300" dirty="0"/>
          </a:p>
        </p:txBody>
      </p:sp>
      <p:sp>
        <p:nvSpPr>
          <p:cNvPr id="19" name="Rectangle 18"/>
          <p:cNvSpPr/>
          <p:nvPr/>
        </p:nvSpPr>
        <p:spPr>
          <a:xfrm>
            <a:off x="548640" y="6382512"/>
            <a:ext cx="11109960" cy="9525"/>
          </a:xfrm>
          <a:prstGeom prst="rect">
            <a:avLst/>
          </a:prstGeom>
          <a:solidFill>
            <a:srgbClr val="D9E2E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F3864"/>
        </a:solidFill>
        <a:effectLst/>
      </p:bgPr>
    </p:bg>
    <p:spTree>
      <p:nvGrpSpPr>
        <p:cNvPr id="1" name=""/>
        <p:cNvGrpSpPr/>
        <p:nvPr/>
      </p:nvGrpSpPr>
      <p:grpSpPr>
        <a:xfrm>
          <a:off x="0" y="0"/>
          <a:ext cx="0" cy="0"/>
          <a:chOff x="0" y="0"/>
          <a:chExt cx="0" cy="0"/>
        </a:xfrm>
      </p:grpSpPr>
      <p:pic>
        <p:nvPicPr>
          <p:cNvPr id="2" name="Image 0" descr="img_a.jpg"/>
          <p:cNvPicPr>
            <a:picLocks noChangeAspect="1"/>
          </p:cNvPicPr>
          <p:nvPr/>
        </p:nvPicPr>
        <p:blipFill>
          <a:blip r:embed="rId3">
            <a:alphaModFix amt="30000"/>
          </a:blip>
          <a:src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E1A33">
              <a:alpha val="75000"/>
            </a:srgbClr>
          </a:solidFill>
          <a:ln w="12700">
            <a:solidFill>
              <a:srgbClr val="0E1A33">
                <a:alpha val="0"/>
              </a:srgbClr>
            </a:solidFill>
            <a:prstDash val="solid"/>
          </a:ln>
        </p:spPr>
        <p:txBody>
          <a:bodyPr/>
          <a:lstStyle/>
          <a:p>
            <a:endParaRPr lang="en-NZ"/>
          </a:p>
        </p:txBody>
      </p:sp>
      <p:sp>
        <p:nvSpPr>
          <p:cNvPr id="4" name="Text 1"/>
          <p:cNvSpPr txBox="1"/>
          <p:nvPr/>
        </p:nvSpPr>
        <p:spPr>
          <a:xfrm>
            <a:off x="731520" y="822960"/>
            <a:ext cx="7315200" cy="914400"/>
          </a:xfrm>
          <a:prstGeom prst="rect">
            <a:avLst/>
          </a:prstGeom>
          <a:noFill/>
          <a:ln/>
        </p:spPr>
        <p:txBody>
          <a:bodyPr wrap="square" lIns="0" tIns="0" rIns="0" bIns="0" rtlCol="0" anchor="t"/>
          <a:lstStyle/>
          <a:p>
            <a:pPr marL="0" indent="0">
              <a:buNone/>
            </a:pPr>
            <a:r>
              <a:rPr lang="en-US" sz="4800" b="1" dirty="0">
                <a:solidFill>
                  <a:srgbClr val="FFFFFF"/>
                </a:solidFill>
                <a:latin typeface="Arial" pitchFamily="34" charset="0"/>
                <a:ea typeface="Arial" pitchFamily="34" charset="-122"/>
                <a:cs typeface="Arial" pitchFamily="34" charset="-120"/>
              </a:rPr>
              <a:t>Thank you</a:t>
            </a:r>
            <a:endParaRPr lang="en-US" sz="4800" dirty="0"/>
          </a:p>
        </p:txBody>
      </p:sp>
      <p:sp>
        <p:nvSpPr>
          <p:cNvPr id="5" name="Text 2"/>
          <p:cNvSpPr txBox="1"/>
          <p:nvPr/>
        </p:nvSpPr>
        <p:spPr>
          <a:xfrm>
            <a:off x="731520" y="1737360"/>
            <a:ext cx="7315200" cy="457200"/>
          </a:xfrm>
          <a:prstGeom prst="rect">
            <a:avLst/>
          </a:prstGeom>
          <a:noFill/>
          <a:ln/>
        </p:spPr>
        <p:txBody>
          <a:bodyPr wrap="square" lIns="0" tIns="0" rIns="0" bIns="0" rtlCol="0" anchor="t"/>
          <a:lstStyle/>
          <a:p>
            <a:pPr marL="0" indent="0">
              <a:buNone/>
            </a:pPr>
            <a:r>
              <a:rPr lang="en-US" sz="2000" dirty="0">
                <a:solidFill>
                  <a:srgbClr val="9DC3E6"/>
                </a:solidFill>
                <a:latin typeface="Arial" pitchFamily="34" charset="0"/>
                <a:ea typeface="Arial" pitchFamily="34" charset="-122"/>
                <a:cs typeface="Arial" pitchFamily="34" charset="-120"/>
              </a:rPr>
              <a:t>Questions and live demo</a:t>
            </a:r>
            <a:endParaRPr lang="en-US" sz="2000" dirty="0"/>
          </a:p>
        </p:txBody>
      </p:sp>
      <p:sp>
        <p:nvSpPr>
          <p:cNvPr id="6" name="Shape 3"/>
          <p:cNvSpPr/>
          <p:nvPr/>
        </p:nvSpPr>
        <p:spPr>
          <a:xfrm>
            <a:off x="731520" y="2331720"/>
            <a:ext cx="3383280" cy="2194560"/>
          </a:xfrm>
          <a:prstGeom prst="roundRect">
            <a:avLst>
              <a:gd name="adj" fmla="val 5000"/>
            </a:avLst>
          </a:prstGeom>
          <a:solidFill>
            <a:srgbClr val="FFFFFF">
              <a:alpha val="12000"/>
            </a:srgbClr>
          </a:solidFill>
          <a:ln w="12700">
            <a:solidFill>
              <a:srgbClr val="9DC3E6"/>
            </a:solidFill>
            <a:prstDash val="solid"/>
          </a:ln>
        </p:spPr>
        <p:txBody>
          <a:bodyPr/>
          <a:lstStyle/>
          <a:p>
            <a:endParaRPr lang="en-NZ"/>
          </a:p>
        </p:txBody>
      </p:sp>
      <p:sp>
        <p:nvSpPr>
          <p:cNvPr id="7" name="Shape 4"/>
          <p:cNvSpPr/>
          <p:nvPr/>
        </p:nvSpPr>
        <p:spPr>
          <a:xfrm>
            <a:off x="1005840" y="2560320"/>
            <a:ext cx="603504" cy="603504"/>
          </a:xfrm>
          <a:prstGeom prst="ellipse">
            <a:avLst/>
          </a:prstGeom>
          <a:solidFill>
            <a:srgbClr val="F2A900"/>
          </a:solidFill>
          <a:ln w="12700">
            <a:solidFill>
              <a:srgbClr val="F2A900"/>
            </a:solidFill>
            <a:prstDash val="solid"/>
          </a:ln>
        </p:spPr>
        <p:txBody>
          <a:bodyPr/>
          <a:lstStyle/>
          <a:p>
            <a:endParaRPr lang="en-NZ"/>
          </a:p>
        </p:txBody>
      </p:sp>
      <p:pic>
        <p:nvPicPr>
          <p:cNvPr id="8" name="Image 1" descr="preencoded.png"/>
          <p:cNvPicPr>
            <a:picLocks noChangeAspect="1"/>
          </p:cNvPicPr>
          <p:nvPr/>
        </p:nvPicPr>
        <p:blipFill>
          <a:blip r:embed="rId4"/>
          <a:stretch>
            <a:fillRect/>
          </a:stretch>
        </p:blipFill>
        <p:spPr>
          <a:xfrm>
            <a:off x="1156716" y="2711196"/>
            <a:ext cx="301752" cy="301752"/>
          </a:xfrm>
          <a:prstGeom prst="rect">
            <a:avLst/>
          </a:prstGeom>
        </p:spPr>
      </p:pic>
      <p:sp>
        <p:nvSpPr>
          <p:cNvPr id="9" name="Text 5"/>
          <p:cNvSpPr txBox="1"/>
          <p:nvPr/>
        </p:nvSpPr>
        <p:spPr>
          <a:xfrm>
            <a:off x="1005840" y="3291839"/>
            <a:ext cx="2834640" cy="4114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Verified</a:t>
            </a:r>
            <a:endParaRPr lang="en-US" sz="1800" dirty="0"/>
          </a:p>
        </p:txBody>
      </p:sp>
      <p:sp>
        <p:nvSpPr>
          <p:cNvPr id="10" name="Text 6"/>
          <p:cNvSpPr txBox="1"/>
          <p:nvPr/>
        </p:nvSpPr>
        <p:spPr>
          <a:xfrm>
            <a:off x="1005840" y="3721608"/>
            <a:ext cx="2834640" cy="731520"/>
          </a:xfrm>
          <a:prstGeom prst="rect">
            <a:avLst/>
          </a:prstGeom>
          <a:noFill/>
          <a:ln/>
        </p:spPr>
        <p:txBody>
          <a:bodyPr wrap="square" lIns="0" tIns="0" rIns="0" bIns="0" rtlCol="0" anchor="t"/>
          <a:lstStyle/>
          <a:p>
            <a:pPr marL="0" indent="0">
              <a:buNone/>
            </a:pPr>
            <a:r>
              <a:rPr lang="en-US" sz="1250" dirty="0">
                <a:solidFill>
                  <a:srgbClr val="DCE6F2"/>
                </a:solidFill>
                <a:latin typeface="Arial" pitchFamily="34" charset="0"/>
                <a:ea typeface="Arial" pitchFamily="34" charset="-122"/>
                <a:cs typeface="Arial" pitchFamily="34" charset="-120"/>
              </a:rPr>
              <a:t>Every figure is checked in code before the user sees it</a:t>
            </a:r>
            <a:endParaRPr lang="en-US" sz="1250" dirty="0"/>
          </a:p>
        </p:txBody>
      </p:sp>
      <p:sp>
        <p:nvSpPr>
          <p:cNvPr id="11" name="Shape 7"/>
          <p:cNvSpPr/>
          <p:nvPr/>
        </p:nvSpPr>
        <p:spPr>
          <a:xfrm>
            <a:off x="4389120" y="2331720"/>
            <a:ext cx="3383280" cy="2194560"/>
          </a:xfrm>
          <a:prstGeom prst="roundRect">
            <a:avLst>
              <a:gd name="adj" fmla="val 5000"/>
            </a:avLst>
          </a:prstGeom>
          <a:solidFill>
            <a:srgbClr val="FFFFFF">
              <a:alpha val="12000"/>
            </a:srgbClr>
          </a:solidFill>
          <a:ln w="12700">
            <a:solidFill>
              <a:srgbClr val="9DC3E6"/>
            </a:solidFill>
            <a:prstDash val="solid"/>
          </a:ln>
        </p:spPr>
        <p:txBody>
          <a:bodyPr/>
          <a:lstStyle/>
          <a:p>
            <a:endParaRPr lang="en-NZ"/>
          </a:p>
        </p:txBody>
      </p:sp>
      <p:sp>
        <p:nvSpPr>
          <p:cNvPr id="12" name="Shape 8"/>
          <p:cNvSpPr/>
          <p:nvPr/>
        </p:nvSpPr>
        <p:spPr>
          <a:xfrm>
            <a:off x="4663440" y="2560320"/>
            <a:ext cx="603504" cy="603504"/>
          </a:xfrm>
          <a:prstGeom prst="ellipse">
            <a:avLst/>
          </a:prstGeom>
          <a:solidFill>
            <a:srgbClr val="F2A900"/>
          </a:solidFill>
          <a:ln w="12700">
            <a:solidFill>
              <a:srgbClr val="F2A900"/>
            </a:solidFill>
            <a:prstDash val="solid"/>
          </a:ln>
        </p:spPr>
        <p:txBody>
          <a:bodyPr/>
          <a:lstStyle/>
          <a:p>
            <a:endParaRPr lang="en-NZ"/>
          </a:p>
        </p:txBody>
      </p:sp>
      <p:pic>
        <p:nvPicPr>
          <p:cNvPr id="13" name="Image 2" descr="preencoded.png"/>
          <p:cNvPicPr>
            <a:picLocks noChangeAspect="1"/>
          </p:cNvPicPr>
          <p:nvPr/>
        </p:nvPicPr>
        <p:blipFill>
          <a:blip r:embed="rId5"/>
          <a:stretch>
            <a:fillRect/>
          </a:stretch>
        </p:blipFill>
        <p:spPr>
          <a:xfrm>
            <a:off x="4814316" y="2711196"/>
            <a:ext cx="301752" cy="301752"/>
          </a:xfrm>
          <a:prstGeom prst="rect">
            <a:avLst/>
          </a:prstGeom>
        </p:spPr>
      </p:pic>
      <p:sp>
        <p:nvSpPr>
          <p:cNvPr id="14" name="Text 9"/>
          <p:cNvSpPr txBox="1"/>
          <p:nvPr/>
        </p:nvSpPr>
        <p:spPr>
          <a:xfrm>
            <a:off x="4663440" y="3291839"/>
            <a:ext cx="2834640" cy="4114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Safe</a:t>
            </a:r>
            <a:endParaRPr lang="en-US" sz="1800" dirty="0"/>
          </a:p>
        </p:txBody>
      </p:sp>
      <p:sp>
        <p:nvSpPr>
          <p:cNvPr id="15" name="Text 10"/>
          <p:cNvSpPr txBox="1"/>
          <p:nvPr/>
        </p:nvSpPr>
        <p:spPr>
          <a:xfrm>
            <a:off x="4663440" y="3721608"/>
            <a:ext cx="2834640" cy="731520"/>
          </a:xfrm>
          <a:prstGeom prst="rect">
            <a:avLst/>
          </a:prstGeom>
          <a:noFill/>
          <a:ln/>
        </p:spPr>
        <p:txBody>
          <a:bodyPr wrap="square" lIns="0" tIns="0" rIns="0" bIns="0" rtlCol="0" anchor="t"/>
          <a:lstStyle/>
          <a:p>
            <a:pPr marL="0" indent="0">
              <a:buNone/>
            </a:pPr>
            <a:r>
              <a:rPr lang="en-US" sz="1250" dirty="0">
                <a:solidFill>
                  <a:srgbClr val="DCE6F2"/>
                </a:solidFill>
                <a:latin typeface="Arial" pitchFamily="34" charset="0"/>
                <a:ea typeface="Arial" pitchFamily="34" charset="-122"/>
                <a:cs typeface="Arial" pitchFamily="34" charset="-120"/>
              </a:rPr>
              <a:t>Read-only, role-based, privacy-guarded, human-approved</a:t>
            </a:r>
            <a:endParaRPr lang="en-US" sz="1250" dirty="0"/>
          </a:p>
        </p:txBody>
      </p:sp>
      <p:sp>
        <p:nvSpPr>
          <p:cNvPr id="16" name="Shape 11"/>
          <p:cNvSpPr/>
          <p:nvPr/>
        </p:nvSpPr>
        <p:spPr>
          <a:xfrm>
            <a:off x="8046720" y="2331720"/>
            <a:ext cx="3383280" cy="2194560"/>
          </a:xfrm>
          <a:prstGeom prst="roundRect">
            <a:avLst>
              <a:gd name="adj" fmla="val 5000"/>
            </a:avLst>
          </a:prstGeom>
          <a:solidFill>
            <a:srgbClr val="FFFFFF">
              <a:alpha val="12000"/>
            </a:srgbClr>
          </a:solidFill>
          <a:ln w="12700">
            <a:solidFill>
              <a:srgbClr val="9DC3E6"/>
            </a:solidFill>
            <a:prstDash val="solid"/>
          </a:ln>
        </p:spPr>
        <p:txBody>
          <a:bodyPr/>
          <a:lstStyle/>
          <a:p>
            <a:endParaRPr lang="en-NZ"/>
          </a:p>
        </p:txBody>
      </p:sp>
      <p:sp>
        <p:nvSpPr>
          <p:cNvPr id="17" name="Shape 12"/>
          <p:cNvSpPr/>
          <p:nvPr/>
        </p:nvSpPr>
        <p:spPr>
          <a:xfrm>
            <a:off x="8321040" y="2560320"/>
            <a:ext cx="603504" cy="603504"/>
          </a:xfrm>
          <a:prstGeom prst="ellipse">
            <a:avLst/>
          </a:prstGeom>
          <a:solidFill>
            <a:srgbClr val="F2A900"/>
          </a:solidFill>
          <a:ln w="12700">
            <a:solidFill>
              <a:srgbClr val="F2A900"/>
            </a:solidFill>
            <a:prstDash val="solid"/>
          </a:ln>
        </p:spPr>
        <p:txBody>
          <a:bodyPr/>
          <a:lstStyle/>
          <a:p>
            <a:endParaRPr lang="en-NZ"/>
          </a:p>
        </p:txBody>
      </p:sp>
      <p:pic>
        <p:nvPicPr>
          <p:cNvPr id="18" name="Image 3" descr="preencoded.png"/>
          <p:cNvPicPr>
            <a:picLocks noChangeAspect="1"/>
          </p:cNvPicPr>
          <p:nvPr/>
        </p:nvPicPr>
        <p:blipFill>
          <a:blip r:embed="rId6"/>
          <a:stretch>
            <a:fillRect/>
          </a:stretch>
        </p:blipFill>
        <p:spPr>
          <a:xfrm>
            <a:off x="8471916" y="2711196"/>
            <a:ext cx="301752" cy="301752"/>
          </a:xfrm>
          <a:prstGeom prst="rect">
            <a:avLst/>
          </a:prstGeom>
        </p:spPr>
      </p:pic>
      <p:sp>
        <p:nvSpPr>
          <p:cNvPr id="19" name="Text 13"/>
          <p:cNvSpPr txBox="1"/>
          <p:nvPr/>
        </p:nvSpPr>
        <p:spPr>
          <a:xfrm>
            <a:off x="8321040" y="3291839"/>
            <a:ext cx="2834640" cy="411480"/>
          </a:xfrm>
          <a:prstGeom prst="rect">
            <a:avLst/>
          </a:prstGeom>
          <a:noFill/>
          <a:ln/>
        </p:spPr>
        <p:txBody>
          <a:bodyPr wrap="square" lIns="0" tIns="0" rIns="0" bIns="0" rtlCol="0" anchor="t"/>
          <a:lstStyle/>
          <a:p>
            <a:pPr marL="0" indent="0">
              <a:buNone/>
            </a:pPr>
            <a:r>
              <a:rPr lang="en-US" sz="1800" b="1" dirty="0">
                <a:solidFill>
                  <a:srgbClr val="FFFFFF"/>
                </a:solidFill>
                <a:latin typeface="Arial" pitchFamily="34" charset="0"/>
                <a:ea typeface="Arial" pitchFamily="34" charset="-122"/>
                <a:cs typeface="Arial" pitchFamily="34" charset="-120"/>
              </a:rPr>
              <a:t>Proven</a:t>
            </a:r>
            <a:endParaRPr lang="en-US" sz="1800" dirty="0"/>
          </a:p>
        </p:txBody>
      </p:sp>
      <p:sp>
        <p:nvSpPr>
          <p:cNvPr id="20" name="Text 14"/>
          <p:cNvSpPr txBox="1"/>
          <p:nvPr/>
        </p:nvSpPr>
        <p:spPr>
          <a:xfrm>
            <a:off x="8320583" y="3686407"/>
            <a:ext cx="2834640" cy="731520"/>
          </a:xfrm>
          <a:prstGeom prst="rect">
            <a:avLst/>
          </a:prstGeom>
          <a:noFill/>
          <a:ln/>
        </p:spPr>
        <p:txBody>
          <a:bodyPr wrap="square" lIns="0" tIns="0" rIns="0" bIns="0" rtlCol="0" anchor="t"/>
          <a:lstStyle/>
          <a:p>
            <a:pPr marL="0" indent="0">
              <a:buNone/>
            </a:pPr>
            <a:r>
              <a:rPr lang="en-US" sz="1250" dirty="0">
                <a:solidFill>
                  <a:srgbClr val="DCE6F2"/>
                </a:solidFill>
                <a:latin typeface="Arial" pitchFamily="34" charset="0"/>
                <a:ea typeface="Arial" pitchFamily="34" charset="-122"/>
                <a:cs typeface="Arial" pitchFamily="34" charset="-120"/>
              </a:rPr>
              <a:t>Agent answers defined use cases as per the user role and meets the expected criteria.</a:t>
            </a:r>
            <a:endParaRPr lang="en-US" sz="1250" dirty="0"/>
          </a:p>
        </p:txBody>
      </p:sp>
      <p:sp>
        <p:nvSpPr>
          <p:cNvPr id="21" name="Text 15"/>
          <p:cNvSpPr txBox="1"/>
          <p:nvPr/>
        </p:nvSpPr>
        <p:spPr>
          <a:xfrm>
            <a:off x="731520" y="5852160"/>
            <a:ext cx="7863840" cy="365760"/>
          </a:xfrm>
          <a:prstGeom prst="rect">
            <a:avLst/>
          </a:prstGeom>
          <a:noFill/>
          <a:ln/>
        </p:spPr>
        <p:txBody>
          <a:bodyPr wrap="square" lIns="0" tIns="0" rIns="0" bIns="0" rtlCol="0" anchor="t"/>
          <a:lstStyle/>
          <a:p>
            <a:pPr marL="0" indent="0">
              <a:buNone/>
            </a:pPr>
            <a:r>
              <a:rPr lang="en-US" sz="1300" dirty="0">
                <a:solidFill>
                  <a:srgbClr val="9DC3E6"/>
                </a:solidFill>
                <a:latin typeface="Arial" pitchFamily="34" charset="0"/>
                <a:ea typeface="Arial" pitchFamily="34" charset="-122"/>
                <a:cs typeface="Arial" pitchFamily="34" charset="-120"/>
              </a:rPr>
              <a:t>Team BlueBird  ·  Sateesh  ·  Navneet  ·  Ankur  ·  Ranjith  ·  Ruthvik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51c3d4c-f54e-462b-9d5d-cb160081600b}" enabled="1" method="Standard" siteId="{c5d7dc78-3f45-4492-8053-9441aee4531b}" removed="0"/>
</clbl:labelList>
</file>

<file path=docProps/app.xml><?xml version="1.0" encoding="utf-8"?>
<Properties xmlns="http://schemas.openxmlformats.org/officeDocument/2006/extended-properties" xmlns:vt="http://schemas.openxmlformats.org/officeDocument/2006/docPropsVTypes">
  <TotalTime>1426</TotalTime>
  <Words>4234</Words>
  <Application>Microsoft Office PowerPoint</Application>
  <PresentationFormat>Widescreen</PresentationFormat>
  <Paragraphs>385</Paragraphs>
  <Slides>19</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Inventory Optimisation Agent – Team BlueBird</dc:title>
  <dc:subject>PptxGenJS Presentation</dc:subject>
  <dc:creator>Navneet Gupta</dc:creator>
  <cp:lastModifiedBy>Sateesh Kumar Puletipalle</cp:lastModifiedBy>
  <cp:revision>41</cp:revision>
  <dcterms:created xsi:type="dcterms:W3CDTF">2026-10-27T09:09:33Z</dcterms:created>
  <dcterms:modified xsi:type="dcterms:W3CDTF">2026-10-29T08:07:33Z</dcterms:modified>
</cp:coreProperties>
</file>